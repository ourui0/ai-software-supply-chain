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12192000"/>
  <p:embeddedFontLst>
    <p:embeddedFont>
      <p:font typeface="MiSans" pitchFamily="34" charset="-122"/>
      <p:regular r:id="rId20"/>
    </p:embeddedFont>
    <p:embeddedFont>
      <p:font typeface="MiSans" pitchFamily="34" charset="-120"/>
      <p:regular r:id="rId21"/>
    </p:embeddedFont>
    <p:embeddedFont>
      <p:font typeface="Calibri" panose="020F0502020204030204" charset="0"/>
      <p:regular r:id="rId22"/>
      <p:bold r:id="rId23"/>
      <p:italic r:id="rId24"/>
      <p:boldItalic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29:02-d3l4r3gs8jdo4os5eojg.jpg"/>
          <p:cNvPicPr>
            <a:picLocks noChangeAspect="1"/>
          </p:cNvPicPr>
          <p:nvPr/>
        </p:nvPicPr>
        <p:blipFill>
          <a:blip r:embed="rId2"/>
          <a:stretch>
            <a:fillRect/>
          </a:stretch>
        </p:blipFill>
        <p:spPr>
          <a:xfrm>
            <a:off x="20320" y="0"/>
            <a:ext cx="12171680" cy="6858000"/>
          </a:xfrm>
          <a:prstGeom prst="rect">
            <a:avLst/>
          </a:prstGeom>
        </p:spPr>
      </p:pic>
      <p:sp>
        <p:nvSpPr>
          <p:cNvPr id="3" name="Text 0"/>
          <p:cNvSpPr/>
          <p:nvPr/>
        </p:nvSpPr>
        <p:spPr>
          <a:xfrm>
            <a:off x="2132965" y="1921510"/>
            <a:ext cx="9443085" cy="2019300"/>
          </a:xfrm>
          <a:prstGeom prst="rect">
            <a:avLst/>
          </a:prstGeom>
          <a:noFill/>
        </p:spPr>
        <p:txBody>
          <a:bodyPr wrap="square" lIns="91440" tIns="45720" rIns="91440" bIns="45720" rtlCol="0" anchor="t"/>
          <a:lstStyle/>
          <a:p>
            <a:pPr algn="l">
              <a:lnSpc>
                <a:spcPct val="110000"/>
              </a:lnSpc>
            </a:pPr>
            <a:r>
              <a:rPr lang="en-US" sz="3200" b="1" dirty="0">
                <a:solidFill>
                  <a:srgbClr val="000000"/>
                </a:solidFill>
                <a:latin typeface="MiSans" pitchFamily="34" charset="-122"/>
                <a:ea typeface="MiSans" pitchFamily="34" charset="-122"/>
                <a:cs typeface="MiSans" pitchFamily="34" charset="-120"/>
              </a:rPr>
              <a:t>Killing Two Birds with One Stone: Malicious Package Detection in NPM and PyPI using a Single Model of Malicious Behavior Sequence</a:t>
            </a:r>
            <a:endParaRPr lang="en-US" sz="3200" b="1" dirty="0">
              <a:solidFill>
                <a:srgbClr val="000000"/>
              </a:solidFill>
              <a:latin typeface="MiSans" pitchFamily="34" charset="-122"/>
              <a:ea typeface="MiSans" pitchFamily="34" charset="-122"/>
              <a:cs typeface="MiSans" pitchFamily="34" charset="-120"/>
            </a:endParaRPr>
          </a:p>
        </p:txBody>
      </p:sp>
      <p:pic>
        <p:nvPicPr>
          <p:cNvPr id="6" name="Image 1" descr="https://kimi-img.moonshot.cn/pub/slides/slides_tmpl/image/25-10-11-20:28:59-d3l4r2os8jdo4os5eoj0.jpg"/>
          <p:cNvPicPr>
            <a:picLocks noChangeAspect="1"/>
          </p:cNvPicPr>
          <p:nvPr/>
        </p:nvPicPr>
        <p:blipFill>
          <a:blip r:embed="rId3"/>
          <a:stretch>
            <a:fillRect/>
          </a:stretch>
        </p:blipFill>
        <p:spPr>
          <a:xfrm>
            <a:off x="1972310" y="2001520"/>
            <a:ext cx="19050" cy="1514475"/>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10-11-20:29:04-d3l4r40s8jdo4os5eok0.jpeg"/>
          <p:cNvPicPr>
            <a:picLocks noChangeAspect="1"/>
          </p:cNvPicPr>
          <p:nvPr/>
        </p:nvPicPr>
        <p:blipFill>
          <a:blip r:embed="rId1">
            <a:alphaModFix amt="34000"/>
          </a:blip>
          <a:srcRect t="46513" b="46513"/>
          <a:stretch>
            <a:fillRect/>
          </a:stretch>
        </p:blipFill>
        <p:spPr>
          <a:xfrm>
            <a:off x="799465" y="6010275"/>
            <a:ext cx="10638155" cy="215265"/>
          </a:xfrm>
          <a:prstGeom prst="rect">
            <a:avLst/>
          </a:prstGeom>
        </p:spPr>
      </p:pic>
      <p:pic>
        <p:nvPicPr>
          <p:cNvPr id="3" name="Image 1" descr="https://kimi-img.moonshot.cn/pub/slides/slides_tmpl/image/25-10-11-20:29:20-d3l4r80s8jdo4os5eomg.jpg"/>
          <p:cNvPicPr>
            <a:picLocks noChangeAspect="1"/>
          </p:cNvPicPr>
          <p:nvPr/>
        </p:nvPicPr>
        <p:blipFill>
          <a:blip r:embed="rId2"/>
          <a:stretch>
            <a:fillRect/>
          </a:stretch>
        </p:blipFill>
        <p:spPr>
          <a:xfrm>
            <a:off x="1270" y="0"/>
            <a:ext cx="12190730" cy="6858000"/>
          </a:xfrm>
          <a:prstGeom prst="rect">
            <a:avLst/>
          </a:prstGeom>
        </p:spPr>
      </p:pic>
      <p:sp>
        <p:nvSpPr>
          <p:cNvPr id="4" name="Text 0"/>
          <p:cNvSpPr/>
          <p:nvPr/>
        </p:nvSpPr>
        <p:spPr>
          <a:xfrm>
            <a:off x="381000" y="381000"/>
            <a:ext cx="11658600" cy="457200"/>
          </a:xfrm>
          <a:prstGeom prst="rect">
            <a:avLst/>
          </a:prstGeom>
          <a:noFill/>
        </p:spPr>
        <p:txBody>
          <a:bodyPr wrap="square" lIns="0" tIns="0" rIns="0" bIns="0" rtlCol="0" anchor="ctr"/>
          <a:lstStyle/>
          <a:p>
            <a:pPr>
              <a:lnSpc>
                <a:spcPct val="80000"/>
              </a:lnSpc>
            </a:pPr>
            <a:r>
              <a:rPr lang="en-US" sz="3600" b="1" dirty="0">
                <a:solidFill>
                  <a:srgbClr val="4A4A4A"/>
                </a:solidFill>
                <a:latin typeface="MiSans" pitchFamily="34" charset="-122"/>
                <a:ea typeface="MiSans" pitchFamily="34" charset="-122"/>
                <a:cs typeface="MiSans" pitchFamily="34" charset="-120"/>
              </a:rPr>
              <a:t>目录</a:t>
            </a:r>
            <a:endParaRPr lang="en-US" sz="1600" dirty="0"/>
          </a:p>
        </p:txBody>
      </p:sp>
      <p:sp>
        <p:nvSpPr>
          <p:cNvPr id="5" name="Shape 1"/>
          <p:cNvSpPr/>
          <p:nvPr/>
        </p:nvSpPr>
        <p:spPr>
          <a:xfrm>
            <a:off x="381000" y="9525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A4A4A"/>
          </a:solidFill>
        </p:spPr>
      </p:sp>
      <p:sp>
        <p:nvSpPr>
          <p:cNvPr id="6" name="Shape 2"/>
          <p:cNvSpPr/>
          <p:nvPr/>
        </p:nvSpPr>
        <p:spPr>
          <a:xfrm>
            <a:off x="400050" y="1295400"/>
            <a:ext cx="5467350" cy="2371725"/>
          </a:xfrm>
          <a:custGeom>
            <a:avLst/>
            <a:gdLst/>
            <a:ahLst/>
            <a:cxnLst/>
            <a:rect l="l" t="t" r="r" b="b"/>
            <a:pathLst>
              <a:path w="5467350" h="2371725">
                <a:moveTo>
                  <a:pt x="38100" y="0"/>
                </a:moveTo>
                <a:lnTo>
                  <a:pt x="5391146" y="0"/>
                </a:lnTo>
                <a:cubicBezTo>
                  <a:pt x="5433233" y="0"/>
                  <a:pt x="5467350" y="34117"/>
                  <a:pt x="5467350" y="76204"/>
                </a:cubicBezTo>
                <a:lnTo>
                  <a:pt x="5467350" y="2295521"/>
                </a:lnTo>
                <a:cubicBezTo>
                  <a:pt x="5467350" y="2337608"/>
                  <a:pt x="5433233" y="2371725"/>
                  <a:pt x="5391146" y="2371725"/>
                </a:cubicBezTo>
                <a:lnTo>
                  <a:pt x="38100" y="2371725"/>
                </a:lnTo>
                <a:cubicBezTo>
                  <a:pt x="17058" y="2371725"/>
                  <a:pt x="0" y="2354667"/>
                  <a:pt x="0" y="2333625"/>
                </a:cubicBezTo>
                <a:lnTo>
                  <a:pt x="0" y="38100"/>
                </a:lnTo>
                <a:cubicBezTo>
                  <a:pt x="0" y="17072"/>
                  <a:pt x="17072" y="0"/>
                  <a:pt x="38100" y="0"/>
                </a:cubicBezTo>
                <a:close/>
              </a:path>
            </a:pathLst>
          </a:custGeom>
          <a:solidFill>
            <a:srgbClr val="4A4A4A">
              <a:alpha val="5098"/>
            </a:srgbClr>
          </a:solidFill>
        </p:spPr>
      </p:sp>
      <p:sp>
        <p:nvSpPr>
          <p:cNvPr id="7" name="Shape 3"/>
          <p:cNvSpPr/>
          <p:nvPr/>
        </p:nvSpPr>
        <p:spPr>
          <a:xfrm>
            <a:off x="400050" y="1295400"/>
            <a:ext cx="38100" cy="2371725"/>
          </a:xfrm>
          <a:custGeom>
            <a:avLst/>
            <a:gdLst/>
            <a:ahLst/>
            <a:cxnLst/>
            <a:rect l="l" t="t" r="r" b="b"/>
            <a:pathLst>
              <a:path w="38100" h="2371725">
                <a:moveTo>
                  <a:pt x="38100" y="0"/>
                </a:moveTo>
                <a:lnTo>
                  <a:pt x="38100" y="0"/>
                </a:lnTo>
                <a:lnTo>
                  <a:pt x="38100" y="2371725"/>
                </a:lnTo>
                <a:lnTo>
                  <a:pt x="38100" y="2371725"/>
                </a:lnTo>
                <a:cubicBezTo>
                  <a:pt x="17072" y="2371725"/>
                  <a:pt x="0" y="2354653"/>
                  <a:pt x="0" y="2333625"/>
                </a:cubicBezTo>
                <a:lnTo>
                  <a:pt x="0" y="38100"/>
                </a:lnTo>
                <a:cubicBezTo>
                  <a:pt x="0" y="17072"/>
                  <a:pt x="17072" y="0"/>
                  <a:pt x="38100" y="0"/>
                </a:cubicBezTo>
                <a:close/>
              </a:path>
            </a:pathLst>
          </a:custGeom>
          <a:solidFill>
            <a:srgbClr val="4A4A4A"/>
          </a:solidFill>
        </p:spPr>
      </p:sp>
      <p:sp>
        <p:nvSpPr>
          <p:cNvPr id="8" name="Shape 4"/>
          <p:cNvSpPr/>
          <p:nvPr/>
        </p:nvSpPr>
        <p:spPr>
          <a:xfrm>
            <a:off x="647700" y="1524000"/>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4A4A4A"/>
          </a:solidFill>
        </p:spPr>
      </p:sp>
      <p:sp>
        <p:nvSpPr>
          <p:cNvPr id="9" name="Text 5"/>
          <p:cNvSpPr/>
          <p:nvPr/>
        </p:nvSpPr>
        <p:spPr>
          <a:xfrm>
            <a:off x="806768" y="1657350"/>
            <a:ext cx="438150" cy="342900"/>
          </a:xfrm>
          <a:prstGeom prst="rect">
            <a:avLst/>
          </a:prstGeom>
          <a:noFill/>
        </p:spPr>
        <p:txBody>
          <a:bodyPr wrap="square" lIns="0" tIns="0" rIns="0" bIns="0" rtlCol="0" anchor="ctr"/>
          <a:lstStyle/>
          <a:p>
            <a:pPr>
              <a:lnSpc>
                <a:spcPct val="100000"/>
              </a:lnSpc>
            </a:pPr>
            <a:r>
              <a:rPr lang="en-US" sz="2250" b="1" dirty="0">
                <a:solidFill>
                  <a:srgbClr val="F5F5F5"/>
                </a:solidFill>
                <a:latin typeface="MiSans" pitchFamily="34" charset="-122"/>
                <a:ea typeface="MiSans" pitchFamily="34" charset="-122"/>
                <a:cs typeface="MiSans" pitchFamily="34" charset="-120"/>
              </a:rPr>
              <a:t>01</a:t>
            </a:r>
            <a:endParaRPr lang="en-US" sz="1600" dirty="0"/>
          </a:p>
        </p:txBody>
      </p:sp>
      <p:sp>
        <p:nvSpPr>
          <p:cNvPr id="10" name="Text 6"/>
          <p:cNvSpPr/>
          <p:nvPr/>
        </p:nvSpPr>
        <p:spPr>
          <a:xfrm>
            <a:off x="1447800" y="1524000"/>
            <a:ext cx="4305300" cy="304800"/>
          </a:xfrm>
          <a:prstGeom prst="rect">
            <a:avLst/>
          </a:prstGeom>
          <a:noFill/>
        </p:spPr>
        <p:txBody>
          <a:bodyPr wrap="square" lIns="0" tIns="0" rIns="0" bIns="0" rtlCol="0" anchor="ctr"/>
          <a:lstStyle/>
          <a:p>
            <a:pPr>
              <a:lnSpc>
                <a:spcPct val="110000"/>
              </a:lnSpc>
            </a:pPr>
            <a:r>
              <a:rPr lang="en-US" sz="1800" b="1" dirty="0">
                <a:solidFill>
                  <a:srgbClr val="4A4A4A"/>
                </a:solidFill>
                <a:latin typeface="MiSans" pitchFamily="34" charset="-122"/>
                <a:ea typeface="MiSans" pitchFamily="34" charset="-122"/>
                <a:cs typeface="MiSans" pitchFamily="34" charset="-120"/>
              </a:rPr>
              <a:t>研究背景</a:t>
            </a:r>
            <a:endParaRPr lang="en-US" sz="1600" dirty="0"/>
          </a:p>
        </p:txBody>
      </p:sp>
      <p:sp>
        <p:nvSpPr>
          <p:cNvPr id="11" name="Text 7"/>
          <p:cNvSpPr/>
          <p:nvPr/>
        </p:nvSpPr>
        <p:spPr>
          <a:xfrm>
            <a:off x="1447800" y="1904881"/>
            <a:ext cx="4267200" cy="495300"/>
          </a:xfrm>
          <a:prstGeom prst="rect">
            <a:avLst/>
          </a:prstGeom>
          <a:noFill/>
        </p:spPr>
        <p:txBody>
          <a:bodyPr wrap="square" lIns="0" tIns="0" rIns="0" bIns="0" rtlCol="0" anchor="ctr"/>
          <a:lstStyle/>
          <a:p>
            <a:pPr>
              <a:lnSpc>
                <a:spcPct val="140000"/>
              </a:lnSpc>
            </a:pPr>
            <a:r>
              <a:rPr lang="en-US" sz="1200" dirty="0">
                <a:solidFill>
                  <a:srgbClr val="808080"/>
                </a:solidFill>
                <a:latin typeface="MiSans" pitchFamily="34" charset="-122"/>
                <a:ea typeface="MiSans" pitchFamily="34" charset="-122"/>
                <a:cs typeface="MiSans" pitchFamily="34" charset="-120"/>
              </a:rPr>
              <a:t>开源软件供应链安全危机 · 现有方法局限性 · 研究动机与创新点</a:t>
            </a:r>
            <a:endParaRPr lang="en-US" sz="1600" dirty="0"/>
          </a:p>
        </p:txBody>
      </p:sp>
      <p:sp>
        <p:nvSpPr>
          <p:cNvPr id="12" name="Shape 8"/>
          <p:cNvSpPr/>
          <p:nvPr/>
        </p:nvSpPr>
        <p:spPr>
          <a:xfrm>
            <a:off x="6343650" y="1295400"/>
            <a:ext cx="5467350" cy="2371725"/>
          </a:xfrm>
          <a:custGeom>
            <a:avLst/>
            <a:gdLst/>
            <a:ahLst/>
            <a:cxnLst/>
            <a:rect l="l" t="t" r="r" b="b"/>
            <a:pathLst>
              <a:path w="5467350" h="2371725">
                <a:moveTo>
                  <a:pt x="38100" y="0"/>
                </a:moveTo>
                <a:lnTo>
                  <a:pt x="5391146" y="0"/>
                </a:lnTo>
                <a:cubicBezTo>
                  <a:pt x="5433233" y="0"/>
                  <a:pt x="5467350" y="34117"/>
                  <a:pt x="5467350" y="76204"/>
                </a:cubicBezTo>
                <a:lnTo>
                  <a:pt x="5467350" y="2295521"/>
                </a:lnTo>
                <a:cubicBezTo>
                  <a:pt x="5467350" y="2337608"/>
                  <a:pt x="5433233" y="2371725"/>
                  <a:pt x="5391146" y="2371725"/>
                </a:cubicBezTo>
                <a:lnTo>
                  <a:pt x="38100" y="2371725"/>
                </a:lnTo>
                <a:cubicBezTo>
                  <a:pt x="17058" y="2371725"/>
                  <a:pt x="0" y="2354667"/>
                  <a:pt x="0" y="2333625"/>
                </a:cubicBezTo>
                <a:lnTo>
                  <a:pt x="0" y="38100"/>
                </a:lnTo>
                <a:cubicBezTo>
                  <a:pt x="0" y="17072"/>
                  <a:pt x="17072" y="0"/>
                  <a:pt x="38100" y="0"/>
                </a:cubicBezTo>
                <a:close/>
              </a:path>
            </a:pathLst>
          </a:custGeom>
          <a:solidFill>
            <a:srgbClr val="4A4A4A">
              <a:alpha val="5098"/>
            </a:srgbClr>
          </a:solidFill>
        </p:spPr>
      </p:sp>
      <p:sp>
        <p:nvSpPr>
          <p:cNvPr id="13" name="Shape 9"/>
          <p:cNvSpPr/>
          <p:nvPr/>
        </p:nvSpPr>
        <p:spPr>
          <a:xfrm>
            <a:off x="6343650" y="1295400"/>
            <a:ext cx="38100" cy="2371725"/>
          </a:xfrm>
          <a:custGeom>
            <a:avLst/>
            <a:gdLst/>
            <a:ahLst/>
            <a:cxnLst/>
            <a:rect l="l" t="t" r="r" b="b"/>
            <a:pathLst>
              <a:path w="38100" h="2371725">
                <a:moveTo>
                  <a:pt x="38100" y="0"/>
                </a:moveTo>
                <a:lnTo>
                  <a:pt x="38100" y="0"/>
                </a:lnTo>
                <a:lnTo>
                  <a:pt x="38100" y="2371725"/>
                </a:lnTo>
                <a:lnTo>
                  <a:pt x="38100" y="2371725"/>
                </a:lnTo>
                <a:cubicBezTo>
                  <a:pt x="17072" y="2371725"/>
                  <a:pt x="0" y="2354653"/>
                  <a:pt x="0" y="2333625"/>
                </a:cubicBezTo>
                <a:lnTo>
                  <a:pt x="0" y="38100"/>
                </a:lnTo>
                <a:cubicBezTo>
                  <a:pt x="0" y="17072"/>
                  <a:pt x="17072" y="0"/>
                  <a:pt x="38100" y="0"/>
                </a:cubicBezTo>
                <a:close/>
              </a:path>
            </a:pathLst>
          </a:custGeom>
          <a:solidFill>
            <a:srgbClr val="808080"/>
          </a:solidFill>
        </p:spPr>
      </p:sp>
      <p:sp>
        <p:nvSpPr>
          <p:cNvPr id="14" name="Shape 10"/>
          <p:cNvSpPr/>
          <p:nvPr/>
        </p:nvSpPr>
        <p:spPr>
          <a:xfrm>
            <a:off x="6591300" y="1524000"/>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808080"/>
          </a:solidFill>
        </p:spPr>
      </p:sp>
      <p:sp>
        <p:nvSpPr>
          <p:cNvPr id="15" name="Text 11"/>
          <p:cNvSpPr/>
          <p:nvPr/>
        </p:nvSpPr>
        <p:spPr>
          <a:xfrm>
            <a:off x="6726198" y="1657350"/>
            <a:ext cx="485775" cy="342900"/>
          </a:xfrm>
          <a:prstGeom prst="rect">
            <a:avLst/>
          </a:prstGeom>
          <a:noFill/>
        </p:spPr>
        <p:txBody>
          <a:bodyPr wrap="square" lIns="0" tIns="0" rIns="0" bIns="0" rtlCol="0" anchor="ctr"/>
          <a:lstStyle/>
          <a:p>
            <a:pPr>
              <a:lnSpc>
                <a:spcPct val="100000"/>
              </a:lnSpc>
            </a:pPr>
            <a:r>
              <a:rPr lang="en-US" sz="2250" b="1" dirty="0">
                <a:solidFill>
                  <a:srgbClr val="F5F5F5"/>
                </a:solidFill>
                <a:latin typeface="MiSans" pitchFamily="34" charset="-122"/>
                <a:ea typeface="MiSans" pitchFamily="34" charset="-122"/>
                <a:cs typeface="MiSans" pitchFamily="34" charset="-120"/>
              </a:rPr>
              <a:t>02</a:t>
            </a:r>
            <a:endParaRPr lang="en-US" sz="1600" dirty="0"/>
          </a:p>
        </p:txBody>
      </p:sp>
      <p:sp>
        <p:nvSpPr>
          <p:cNvPr id="16" name="Text 12"/>
          <p:cNvSpPr/>
          <p:nvPr/>
        </p:nvSpPr>
        <p:spPr>
          <a:xfrm>
            <a:off x="7391400" y="1524000"/>
            <a:ext cx="4305300" cy="304800"/>
          </a:xfrm>
          <a:prstGeom prst="rect">
            <a:avLst/>
          </a:prstGeom>
          <a:noFill/>
        </p:spPr>
        <p:txBody>
          <a:bodyPr wrap="square" lIns="0" tIns="0" rIns="0" bIns="0" rtlCol="0" anchor="ctr"/>
          <a:lstStyle/>
          <a:p>
            <a:pPr>
              <a:lnSpc>
                <a:spcPct val="110000"/>
              </a:lnSpc>
            </a:pPr>
            <a:r>
              <a:rPr lang="en-US" sz="1800" b="1" dirty="0">
                <a:solidFill>
                  <a:srgbClr val="4A4A4A"/>
                </a:solidFill>
                <a:latin typeface="MiSans" pitchFamily="34" charset="-122"/>
                <a:ea typeface="MiSans" pitchFamily="34" charset="-122"/>
                <a:cs typeface="MiSans" pitchFamily="34" charset="-120"/>
              </a:rPr>
              <a:t>方法论设计</a:t>
            </a:r>
            <a:endParaRPr lang="en-US" sz="1600" dirty="0"/>
          </a:p>
        </p:txBody>
      </p:sp>
      <p:sp>
        <p:nvSpPr>
          <p:cNvPr id="17" name="Text 13"/>
          <p:cNvSpPr/>
          <p:nvPr/>
        </p:nvSpPr>
        <p:spPr>
          <a:xfrm>
            <a:off x="7391400" y="1904881"/>
            <a:ext cx="4267200" cy="247650"/>
          </a:xfrm>
          <a:prstGeom prst="rect">
            <a:avLst/>
          </a:prstGeom>
          <a:noFill/>
        </p:spPr>
        <p:txBody>
          <a:bodyPr wrap="square" lIns="0" tIns="0" rIns="0" bIns="0" rtlCol="0" anchor="ctr"/>
          <a:lstStyle/>
          <a:p>
            <a:pPr>
              <a:lnSpc>
                <a:spcPct val="140000"/>
              </a:lnSpc>
            </a:pPr>
            <a:r>
              <a:rPr lang="en-US" sz="1200" dirty="0">
                <a:solidFill>
                  <a:srgbClr val="808080"/>
                </a:solidFill>
                <a:latin typeface="MiSans" pitchFamily="34" charset="-122"/>
                <a:ea typeface="MiSans" pitchFamily="34" charset="-122"/>
                <a:cs typeface="MiSans" pitchFamily="34" charset="-120"/>
              </a:rPr>
              <a:t>特征提取器 · 行为序列生成器 · 恶意性分类器</a:t>
            </a:r>
            <a:endParaRPr lang="en-US" sz="1600" dirty="0"/>
          </a:p>
        </p:txBody>
      </p:sp>
      <p:sp>
        <p:nvSpPr>
          <p:cNvPr id="18" name="Shape 14"/>
          <p:cNvSpPr/>
          <p:nvPr/>
        </p:nvSpPr>
        <p:spPr>
          <a:xfrm>
            <a:off x="400050" y="3895725"/>
            <a:ext cx="5467350" cy="2124075"/>
          </a:xfrm>
          <a:custGeom>
            <a:avLst/>
            <a:gdLst/>
            <a:ahLst/>
            <a:cxnLst/>
            <a:rect l="l" t="t" r="r" b="b"/>
            <a:pathLst>
              <a:path w="5467350" h="2124075">
                <a:moveTo>
                  <a:pt x="38100" y="0"/>
                </a:moveTo>
                <a:lnTo>
                  <a:pt x="5391159" y="0"/>
                </a:lnTo>
                <a:cubicBezTo>
                  <a:pt x="5433210" y="0"/>
                  <a:pt x="5467350" y="34140"/>
                  <a:pt x="5467350" y="76191"/>
                </a:cubicBezTo>
                <a:lnTo>
                  <a:pt x="5467350" y="2047884"/>
                </a:lnTo>
                <a:cubicBezTo>
                  <a:pt x="5467350" y="2089935"/>
                  <a:pt x="5433210" y="2124075"/>
                  <a:pt x="5391159" y="2124075"/>
                </a:cubicBezTo>
                <a:lnTo>
                  <a:pt x="38100" y="2124075"/>
                </a:lnTo>
                <a:cubicBezTo>
                  <a:pt x="17072" y="2124075"/>
                  <a:pt x="0" y="2107003"/>
                  <a:pt x="0" y="2085975"/>
                </a:cubicBezTo>
                <a:lnTo>
                  <a:pt x="0" y="38100"/>
                </a:lnTo>
                <a:cubicBezTo>
                  <a:pt x="0" y="17072"/>
                  <a:pt x="17072" y="0"/>
                  <a:pt x="38100" y="0"/>
                </a:cubicBezTo>
                <a:close/>
              </a:path>
            </a:pathLst>
          </a:custGeom>
          <a:solidFill>
            <a:srgbClr val="4A4A4A">
              <a:alpha val="5098"/>
            </a:srgbClr>
          </a:solidFill>
        </p:spPr>
      </p:sp>
      <p:sp>
        <p:nvSpPr>
          <p:cNvPr id="19" name="Shape 15"/>
          <p:cNvSpPr/>
          <p:nvPr/>
        </p:nvSpPr>
        <p:spPr>
          <a:xfrm>
            <a:off x="400050" y="3895725"/>
            <a:ext cx="38100" cy="2124075"/>
          </a:xfrm>
          <a:custGeom>
            <a:avLst/>
            <a:gdLst/>
            <a:ahLst/>
            <a:cxnLst/>
            <a:rect l="l" t="t" r="r" b="b"/>
            <a:pathLst>
              <a:path w="38100" h="2124075">
                <a:moveTo>
                  <a:pt x="38100" y="0"/>
                </a:moveTo>
                <a:lnTo>
                  <a:pt x="38100" y="0"/>
                </a:lnTo>
                <a:lnTo>
                  <a:pt x="38100" y="2124075"/>
                </a:lnTo>
                <a:lnTo>
                  <a:pt x="38100" y="2124075"/>
                </a:lnTo>
                <a:cubicBezTo>
                  <a:pt x="17072" y="2124075"/>
                  <a:pt x="0" y="2107003"/>
                  <a:pt x="0" y="2085975"/>
                </a:cubicBezTo>
                <a:lnTo>
                  <a:pt x="0" y="38100"/>
                </a:lnTo>
                <a:cubicBezTo>
                  <a:pt x="0" y="17072"/>
                  <a:pt x="17072" y="0"/>
                  <a:pt x="38100" y="0"/>
                </a:cubicBezTo>
                <a:close/>
              </a:path>
            </a:pathLst>
          </a:custGeom>
          <a:solidFill>
            <a:srgbClr val="BDBDBD"/>
          </a:solidFill>
        </p:spPr>
      </p:sp>
      <p:sp>
        <p:nvSpPr>
          <p:cNvPr id="20" name="Shape 16"/>
          <p:cNvSpPr/>
          <p:nvPr/>
        </p:nvSpPr>
        <p:spPr>
          <a:xfrm>
            <a:off x="647700" y="4124325"/>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BDBDBD"/>
          </a:solidFill>
        </p:spPr>
      </p:sp>
      <p:sp>
        <p:nvSpPr>
          <p:cNvPr id="21" name="Text 17"/>
          <p:cNvSpPr/>
          <p:nvPr/>
        </p:nvSpPr>
        <p:spPr>
          <a:xfrm>
            <a:off x="778907" y="4257675"/>
            <a:ext cx="485775" cy="342900"/>
          </a:xfrm>
          <a:prstGeom prst="rect">
            <a:avLst/>
          </a:prstGeom>
          <a:noFill/>
        </p:spPr>
        <p:txBody>
          <a:bodyPr wrap="square" lIns="0" tIns="0" rIns="0" bIns="0" rtlCol="0" anchor="ctr"/>
          <a:lstStyle/>
          <a:p>
            <a:pPr>
              <a:lnSpc>
                <a:spcPct val="100000"/>
              </a:lnSpc>
            </a:pPr>
            <a:r>
              <a:rPr lang="en-US" sz="2250" b="1" dirty="0">
                <a:solidFill>
                  <a:srgbClr val="1A1A1A"/>
                </a:solidFill>
                <a:latin typeface="MiSans" pitchFamily="34" charset="-122"/>
                <a:ea typeface="MiSans" pitchFamily="34" charset="-122"/>
                <a:cs typeface="MiSans" pitchFamily="34" charset="-120"/>
              </a:rPr>
              <a:t>03</a:t>
            </a:r>
            <a:endParaRPr lang="en-US" sz="1600" dirty="0"/>
          </a:p>
        </p:txBody>
      </p:sp>
      <p:sp>
        <p:nvSpPr>
          <p:cNvPr id="22" name="Text 18"/>
          <p:cNvSpPr/>
          <p:nvPr/>
        </p:nvSpPr>
        <p:spPr>
          <a:xfrm>
            <a:off x="1447800" y="4124325"/>
            <a:ext cx="4305300" cy="304800"/>
          </a:xfrm>
          <a:prstGeom prst="rect">
            <a:avLst/>
          </a:prstGeom>
          <a:noFill/>
        </p:spPr>
        <p:txBody>
          <a:bodyPr wrap="square" lIns="0" tIns="0" rIns="0" bIns="0" rtlCol="0" anchor="ctr"/>
          <a:lstStyle/>
          <a:p>
            <a:pPr>
              <a:lnSpc>
                <a:spcPct val="110000"/>
              </a:lnSpc>
            </a:pPr>
            <a:r>
              <a:rPr lang="en-US" sz="1800" b="1" dirty="0">
                <a:solidFill>
                  <a:srgbClr val="4A4A4A"/>
                </a:solidFill>
                <a:latin typeface="MiSans" pitchFamily="34" charset="-122"/>
                <a:ea typeface="MiSans" pitchFamily="34" charset="-122"/>
                <a:cs typeface="MiSans" pitchFamily="34" charset="-120"/>
              </a:rPr>
              <a:t>实验评估</a:t>
            </a:r>
            <a:endParaRPr lang="en-US" sz="1600" dirty="0"/>
          </a:p>
        </p:txBody>
      </p:sp>
      <p:sp>
        <p:nvSpPr>
          <p:cNvPr id="23" name="Text 19"/>
          <p:cNvSpPr/>
          <p:nvPr/>
        </p:nvSpPr>
        <p:spPr>
          <a:xfrm>
            <a:off x="1447800" y="4505206"/>
            <a:ext cx="4267200" cy="247650"/>
          </a:xfrm>
          <a:prstGeom prst="rect">
            <a:avLst/>
          </a:prstGeom>
          <a:noFill/>
        </p:spPr>
        <p:txBody>
          <a:bodyPr wrap="square" lIns="0" tIns="0" rIns="0" bIns="0" rtlCol="0" anchor="ctr"/>
          <a:lstStyle/>
          <a:p>
            <a:pPr>
              <a:lnSpc>
                <a:spcPct val="140000"/>
              </a:lnSpc>
            </a:pPr>
            <a:r>
              <a:rPr lang="en-US" sz="1200" dirty="0">
                <a:solidFill>
                  <a:srgbClr val="808080"/>
                </a:solidFill>
                <a:latin typeface="MiSans" pitchFamily="34" charset="-122"/>
                <a:ea typeface="MiSans" pitchFamily="34" charset="-122"/>
                <a:cs typeface="MiSans" pitchFamily="34" charset="-120"/>
              </a:rPr>
              <a:t>有效性评估 · 效率评估 · 消融研究 · 真实世界应用</a:t>
            </a:r>
            <a:endParaRPr lang="en-US" sz="1600" dirty="0"/>
          </a:p>
        </p:txBody>
      </p:sp>
      <p:sp>
        <p:nvSpPr>
          <p:cNvPr id="24" name="Shape 20"/>
          <p:cNvSpPr/>
          <p:nvPr/>
        </p:nvSpPr>
        <p:spPr>
          <a:xfrm>
            <a:off x="6343650" y="3895725"/>
            <a:ext cx="5467350" cy="2124075"/>
          </a:xfrm>
          <a:custGeom>
            <a:avLst/>
            <a:gdLst/>
            <a:ahLst/>
            <a:cxnLst/>
            <a:rect l="l" t="t" r="r" b="b"/>
            <a:pathLst>
              <a:path w="5467350" h="2124075">
                <a:moveTo>
                  <a:pt x="38100" y="0"/>
                </a:moveTo>
                <a:lnTo>
                  <a:pt x="5391159" y="0"/>
                </a:lnTo>
                <a:cubicBezTo>
                  <a:pt x="5433210" y="0"/>
                  <a:pt x="5467350" y="34140"/>
                  <a:pt x="5467350" y="76191"/>
                </a:cubicBezTo>
                <a:lnTo>
                  <a:pt x="5467350" y="2047884"/>
                </a:lnTo>
                <a:cubicBezTo>
                  <a:pt x="5467350" y="2089935"/>
                  <a:pt x="5433210" y="2124075"/>
                  <a:pt x="5391159" y="2124075"/>
                </a:cubicBezTo>
                <a:lnTo>
                  <a:pt x="38100" y="2124075"/>
                </a:lnTo>
                <a:cubicBezTo>
                  <a:pt x="17072" y="2124075"/>
                  <a:pt x="0" y="2107003"/>
                  <a:pt x="0" y="2085975"/>
                </a:cubicBezTo>
                <a:lnTo>
                  <a:pt x="0" y="38100"/>
                </a:lnTo>
                <a:cubicBezTo>
                  <a:pt x="0" y="17072"/>
                  <a:pt x="17072" y="0"/>
                  <a:pt x="38100" y="0"/>
                </a:cubicBezTo>
                <a:close/>
              </a:path>
            </a:pathLst>
          </a:custGeom>
          <a:solidFill>
            <a:srgbClr val="4A4A4A">
              <a:alpha val="5098"/>
            </a:srgbClr>
          </a:solidFill>
        </p:spPr>
      </p:sp>
      <p:sp>
        <p:nvSpPr>
          <p:cNvPr id="25" name="Shape 21"/>
          <p:cNvSpPr/>
          <p:nvPr/>
        </p:nvSpPr>
        <p:spPr>
          <a:xfrm>
            <a:off x="6343650" y="3895725"/>
            <a:ext cx="38100" cy="2124075"/>
          </a:xfrm>
          <a:custGeom>
            <a:avLst/>
            <a:gdLst/>
            <a:ahLst/>
            <a:cxnLst/>
            <a:rect l="l" t="t" r="r" b="b"/>
            <a:pathLst>
              <a:path w="38100" h="2124075">
                <a:moveTo>
                  <a:pt x="38100" y="0"/>
                </a:moveTo>
                <a:lnTo>
                  <a:pt x="38100" y="0"/>
                </a:lnTo>
                <a:lnTo>
                  <a:pt x="38100" y="2124075"/>
                </a:lnTo>
                <a:lnTo>
                  <a:pt x="38100" y="2124075"/>
                </a:lnTo>
                <a:cubicBezTo>
                  <a:pt x="17072" y="2124075"/>
                  <a:pt x="0" y="2107003"/>
                  <a:pt x="0" y="2085975"/>
                </a:cubicBezTo>
                <a:lnTo>
                  <a:pt x="0" y="38100"/>
                </a:lnTo>
                <a:cubicBezTo>
                  <a:pt x="0" y="17072"/>
                  <a:pt x="17072" y="0"/>
                  <a:pt x="38100" y="0"/>
                </a:cubicBezTo>
                <a:close/>
              </a:path>
            </a:pathLst>
          </a:custGeom>
          <a:solidFill>
            <a:srgbClr val="4A4A4A"/>
          </a:solidFill>
        </p:spPr>
      </p:sp>
      <p:sp>
        <p:nvSpPr>
          <p:cNvPr id="26" name="Shape 22"/>
          <p:cNvSpPr/>
          <p:nvPr/>
        </p:nvSpPr>
        <p:spPr>
          <a:xfrm>
            <a:off x="6591300" y="4124325"/>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4A4A4A"/>
          </a:solidFill>
        </p:spPr>
      </p:sp>
      <p:sp>
        <p:nvSpPr>
          <p:cNvPr id="27" name="Text 23"/>
          <p:cNvSpPr/>
          <p:nvPr/>
        </p:nvSpPr>
        <p:spPr>
          <a:xfrm>
            <a:off x="6722745" y="4257675"/>
            <a:ext cx="485775" cy="342900"/>
          </a:xfrm>
          <a:prstGeom prst="rect">
            <a:avLst/>
          </a:prstGeom>
          <a:noFill/>
        </p:spPr>
        <p:txBody>
          <a:bodyPr wrap="square" lIns="0" tIns="0" rIns="0" bIns="0" rtlCol="0" anchor="ctr"/>
          <a:lstStyle/>
          <a:p>
            <a:pPr>
              <a:lnSpc>
                <a:spcPct val="100000"/>
              </a:lnSpc>
            </a:pPr>
            <a:r>
              <a:rPr lang="en-US" sz="2250" b="1" dirty="0">
                <a:solidFill>
                  <a:srgbClr val="F5F5F5"/>
                </a:solidFill>
                <a:latin typeface="MiSans" pitchFamily="34" charset="-122"/>
                <a:ea typeface="MiSans" pitchFamily="34" charset="-122"/>
                <a:cs typeface="MiSans" pitchFamily="34" charset="-120"/>
              </a:rPr>
              <a:t>04</a:t>
            </a:r>
            <a:endParaRPr lang="en-US" sz="1600" dirty="0"/>
          </a:p>
        </p:txBody>
      </p:sp>
      <p:sp>
        <p:nvSpPr>
          <p:cNvPr id="28" name="Text 24"/>
          <p:cNvSpPr/>
          <p:nvPr/>
        </p:nvSpPr>
        <p:spPr>
          <a:xfrm>
            <a:off x="7391400" y="4124325"/>
            <a:ext cx="4305300" cy="304800"/>
          </a:xfrm>
          <a:prstGeom prst="rect">
            <a:avLst/>
          </a:prstGeom>
          <a:noFill/>
        </p:spPr>
        <p:txBody>
          <a:bodyPr wrap="square" lIns="0" tIns="0" rIns="0" bIns="0" rtlCol="0" anchor="ctr"/>
          <a:lstStyle/>
          <a:p>
            <a:pPr>
              <a:lnSpc>
                <a:spcPct val="110000"/>
              </a:lnSpc>
            </a:pPr>
            <a:r>
              <a:rPr lang="en-US" sz="1800" b="1" dirty="0">
                <a:solidFill>
                  <a:srgbClr val="4A4A4A"/>
                </a:solidFill>
                <a:latin typeface="MiSans" pitchFamily="34" charset="-122"/>
                <a:ea typeface="MiSans" pitchFamily="34" charset="-122"/>
                <a:cs typeface="MiSans" pitchFamily="34" charset="-120"/>
              </a:rPr>
              <a:t>总结与展望</a:t>
            </a:r>
            <a:endParaRPr lang="en-US" sz="1600" dirty="0"/>
          </a:p>
        </p:txBody>
      </p:sp>
      <p:sp>
        <p:nvSpPr>
          <p:cNvPr id="29" name="Text 25"/>
          <p:cNvSpPr/>
          <p:nvPr/>
        </p:nvSpPr>
        <p:spPr>
          <a:xfrm>
            <a:off x="7391400" y="4505206"/>
            <a:ext cx="4267200" cy="247650"/>
          </a:xfrm>
          <a:prstGeom prst="rect">
            <a:avLst/>
          </a:prstGeom>
          <a:noFill/>
        </p:spPr>
        <p:txBody>
          <a:bodyPr wrap="square" lIns="0" tIns="0" rIns="0" bIns="0" rtlCol="0" anchor="ctr"/>
          <a:lstStyle/>
          <a:p>
            <a:pPr>
              <a:lnSpc>
                <a:spcPct val="140000"/>
              </a:lnSpc>
            </a:pPr>
            <a:r>
              <a:rPr lang="en-US" sz="1200" dirty="0">
                <a:solidFill>
                  <a:srgbClr val="808080"/>
                </a:solidFill>
                <a:latin typeface="MiSans" pitchFamily="34" charset="-122"/>
                <a:ea typeface="MiSans" pitchFamily="34" charset="-122"/>
                <a:cs typeface="MiSans" pitchFamily="34" charset="-120"/>
              </a:rPr>
              <a:t>研究成果总结 · 未来工作方向</a:t>
            </a:r>
            <a:endParaRPr lang="en-US" sz="1600" dirty="0"/>
          </a:p>
        </p:txBody>
      </p:sp>
      <p:sp>
        <p:nvSpPr>
          <p:cNvPr id="30" name="Shape 26"/>
          <p:cNvSpPr/>
          <p:nvPr/>
        </p:nvSpPr>
        <p:spPr>
          <a:xfrm>
            <a:off x="4810482" y="6286500"/>
            <a:ext cx="133350" cy="152400"/>
          </a:xfrm>
          <a:custGeom>
            <a:avLst/>
            <a:gdLst/>
            <a:ahLst/>
            <a:cxnLst/>
            <a:rect l="l" t="t" r="r" b="b"/>
            <a:pathLst>
              <a:path w="133350" h="152400">
                <a:moveTo>
                  <a:pt x="38100" y="0"/>
                </a:moveTo>
                <a:cubicBezTo>
                  <a:pt x="43369" y="0"/>
                  <a:pt x="47625" y="4256"/>
                  <a:pt x="47625" y="9525"/>
                </a:cubicBezTo>
                <a:lnTo>
                  <a:pt x="47625" y="19050"/>
                </a:lnTo>
                <a:lnTo>
                  <a:pt x="85725" y="19050"/>
                </a:lnTo>
                <a:lnTo>
                  <a:pt x="85725" y="9525"/>
                </a:lnTo>
                <a:cubicBezTo>
                  <a:pt x="85725" y="4256"/>
                  <a:pt x="89981" y="0"/>
                  <a:pt x="95250" y="0"/>
                </a:cubicBezTo>
                <a:cubicBezTo>
                  <a:pt x="100519" y="0"/>
                  <a:pt x="104775" y="4256"/>
                  <a:pt x="104775" y="9525"/>
                </a:cubicBezTo>
                <a:lnTo>
                  <a:pt x="104775" y="19050"/>
                </a:lnTo>
                <a:lnTo>
                  <a:pt x="114300" y="19050"/>
                </a:lnTo>
                <a:cubicBezTo>
                  <a:pt x="124807" y="19050"/>
                  <a:pt x="133350" y="27593"/>
                  <a:pt x="133350" y="38100"/>
                </a:cubicBezTo>
                <a:lnTo>
                  <a:pt x="133350" y="123825"/>
                </a:lnTo>
                <a:cubicBezTo>
                  <a:pt x="133350" y="134332"/>
                  <a:pt x="124807" y="142875"/>
                  <a:pt x="114300" y="142875"/>
                </a:cubicBezTo>
                <a:lnTo>
                  <a:pt x="19050" y="142875"/>
                </a:lnTo>
                <a:cubicBezTo>
                  <a:pt x="8543" y="142875"/>
                  <a:pt x="0" y="134332"/>
                  <a:pt x="0" y="123825"/>
                </a:cubicBezTo>
                <a:lnTo>
                  <a:pt x="0" y="38100"/>
                </a:lnTo>
                <a:cubicBezTo>
                  <a:pt x="0" y="27593"/>
                  <a:pt x="8543" y="19050"/>
                  <a:pt x="19050" y="19050"/>
                </a:cubicBezTo>
                <a:lnTo>
                  <a:pt x="28575" y="19050"/>
                </a:lnTo>
                <a:lnTo>
                  <a:pt x="28575" y="9525"/>
                </a:lnTo>
                <a:cubicBezTo>
                  <a:pt x="28575" y="4256"/>
                  <a:pt x="32831" y="0"/>
                  <a:pt x="38100" y="0"/>
                </a:cubicBezTo>
                <a:close/>
                <a:moveTo>
                  <a:pt x="19050" y="71438"/>
                </a:moveTo>
                <a:lnTo>
                  <a:pt x="19050" y="80962"/>
                </a:lnTo>
                <a:cubicBezTo>
                  <a:pt x="19050" y="83582"/>
                  <a:pt x="21193" y="85725"/>
                  <a:pt x="23813" y="85725"/>
                </a:cubicBezTo>
                <a:lnTo>
                  <a:pt x="33338" y="85725"/>
                </a:lnTo>
                <a:cubicBezTo>
                  <a:pt x="35957" y="85725"/>
                  <a:pt x="38100" y="83582"/>
                  <a:pt x="38100" y="80962"/>
                </a:cubicBezTo>
                <a:lnTo>
                  <a:pt x="38100" y="71438"/>
                </a:lnTo>
                <a:cubicBezTo>
                  <a:pt x="38100" y="68818"/>
                  <a:pt x="35957" y="66675"/>
                  <a:pt x="33338" y="66675"/>
                </a:cubicBezTo>
                <a:lnTo>
                  <a:pt x="23813" y="66675"/>
                </a:lnTo>
                <a:cubicBezTo>
                  <a:pt x="21193" y="66675"/>
                  <a:pt x="19050" y="68818"/>
                  <a:pt x="19050" y="71438"/>
                </a:cubicBezTo>
                <a:close/>
                <a:moveTo>
                  <a:pt x="57150" y="71438"/>
                </a:moveTo>
                <a:lnTo>
                  <a:pt x="57150" y="80962"/>
                </a:lnTo>
                <a:cubicBezTo>
                  <a:pt x="57150" y="83582"/>
                  <a:pt x="59293" y="85725"/>
                  <a:pt x="61912" y="85725"/>
                </a:cubicBezTo>
                <a:lnTo>
                  <a:pt x="71438" y="85725"/>
                </a:lnTo>
                <a:cubicBezTo>
                  <a:pt x="74057" y="85725"/>
                  <a:pt x="76200" y="83582"/>
                  <a:pt x="76200" y="80962"/>
                </a:cubicBezTo>
                <a:lnTo>
                  <a:pt x="76200" y="71438"/>
                </a:lnTo>
                <a:cubicBezTo>
                  <a:pt x="76200" y="68818"/>
                  <a:pt x="74057" y="66675"/>
                  <a:pt x="71438" y="66675"/>
                </a:cubicBezTo>
                <a:lnTo>
                  <a:pt x="61912" y="66675"/>
                </a:lnTo>
                <a:cubicBezTo>
                  <a:pt x="59293" y="66675"/>
                  <a:pt x="57150" y="68818"/>
                  <a:pt x="57150" y="71438"/>
                </a:cubicBezTo>
                <a:close/>
                <a:moveTo>
                  <a:pt x="100013" y="66675"/>
                </a:moveTo>
                <a:cubicBezTo>
                  <a:pt x="97393" y="66675"/>
                  <a:pt x="95250" y="68818"/>
                  <a:pt x="95250" y="71438"/>
                </a:cubicBezTo>
                <a:lnTo>
                  <a:pt x="95250" y="80962"/>
                </a:lnTo>
                <a:cubicBezTo>
                  <a:pt x="95250" y="83582"/>
                  <a:pt x="97393" y="85725"/>
                  <a:pt x="100013" y="85725"/>
                </a:cubicBezTo>
                <a:lnTo>
                  <a:pt x="109537" y="85725"/>
                </a:lnTo>
                <a:cubicBezTo>
                  <a:pt x="112157" y="85725"/>
                  <a:pt x="114300" y="83582"/>
                  <a:pt x="114300" y="80962"/>
                </a:cubicBezTo>
                <a:lnTo>
                  <a:pt x="114300" y="71438"/>
                </a:lnTo>
                <a:cubicBezTo>
                  <a:pt x="114300" y="68818"/>
                  <a:pt x="112157" y="66675"/>
                  <a:pt x="109537" y="66675"/>
                </a:cubicBezTo>
                <a:lnTo>
                  <a:pt x="100013" y="66675"/>
                </a:lnTo>
                <a:close/>
                <a:moveTo>
                  <a:pt x="19050" y="109537"/>
                </a:moveTo>
                <a:lnTo>
                  <a:pt x="19050" y="119062"/>
                </a:lnTo>
                <a:cubicBezTo>
                  <a:pt x="19050" y="121682"/>
                  <a:pt x="21193" y="123825"/>
                  <a:pt x="23813" y="123825"/>
                </a:cubicBezTo>
                <a:lnTo>
                  <a:pt x="33338" y="123825"/>
                </a:lnTo>
                <a:cubicBezTo>
                  <a:pt x="35957" y="123825"/>
                  <a:pt x="38100" y="121682"/>
                  <a:pt x="38100" y="119062"/>
                </a:cubicBezTo>
                <a:lnTo>
                  <a:pt x="38100" y="109537"/>
                </a:lnTo>
                <a:cubicBezTo>
                  <a:pt x="38100" y="106918"/>
                  <a:pt x="35957" y="104775"/>
                  <a:pt x="33338" y="104775"/>
                </a:cubicBezTo>
                <a:lnTo>
                  <a:pt x="23813" y="104775"/>
                </a:lnTo>
                <a:cubicBezTo>
                  <a:pt x="21193" y="104775"/>
                  <a:pt x="19050" y="106918"/>
                  <a:pt x="19050" y="109537"/>
                </a:cubicBezTo>
                <a:close/>
                <a:moveTo>
                  <a:pt x="61912" y="104775"/>
                </a:moveTo>
                <a:cubicBezTo>
                  <a:pt x="59293" y="104775"/>
                  <a:pt x="57150" y="106918"/>
                  <a:pt x="57150" y="109537"/>
                </a:cubicBezTo>
                <a:lnTo>
                  <a:pt x="57150" y="119062"/>
                </a:lnTo>
                <a:cubicBezTo>
                  <a:pt x="57150" y="121682"/>
                  <a:pt x="59293" y="123825"/>
                  <a:pt x="61912" y="123825"/>
                </a:cubicBezTo>
                <a:lnTo>
                  <a:pt x="71438" y="123825"/>
                </a:lnTo>
                <a:cubicBezTo>
                  <a:pt x="74057" y="123825"/>
                  <a:pt x="76200" y="121682"/>
                  <a:pt x="76200" y="119062"/>
                </a:cubicBezTo>
                <a:lnTo>
                  <a:pt x="76200" y="109537"/>
                </a:lnTo>
                <a:cubicBezTo>
                  <a:pt x="76200" y="106918"/>
                  <a:pt x="74057" y="104775"/>
                  <a:pt x="71438" y="104775"/>
                </a:cubicBezTo>
                <a:lnTo>
                  <a:pt x="61912" y="104775"/>
                </a:lnTo>
                <a:close/>
                <a:moveTo>
                  <a:pt x="95250" y="109537"/>
                </a:moveTo>
                <a:lnTo>
                  <a:pt x="95250" y="119062"/>
                </a:lnTo>
                <a:cubicBezTo>
                  <a:pt x="95250" y="121682"/>
                  <a:pt x="97393" y="123825"/>
                  <a:pt x="100013" y="123825"/>
                </a:cubicBezTo>
                <a:lnTo>
                  <a:pt x="109537" y="123825"/>
                </a:lnTo>
                <a:cubicBezTo>
                  <a:pt x="112157" y="123825"/>
                  <a:pt x="114300" y="121682"/>
                  <a:pt x="114300" y="119062"/>
                </a:cubicBezTo>
                <a:lnTo>
                  <a:pt x="114300" y="109537"/>
                </a:lnTo>
                <a:cubicBezTo>
                  <a:pt x="114300" y="106918"/>
                  <a:pt x="112157" y="104775"/>
                  <a:pt x="109537" y="104775"/>
                </a:cubicBezTo>
                <a:lnTo>
                  <a:pt x="100013" y="104775"/>
                </a:lnTo>
                <a:cubicBezTo>
                  <a:pt x="97393" y="104775"/>
                  <a:pt x="95250" y="106918"/>
                  <a:pt x="95250" y="109537"/>
                </a:cubicBezTo>
                <a:close/>
              </a:path>
            </a:pathLst>
          </a:custGeom>
          <a:solidFill>
            <a:srgbClr val="808080"/>
          </a:solidFill>
        </p:spPr>
      </p:sp>
      <p:sp>
        <p:nvSpPr>
          <p:cNvPr id="31" name="Text 27"/>
          <p:cNvSpPr/>
          <p:nvPr/>
        </p:nvSpPr>
        <p:spPr>
          <a:xfrm>
            <a:off x="5048608" y="6248400"/>
            <a:ext cx="80010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2026年1月</a:t>
            </a:r>
            <a:endParaRPr lang="en-US" sz="1600" dirty="0"/>
          </a:p>
        </p:txBody>
      </p:sp>
      <p:sp>
        <p:nvSpPr>
          <p:cNvPr id="32" name="Shape 28"/>
          <p:cNvSpPr/>
          <p:nvPr/>
        </p:nvSpPr>
        <p:spPr>
          <a:xfrm>
            <a:off x="6267093" y="6286500"/>
            <a:ext cx="114300" cy="152400"/>
          </a:xfrm>
          <a:custGeom>
            <a:avLst/>
            <a:gdLst/>
            <a:ahLst/>
            <a:cxnLst/>
            <a:rect l="l" t="t" r="r" b="b"/>
            <a:pathLst>
              <a:path w="114300" h="152400">
                <a:moveTo>
                  <a:pt x="0" y="19050"/>
                </a:moveTo>
                <a:cubicBezTo>
                  <a:pt x="0" y="8543"/>
                  <a:pt x="8543" y="0"/>
                  <a:pt x="19050" y="0"/>
                </a:cubicBezTo>
                <a:lnTo>
                  <a:pt x="63550" y="0"/>
                </a:lnTo>
                <a:cubicBezTo>
                  <a:pt x="68610" y="0"/>
                  <a:pt x="73462" y="1994"/>
                  <a:pt x="77033" y="5566"/>
                </a:cubicBezTo>
                <a:lnTo>
                  <a:pt x="108734" y="37296"/>
                </a:lnTo>
                <a:cubicBezTo>
                  <a:pt x="112306" y="40868"/>
                  <a:pt x="114300" y="45720"/>
                  <a:pt x="114300" y="50780"/>
                </a:cubicBezTo>
                <a:lnTo>
                  <a:pt x="114300" y="133350"/>
                </a:lnTo>
                <a:cubicBezTo>
                  <a:pt x="114300" y="143857"/>
                  <a:pt x="105757" y="152400"/>
                  <a:pt x="95250" y="152400"/>
                </a:cubicBezTo>
                <a:lnTo>
                  <a:pt x="19050" y="152400"/>
                </a:lnTo>
                <a:cubicBezTo>
                  <a:pt x="8543" y="152400"/>
                  <a:pt x="0" y="143857"/>
                  <a:pt x="0" y="133350"/>
                </a:cubicBezTo>
                <a:lnTo>
                  <a:pt x="0" y="19050"/>
                </a:lnTo>
                <a:close/>
                <a:moveTo>
                  <a:pt x="61912" y="17413"/>
                </a:moveTo>
                <a:lnTo>
                  <a:pt x="61912" y="45244"/>
                </a:lnTo>
                <a:cubicBezTo>
                  <a:pt x="61912" y="49203"/>
                  <a:pt x="65097" y="52388"/>
                  <a:pt x="69056" y="52388"/>
                </a:cubicBezTo>
                <a:lnTo>
                  <a:pt x="96887" y="52388"/>
                </a:lnTo>
                <a:lnTo>
                  <a:pt x="61912" y="17413"/>
                </a:lnTo>
                <a:close/>
                <a:moveTo>
                  <a:pt x="35719" y="76200"/>
                </a:moveTo>
                <a:cubicBezTo>
                  <a:pt x="31760" y="76200"/>
                  <a:pt x="28575" y="79385"/>
                  <a:pt x="28575" y="83344"/>
                </a:cubicBezTo>
                <a:cubicBezTo>
                  <a:pt x="28575" y="87303"/>
                  <a:pt x="31760" y="90488"/>
                  <a:pt x="35719" y="90488"/>
                </a:cubicBezTo>
                <a:lnTo>
                  <a:pt x="78581" y="90488"/>
                </a:lnTo>
                <a:cubicBezTo>
                  <a:pt x="82540" y="90488"/>
                  <a:pt x="85725" y="87303"/>
                  <a:pt x="85725" y="83344"/>
                </a:cubicBezTo>
                <a:cubicBezTo>
                  <a:pt x="85725" y="79385"/>
                  <a:pt x="82540" y="76200"/>
                  <a:pt x="78581" y="76200"/>
                </a:cubicBezTo>
                <a:lnTo>
                  <a:pt x="35719" y="76200"/>
                </a:lnTo>
                <a:close/>
                <a:moveTo>
                  <a:pt x="35719" y="104775"/>
                </a:moveTo>
                <a:cubicBezTo>
                  <a:pt x="31760" y="104775"/>
                  <a:pt x="28575" y="107960"/>
                  <a:pt x="28575" y="111919"/>
                </a:cubicBezTo>
                <a:cubicBezTo>
                  <a:pt x="28575" y="115878"/>
                  <a:pt x="31760" y="119062"/>
                  <a:pt x="35719" y="119062"/>
                </a:cubicBezTo>
                <a:lnTo>
                  <a:pt x="78581" y="119062"/>
                </a:lnTo>
                <a:cubicBezTo>
                  <a:pt x="82540" y="119062"/>
                  <a:pt x="85725" y="115878"/>
                  <a:pt x="85725" y="111919"/>
                </a:cubicBezTo>
                <a:cubicBezTo>
                  <a:pt x="85725" y="107960"/>
                  <a:pt x="82540" y="104775"/>
                  <a:pt x="78581" y="104775"/>
                </a:cubicBezTo>
                <a:lnTo>
                  <a:pt x="35719" y="104775"/>
                </a:lnTo>
                <a:close/>
              </a:path>
            </a:pathLst>
          </a:custGeom>
          <a:solidFill>
            <a:srgbClr val="808080"/>
          </a:solidFill>
        </p:spPr>
      </p:sp>
      <p:sp>
        <p:nvSpPr>
          <p:cNvPr id="33" name="Text 29"/>
          <p:cNvSpPr/>
          <p:nvPr/>
        </p:nvSpPr>
        <p:spPr>
          <a:xfrm>
            <a:off x="6495693" y="6248400"/>
            <a:ext cx="99060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学术论文汇报</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29:05-d3l4r48s8jdo4os5eol0.jpg"/>
          <p:cNvPicPr>
            <a:picLocks noChangeAspect="1"/>
          </p:cNvPicPr>
          <p:nvPr/>
        </p:nvPicPr>
        <p:blipFill>
          <a:blip r:embed="rId2"/>
          <a:stretch>
            <a:fillRect/>
          </a:stretch>
        </p:blipFill>
        <p:spPr>
          <a:xfrm>
            <a:off x="10160" y="0"/>
            <a:ext cx="12171680" cy="6858000"/>
          </a:xfrm>
          <a:prstGeom prst="rect">
            <a:avLst/>
          </a:prstGeom>
        </p:spPr>
      </p:pic>
      <p:pic>
        <p:nvPicPr>
          <p:cNvPr id="3" name="Image 1" descr="https://kimi-img.moonshot.cn/pub/slides/slides_tmpl/image/25-10-11-20:29:15-d3l4r6os8jdo4os5eom0.jpeg"/>
          <p:cNvPicPr>
            <a:picLocks noChangeAspect="1"/>
          </p:cNvPicPr>
          <p:nvPr/>
        </p:nvPicPr>
        <p:blipFill>
          <a:blip r:embed="rId1"/>
          <a:srcRect t="31248" b="31248"/>
          <a:stretch>
            <a:fillRect/>
          </a:stretch>
        </p:blipFill>
        <p:spPr>
          <a:xfrm>
            <a:off x="0" y="0"/>
            <a:ext cx="12191365" cy="6858635"/>
          </a:xfrm>
          <a:prstGeom prst="rect">
            <a:avLst/>
          </a:prstGeom>
        </p:spPr>
      </p:pic>
      <p:pic>
        <p:nvPicPr>
          <p:cNvPr id="4" name="Image 2" descr="https://kimi-img.moonshot.cn/pub/slides/slides_tmpl/image/25-10-11-20:29:04-d3l4r40s8jdo4os5eok0.jpeg"/>
          <p:cNvPicPr>
            <a:picLocks noChangeAspect="1"/>
          </p:cNvPicPr>
          <p:nvPr/>
        </p:nvPicPr>
        <p:blipFill>
          <a:blip r:embed="rId3">
            <a:alphaModFix amt="10000"/>
          </a:blip>
          <a:srcRect t="37244" b="24949"/>
          <a:stretch>
            <a:fillRect/>
          </a:stretch>
        </p:blipFill>
        <p:spPr>
          <a:xfrm>
            <a:off x="635" y="1621155"/>
            <a:ext cx="12191365" cy="3456305"/>
          </a:xfrm>
          <a:prstGeom prst="rect">
            <a:avLst/>
          </a:prstGeom>
        </p:spPr>
      </p:pic>
      <p:sp>
        <p:nvSpPr>
          <p:cNvPr id="5" name="Text 0"/>
          <p:cNvSpPr/>
          <p:nvPr/>
        </p:nvSpPr>
        <p:spPr>
          <a:xfrm>
            <a:off x="1357630" y="3708400"/>
            <a:ext cx="9475470" cy="819150"/>
          </a:xfrm>
          <a:prstGeom prst="rect">
            <a:avLst/>
          </a:prstGeom>
          <a:noFill/>
        </p:spPr>
        <p:txBody>
          <a:bodyPr wrap="square" lIns="91440" tIns="45720" rIns="91440" bIns="45720" rtlCol="0" anchor="t"/>
          <a:lstStyle/>
          <a:p>
            <a:pPr algn="ctr">
              <a:lnSpc>
                <a:spcPct val="110000"/>
              </a:lnSpc>
            </a:pPr>
            <a:r>
              <a:rPr lang="en-US" sz="3600" dirty="0">
                <a:solidFill>
                  <a:srgbClr val="000000"/>
                </a:solidFill>
                <a:latin typeface="MiSans" pitchFamily="34" charset="-122"/>
                <a:ea typeface="MiSans" pitchFamily="34" charset="-122"/>
                <a:cs typeface="MiSans" pitchFamily="34" charset="-120"/>
              </a:rPr>
              <a:t>01 研究背景</a:t>
            </a:r>
            <a:endParaRPr lang="en-US" sz="1600" dirty="0"/>
          </a:p>
        </p:txBody>
      </p:sp>
      <p:sp>
        <p:nvSpPr>
          <p:cNvPr id="6" name="Text 1"/>
          <p:cNvSpPr/>
          <p:nvPr/>
        </p:nvSpPr>
        <p:spPr>
          <a:xfrm>
            <a:off x="4683125" y="2274570"/>
            <a:ext cx="2824480" cy="1433830"/>
          </a:xfrm>
          <a:prstGeom prst="rect">
            <a:avLst/>
          </a:prstGeom>
          <a:noFill/>
        </p:spPr>
        <p:txBody>
          <a:bodyPr wrap="square" lIns="91440" tIns="45720" rIns="91440" bIns="45720" rtlCol="0" anchor="t"/>
          <a:lstStyle/>
          <a:p>
            <a:pPr algn="ctr">
              <a:lnSpc>
                <a:spcPct val="100000"/>
              </a:lnSpc>
            </a:pPr>
            <a:r>
              <a:rPr lang="en-US" sz="9600" dirty="0">
                <a:solidFill>
                  <a:srgbClr val="000000"/>
                </a:solidFill>
                <a:latin typeface="MiSans" pitchFamily="34" charset="-122"/>
                <a:ea typeface="MiSans" pitchFamily="34" charset="-122"/>
                <a:cs typeface="MiSans" pitchFamily="34" charset="-120"/>
              </a:rPr>
              <a:t>01</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10-11-20:29:04-d3l4r40s8jdo4os5eok0.jpeg"/>
          <p:cNvPicPr>
            <a:picLocks noChangeAspect="1"/>
          </p:cNvPicPr>
          <p:nvPr/>
        </p:nvPicPr>
        <p:blipFill>
          <a:blip r:embed="rId1">
            <a:alphaModFix amt="34000"/>
          </a:blip>
          <a:srcRect t="46513" b="46513"/>
          <a:stretch>
            <a:fillRect/>
          </a:stretch>
        </p:blipFill>
        <p:spPr>
          <a:xfrm>
            <a:off x="799465" y="6010275"/>
            <a:ext cx="10638155" cy="215265"/>
          </a:xfrm>
          <a:prstGeom prst="rect">
            <a:avLst/>
          </a:prstGeom>
        </p:spPr>
      </p:pic>
      <p:pic>
        <p:nvPicPr>
          <p:cNvPr id="3" name="Image 1" descr="https://kimi-img.moonshot.cn/pub/slides/slides_tmpl/image/25-10-11-20:29:20-d3l4r80s8jdo4os5eomg.jpg"/>
          <p:cNvPicPr>
            <a:picLocks noChangeAspect="1"/>
          </p:cNvPicPr>
          <p:nvPr/>
        </p:nvPicPr>
        <p:blipFill>
          <a:blip r:embed="rId2"/>
          <a:stretch>
            <a:fillRect/>
          </a:stretch>
        </p:blipFill>
        <p:spPr>
          <a:xfrm>
            <a:off x="1270" y="0"/>
            <a:ext cx="12190730" cy="6858000"/>
          </a:xfrm>
          <a:prstGeom prst="rect">
            <a:avLst/>
          </a:prstGeom>
        </p:spPr>
      </p:pic>
      <p:sp>
        <p:nvSpPr>
          <p:cNvPr id="4" name="Text 0"/>
          <p:cNvSpPr/>
          <p:nvPr/>
        </p:nvSpPr>
        <p:spPr>
          <a:xfrm>
            <a:off x="381000" y="381000"/>
            <a:ext cx="11496675" cy="190500"/>
          </a:xfrm>
          <a:prstGeom prst="rect">
            <a:avLst/>
          </a:prstGeom>
          <a:noFill/>
        </p:spPr>
        <p:txBody>
          <a:bodyPr wrap="square" lIns="0" tIns="0" rIns="0" bIns="0" rtlCol="0" anchor="ctr"/>
          <a:lstStyle/>
          <a:p>
            <a:pPr>
              <a:lnSpc>
                <a:spcPct val="120000"/>
              </a:lnSpc>
            </a:pPr>
            <a:r>
              <a:rPr lang="en-US" sz="1050" b="1" kern="0" spc="53" dirty="0">
                <a:solidFill>
                  <a:srgbClr val="808080"/>
                </a:solidFill>
                <a:latin typeface="MiSans" pitchFamily="34" charset="-122"/>
                <a:ea typeface="MiSans" pitchFamily="34" charset="-122"/>
                <a:cs typeface="MiSans" pitchFamily="34" charset="-120"/>
              </a:rPr>
              <a:t>BACKGROUND</a:t>
            </a:r>
            <a:endParaRPr lang="en-US" sz="1600" dirty="0"/>
          </a:p>
        </p:txBody>
      </p:sp>
      <p:sp>
        <p:nvSpPr>
          <p:cNvPr id="5" name="Text 1"/>
          <p:cNvSpPr/>
          <p:nvPr/>
        </p:nvSpPr>
        <p:spPr>
          <a:xfrm>
            <a:off x="381000" y="609600"/>
            <a:ext cx="11572875" cy="342900"/>
          </a:xfrm>
          <a:prstGeom prst="rect">
            <a:avLst/>
          </a:prstGeom>
          <a:noFill/>
        </p:spPr>
        <p:txBody>
          <a:bodyPr wrap="square" lIns="0" tIns="0" rIns="0" bIns="0" rtlCol="0" anchor="ctr"/>
          <a:lstStyle/>
          <a:p>
            <a:pPr>
              <a:lnSpc>
                <a:spcPct val="100000"/>
              </a:lnSpc>
            </a:pPr>
            <a:r>
              <a:rPr lang="en-US" sz="2250" b="1" dirty="0">
                <a:solidFill>
                  <a:srgbClr val="4A4A4A"/>
                </a:solidFill>
                <a:latin typeface="MiSans" pitchFamily="34" charset="-122"/>
                <a:ea typeface="MiSans" pitchFamily="34" charset="-122"/>
                <a:cs typeface="MiSans" pitchFamily="34" charset="-120"/>
              </a:rPr>
              <a:t>开源软件供应链安全危机</a:t>
            </a:r>
            <a:endParaRPr lang="en-US" sz="1600" dirty="0"/>
          </a:p>
        </p:txBody>
      </p:sp>
      <p:sp>
        <p:nvSpPr>
          <p:cNvPr id="6" name="Shape 2"/>
          <p:cNvSpPr/>
          <p:nvPr/>
        </p:nvSpPr>
        <p:spPr>
          <a:xfrm>
            <a:off x="381000" y="10287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4A4A4A"/>
          </a:solidFill>
        </p:spPr>
      </p:sp>
      <p:sp>
        <p:nvSpPr>
          <p:cNvPr id="7" name="Shape 3"/>
          <p:cNvSpPr/>
          <p:nvPr/>
        </p:nvSpPr>
        <p:spPr>
          <a:xfrm>
            <a:off x="400050" y="1219200"/>
            <a:ext cx="7553325" cy="1752600"/>
          </a:xfrm>
          <a:custGeom>
            <a:avLst/>
            <a:gdLst/>
            <a:ahLst/>
            <a:cxnLst/>
            <a:rect l="l" t="t" r="r" b="b"/>
            <a:pathLst>
              <a:path w="7553325" h="1752600">
                <a:moveTo>
                  <a:pt x="38100" y="0"/>
                </a:moveTo>
                <a:lnTo>
                  <a:pt x="7477122" y="0"/>
                </a:lnTo>
                <a:cubicBezTo>
                  <a:pt x="7519208" y="0"/>
                  <a:pt x="7553325" y="34117"/>
                  <a:pt x="7553325" y="76203"/>
                </a:cubicBezTo>
                <a:lnTo>
                  <a:pt x="7553325" y="1676397"/>
                </a:lnTo>
                <a:cubicBezTo>
                  <a:pt x="7553325" y="1718483"/>
                  <a:pt x="7519208" y="1752600"/>
                  <a:pt x="7477122" y="1752600"/>
                </a:cubicBezTo>
                <a:lnTo>
                  <a:pt x="38100" y="1752600"/>
                </a:lnTo>
                <a:cubicBezTo>
                  <a:pt x="17072" y="1752600"/>
                  <a:pt x="0" y="1735528"/>
                  <a:pt x="0" y="1714500"/>
                </a:cubicBezTo>
                <a:lnTo>
                  <a:pt x="0" y="38100"/>
                </a:lnTo>
                <a:cubicBezTo>
                  <a:pt x="0" y="17072"/>
                  <a:pt x="17072" y="0"/>
                  <a:pt x="38100" y="0"/>
                </a:cubicBezTo>
                <a:close/>
              </a:path>
            </a:pathLst>
          </a:custGeom>
          <a:solidFill>
            <a:srgbClr val="4A4A4A">
              <a:alpha val="5098"/>
            </a:srgbClr>
          </a:solidFill>
        </p:spPr>
      </p:sp>
      <p:sp>
        <p:nvSpPr>
          <p:cNvPr id="8" name="Shape 4"/>
          <p:cNvSpPr/>
          <p:nvPr/>
        </p:nvSpPr>
        <p:spPr>
          <a:xfrm>
            <a:off x="400050" y="1219200"/>
            <a:ext cx="38100" cy="1752600"/>
          </a:xfrm>
          <a:custGeom>
            <a:avLst/>
            <a:gdLst/>
            <a:ahLst/>
            <a:cxnLst/>
            <a:rect l="l" t="t" r="r" b="b"/>
            <a:pathLst>
              <a:path w="38100" h="1752600">
                <a:moveTo>
                  <a:pt x="38100" y="0"/>
                </a:moveTo>
                <a:lnTo>
                  <a:pt x="38100" y="0"/>
                </a:lnTo>
                <a:lnTo>
                  <a:pt x="38100" y="1752600"/>
                </a:lnTo>
                <a:lnTo>
                  <a:pt x="38100" y="1752600"/>
                </a:lnTo>
                <a:cubicBezTo>
                  <a:pt x="17072" y="1752600"/>
                  <a:pt x="0" y="1735528"/>
                  <a:pt x="0" y="1714500"/>
                </a:cubicBezTo>
                <a:lnTo>
                  <a:pt x="0" y="38100"/>
                </a:lnTo>
                <a:cubicBezTo>
                  <a:pt x="0" y="17072"/>
                  <a:pt x="17072" y="0"/>
                  <a:pt x="38100" y="0"/>
                </a:cubicBezTo>
                <a:close/>
              </a:path>
            </a:pathLst>
          </a:custGeom>
          <a:solidFill>
            <a:srgbClr val="4A4A4A"/>
          </a:solidFill>
        </p:spPr>
      </p:sp>
      <p:sp>
        <p:nvSpPr>
          <p:cNvPr id="9" name="Shape 5"/>
          <p:cNvSpPr/>
          <p:nvPr/>
        </p:nvSpPr>
        <p:spPr>
          <a:xfrm>
            <a:off x="633413" y="1457325"/>
            <a:ext cx="171450" cy="171450"/>
          </a:xfrm>
          <a:custGeom>
            <a:avLst/>
            <a:gdLst/>
            <a:ahLst/>
            <a:cxnLst/>
            <a:rect l="l" t="t" r="r" b="b"/>
            <a:pathLst>
              <a:path w="171450" h="171450">
                <a:moveTo>
                  <a:pt x="85725" y="0"/>
                </a:moveTo>
                <a:cubicBezTo>
                  <a:pt x="90647" y="0"/>
                  <a:pt x="95168" y="2712"/>
                  <a:pt x="97512" y="7032"/>
                </a:cubicBezTo>
                <a:lnTo>
                  <a:pt x="169843" y="140977"/>
                </a:lnTo>
                <a:cubicBezTo>
                  <a:pt x="172086" y="145130"/>
                  <a:pt x="171986" y="150153"/>
                  <a:pt x="169575" y="154205"/>
                </a:cubicBezTo>
                <a:cubicBezTo>
                  <a:pt x="167164" y="158256"/>
                  <a:pt x="162777" y="160734"/>
                  <a:pt x="158055" y="160734"/>
                </a:cubicBezTo>
                <a:lnTo>
                  <a:pt x="13395" y="160734"/>
                </a:lnTo>
                <a:cubicBezTo>
                  <a:pt x="8673" y="160734"/>
                  <a:pt x="4320" y="158256"/>
                  <a:pt x="1875" y="154205"/>
                </a:cubicBezTo>
                <a:cubicBezTo>
                  <a:pt x="-569" y="150153"/>
                  <a:pt x="-636" y="145130"/>
                  <a:pt x="1607" y="140977"/>
                </a:cubicBezTo>
                <a:lnTo>
                  <a:pt x="73938" y="7032"/>
                </a:lnTo>
                <a:cubicBezTo>
                  <a:pt x="76282" y="2712"/>
                  <a:pt x="80803" y="0"/>
                  <a:pt x="85725" y="0"/>
                </a:cubicBezTo>
                <a:close/>
                <a:moveTo>
                  <a:pt x="85725" y="56257"/>
                </a:moveTo>
                <a:cubicBezTo>
                  <a:pt x="81271" y="56257"/>
                  <a:pt x="77688" y="59840"/>
                  <a:pt x="77688" y="64294"/>
                </a:cubicBezTo>
                <a:lnTo>
                  <a:pt x="77688" y="101798"/>
                </a:lnTo>
                <a:cubicBezTo>
                  <a:pt x="77688" y="106252"/>
                  <a:pt x="81271" y="109835"/>
                  <a:pt x="85725" y="109835"/>
                </a:cubicBezTo>
                <a:cubicBezTo>
                  <a:pt x="90179" y="109835"/>
                  <a:pt x="93762" y="106252"/>
                  <a:pt x="93762" y="101798"/>
                </a:cubicBezTo>
                <a:lnTo>
                  <a:pt x="93762" y="64294"/>
                </a:lnTo>
                <a:cubicBezTo>
                  <a:pt x="93762" y="59840"/>
                  <a:pt x="90179" y="56257"/>
                  <a:pt x="85725" y="56257"/>
                </a:cubicBezTo>
                <a:close/>
                <a:moveTo>
                  <a:pt x="94666" y="128588"/>
                </a:moveTo>
                <a:cubicBezTo>
                  <a:pt x="94869" y="125269"/>
                  <a:pt x="93214" y="122111"/>
                  <a:pt x="90369" y="120390"/>
                </a:cubicBezTo>
                <a:cubicBezTo>
                  <a:pt x="87524" y="118670"/>
                  <a:pt x="83959" y="118670"/>
                  <a:pt x="81114" y="120390"/>
                </a:cubicBezTo>
                <a:cubicBezTo>
                  <a:pt x="78269" y="122111"/>
                  <a:pt x="76614" y="125269"/>
                  <a:pt x="76818" y="128587"/>
                </a:cubicBezTo>
                <a:cubicBezTo>
                  <a:pt x="76614" y="131906"/>
                  <a:pt x="78269" y="135064"/>
                  <a:pt x="81114" y="136785"/>
                </a:cubicBezTo>
                <a:cubicBezTo>
                  <a:pt x="83959" y="138505"/>
                  <a:pt x="87524" y="138505"/>
                  <a:pt x="90369" y="136785"/>
                </a:cubicBezTo>
                <a:cubicBezTo>
                  <a:pt x="93214" y="135064"/>
                  <a:pt x="94869" y="131906"/>
                  <a:pt x="94666" y="128588"/>
                </a:cubicBezTo>
                <a:close/>
              </a:path>
            </a:pathLst>
          </a:custGeom>
          <a:solidFill>
            <a:srgbClr val="4A4A4A"/>
          </a:solidFill>
        </p:spPr>
      </p:sp>
      <p:sp>
        <p:nvSpPr>
          <p:cNvPr id="10" name="Text 6"/>
          <p:cNvSpPr/>
          <p:nvPr/>
        </p:nvSpPr>
        <p:spPr>
          <a:xfrm>
            <a:off x="828675" y="1409700"/>
            <a:ext cx="7019925"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问题严重性</a:t>
            </a:r>
            <a:endParaRPr lang="en-US" sz="1600" dirty="0"/>
          </a:p>
        </p:txBody>
      </p:sp>
      <p:sp>
        <p:nvSpPr>
          <p:cNvPr id="11" name="Shape 7"/>
          <p:cNvSpPr/>
          <p:nvPr/>
        </p:nvSpPr>
        <p:spPr>
          <a:xfrm>
            <a:off x="609600" y="1790700"/>
            <a:ext cx="2305050" cy="990600"/>
          </a:xfrm>
          <a:custGeom>
            <a:avLst/>
            <a:gdLst/>
            <a:ahLst/>
            <a:cxnLst/>
            <a:rect l="l" t="t" r="r" b="b"/>
            <a:pathLst>
              <a:path w="2305050" h="990600">
                <a:moveTo>
                  <a:pt x="76197" y="0"/>
                </a:moveTo>
                <a:lnTo>
                  <a:pt x="2228853" y="0"/>
                </a:lnTo>
                <a:cubicBezTo>
                  <a:pt x="2270935" y="0"/>
                  <a:pt x="2305050" y="34115"/>
                  <a:pt x="2305050" y="76197"/>
                </a:cubicBezTo>
                <a:lnTo>
                  <a:pt x="2305050" y="914403"/>
                </a:lnTo>
                <a:cubicBezTo>
                  <a:pt x="2305050" y="956485"/>
                  <a:pt x="2270935" y="990600"/>
                  <a:pt x="2228853" y="990600"/>
                </a:cubicBezTo>
                <a:lnTo>
                  <a:pt x="76197" y="990600"/>
                </a:lnTo>
                <a:cubicBezTo>
                  <a:pt x="34115" y="990600"/>
                  <a:pt x="0" y="956485"/>
                  <a:pt x="0" y="914403"/>
                </a:cubicBezTo>
                <a:lnTo>
                  <a:pt x="0" y="76197"/>
                </a:lnTo>
                <a:cubicBezTo>
                  <a:pt x="0" y="34143"/>
                  <a:pt x="34143" y="0"/>
                  <a:pt x="76197" y="0"/>
                </a:cubicBezTo>
                <a:close/>
              </a:path>
            </a:pathLst>
          </a:custGeom>
          <a:solidFill>
            <a:srgbClr val="FFFFFF"/>
          </a:solidFill>
          <a:effectLst>
            <a:outerShdw blurRad="28575" dist="9525" dir="5400000" algn="bl" rotWithShape="0">
              <a:srgbClr val="000000">
                <a:alpha val="10196"/>
              </a:srgbClr>
            </a:outerShdw>
          </a:effectLst>
        </p:spPr>
      </p:sp>
      <p:sp>
        <p:nvSpPr>
          <p:cNvPr id="12" name="Text 8"/>
          <p:cNvSpPr/>
          <p:nvPr/>
        </p:nvSpPr>
        <p:spPr>
          <a:xfrm>
            <a:off x="652463" y="1905000"/>
            <a:ext cx="2219325" cy="342900"/>
          </a:xfrm>
          <a:prstGeom prst="rect">
            <a:avLst/>
          </a:prstGeom>
          <a:noFill/>
        </p:spPr>
        <p:txBody>
          <a:bodyPr wrap="square" lIns="0" tIns="0" rIns="0" bIns="0" rtlCol="0" anchor="ctr"/>
          <a:lstStyle/>
          <a:p>
            <a:pPr algn="ctr">
              <a:lnSpc>
                <a:spcPct val="100000"/>
              </a:lnSpc>
            </a:pPr>
            <a:r>
              <a:rPr lang="en-US" sz="2250" b="1" dirty="0">
                <a:solidFill>
                  <a:srgbClr val="4A4A4A"/>
                </a:solidFill>
                <a:latin typeface="MiSans" pitchFamily="34" charset="-122"/>
                <a:ea typeface="MiSans" pitchFamily="34" charset="-122"/>
                <a:cs typeface="MiSans" pitchFamily="34" charset="-120"/>
              </a:rPr>
              <a:t>+742%</a:t>
            </a:r>
            <a:endParaRPr lang="en-US" sz="1600" dirty="0"/>
          </a:p>
        </p:txBody>
      </p:sp>
      <p:sp>
        <p:nvSpPr>
          <p:cNvPr id="13" name="Text 9"/>
          <p:cNvSpPr/>
          <p:nvPr/>
        </p:nvSpPr>
        <p:spPr>
          <a:xfrm>
            <a:off x="685800" y="2286000"/>
            <a:ext cx="2152650" cy="381000"/>
          </a:xfrm>
          <a:prstGeom prst="rect">
            <a:avLst/>
          </a:prstGeom>
          <a:noFill/>
        </p:spPr>
        <p:txBody>
          <a:bodyPr wrap="square" lIns="0" tIns="0" rIns="0" bIns="0" rtlCol="0" anchor="ctr"/>
          <a:lstStyle/>
          <a:p>
            <a:pPr algn="ctr">
              <a:lnSpc>
                <a:spcPct val="100000"/>
              </a:lnSpc>
            </a:pPr>
            <a:r>
              <a:rPr lang="en-US" sz="1200" dirty="0">
                <a:solidFill>
                  <a:srgbClr val="808080"/>
                </a:solidFill>
                <a:latin typeface="MiSans" pitchFamily="34" charset="-122"/>
                <a:ea typeface="MiSans" pitchFamily="34" charset="-122"/>
                <a:cs typeface="MiSans" pitchFamily="34" charset="-120"/>
              </a:rPr>
              <a:t>过去3年软件供应链攻击</a:t>
            </a:r>
            <a:endParaRPr lang="en-US" sz="1600" dirty="0"/>
          </a:p>
          <a:p>
            <a:pPr algn="ctr">
              <a:lnSpc>
                <a:spcPct val="100000"/>
              </a:lnSpc>
            </a:pPr>
            <a:r>
              <a:rPr lang="en-US" sz="1200" dirty="0">
                <a:solidFill>
                  <a:srgbClr val="808080"/>
                </a:solidFill>
                <a:latin typeface="MiSans" pitchFamily="34" charset="-122"/>
                <a:ea typeface="MiSans" pitchFamily="34" charset="-122"/>
                <a:cs typeface="MiSans" pitchFamily="34" charset="-120"/>
              </a:rPr>
              <a:t>年均增长率</a:t>
            </a:r>
            <a:endParaRPr lang="en-US" sz="1600" dirty="0"/>
          </a:p>
        </p:txBody>
      </p:sp>
      <p:sp>
        <p:nvSpPr>
          <p:cNvPr id="14" name="Shape 10"/>
          <p:cNvSpPr/>
          <p:nvPr/>
        </p:nvSpPr>
        <p:spPr>
          <a:xfrm>
            <a:off x="3030974" y="1790700"/>
            <a:ext cx="2305050" cy="990600"/>
          </a:xfrm>
          <a:custGeom>
            <a:avLst/>
            <a:gdLst/>
            <a:ahLst/>
            <a:cxnLst/>
            <a:rect l="l" t="t" r="r" b="b"/>
            <a:pathLst>
              <a:path w="2305050" h="990600">
                <a:moveTo>
                  <a:pt x="76197" y="0"/>
                </a:moveTo>
                <a:lnTo>
                  <a:pt x="2228853" y="0"/>
                </a:lnTo>
                <a:cubicBezTo>
                  <a:pt x="2270935" y="0"/>
                  <a:pt x="2305050" y="34115"/>
                  <a:pt x="2305050" y="76197"/>
                </a:cubicBezTo>
                <a:lnTo>
                  <a:pt x="2305050" y="914403"/>
                </a:lnTo>
                <a:cubicBezTo>
                  <a:pt x="2305050" y="956485"/>
                  <a:pt x="2270935" y="990600"/>
                  <a:pt x="2228853" y="990600"/>
                </a:cubicBezTo>
                <a:lnTo>
                  <a:pt x="76197" y="990600"/>
                </a:lnTo>
                <a:cubicBezTo>
                  <a:pt x="34115" y="990600"/>
                  <a:pt x="0" y="956485"/>
                  <a:pt x="0" y="914403"/>
                </a:cubicBezTo>
                <a:lnTo>
                  <a:pt x="0" y="76197"/>
                </a:lnTo>
                <a:cubicBezTo>
                  <a:pt x="0" y="34143"/>
                  <a:pt x="34143" y="0"/>
                  <a:pt x="76197" y="0"/>
                </a:cubicBezTo>
                <a:close/>
              </a:path>
            </a:pathLst>
          </a:custGeom>
          <a:solidFill>
            <a:srgbClr val="FFFFFF"/>
          </a:solidFill>
          <a:effectLst>
            <a:outerShdw blurRad="28575" dist="9525" dir="5400000" algn="bl" rotWithShape="0">
              <a:srgbClr val="000000">
                <a:alpha val="10196"/>
              </a:srgbClr>
            </a:outerShdw>
          </a:effectLst>
        </p:spPr>
      </p:sp>
      <p:sp>
        <p:nvSpPr>
          <p:cNvPr id="15" name="Text 11"/>
          <p:cNvSpPr/>
          <p:nvPr/>
        </p:nvSpPr>
        <p:spPr>
          <a:xfrm>
            <a:off x="3073837" y="1905000"/>
            <a:ext cx="2219325" cy="342900"/>
          </a:xfrm>
          <a:prstGeom prst="rect">
            <a:avLst/>
          </a:prstGeom>
          <a:noFill/>
        </p:spPr>
        <p:txBody>
          <a:bodyPr wrap="square" lIns="0" tIns="0" rIns="0" bIns="0" rtlCol="0" anchor="ctr"/>
          <a:lstStyle/>
          <a:p>
            <a:pPr algn="ctr">
              <a:lnSpc>
                <a:spcPct val="100000"/>
              </a:lnSpc>
            </a:pPr>
            <a:r>
              <a:rPr lang="en-US" sz="2250" b="1" dirty="0">
                <a:solidFill>
                  <a:srgbClr val="4A4A4A"/>
                </a:solidFill>
                <a:latin typeface="MiSans" pitchFamily="34" charset="-122"/>
                <a:ea typeface="MiSans" pitchFamily="34" charset="-122"/>
                <a:cs typeface="MiSans" pitchFamily="34" charset="-120"/>
              </a:rPr>
              <a:t>45%</a:t>
            </a:r>
            <a:endParaRPr lang="en-US" sz="1600" dirty="0"/>
          </a:p>
        </p:txBody>
      </p:sp>
      <p:sp>
        <p:nvSpPr>
          <p:cNvPr id="16" name="Text 12"/>
          <p:cNvSpPr/>
          <p:nvPr/>
        </p:nvSpPr>
        <p:spPr>
          <a:xfrm>
            <a:off x="3107174" y="2286000"/>
            <a:ext cx="2152650" cy="381000"/>
          </a:xfrm>
          <a:prstGeom prst="rect">
            <a:avLst/>
          </a:prstGeom>
          <a:noFill/>
        </p:spPr>
        <p:txBody>
          <a:bodyPr wrap="square" lIns="0" tIns="0" rIns="0" bIns="0" rtlCol="0" anchor="ctr"/>
          <a:lstStyle/>
          <a:p>
            <a:pPr algn="ctr">
              <a:lnSpc>
                <a:spcPct val="100000"/>
              </a:lnSpc>
            </a:pPr>
            <a:r>
              <a:rPr lang="en-US" sz="1200" dirty="0">
                <a:solidFill>
                  <a:srgbClr val="808080"/>
                </a:solidFill>
                <a:latin typeface="MiSans" pitchFamily="34" charset="-122"/>
                <a:ea typeface="MiSans" pitchFamily="34" charset="-122"/>
                <a:cs typeface="MiSans" pitchFamily="34" charset="-120"/>
              </a:rPr>
              <a:t>预计到2025年遭受攻击的</a:t>
            </a:r>
            <a:endParaRPr lang="en-US" sz="1600" dirty="0"/>
          </a:p>
          <a:p>
            <a:pPr algn="ctr">
              <a:lnSpc>
                <a:spcPct val="100000"/>
              </a:lnSpc>
            </a:pPr>
            <a:r>
              <a:rPr lang="en-US" sz="1200" dirty="0">
                <a:solidFill>
                  <a:srgbClr val="808080"/>
                </a:solidFill>
                <a:latin typeface="MiSans" pitchFamily="34" charset="-122"/>
                <a:ea typeface="MiSans" pitchFamily="34" charset="-122"/>
                <a:cs typeface="MiSans" pitchFamily="34" charset="-120"/>
              </a:rPr>
              <a:t>全球组织比例</a:t>
            </a:r>
            <a:endParaRPr lang="en-US" sz="1600" dirty="0"/>
          </a:p>
        </p:txBody>
      </p:sp>
      <p:sp>
        <p:nvSpPr>
          <p:cNvPr id="17" name="Shape 13"/>
          <p:cNvSpPr/>
          <p:nvPr/>
        </p:nvSpPr>
        <p:spPr>
          <a:xfrm>
            <a:off x="5452467" y="1790700"/>
            <a:ext cx="2305050" cy="990600"/>
          </a:xfrm>
          <a:custGeom>
            <a:avLst/>
            <a:gdLst/>
            <a:ahLst/>
            <a:cxnLst/>
            <a:rect l="l" t="t" r="r" b="b"/>
            <a:pathLst>
              <a:path w="2305050" h="990600">
                <a:moveTo>
                  <a:pt x="76197" y="0"/>
                </a:moveTo>
                <a:lnTo>
                  <a:pt x="2228853" y="0"/>
                </a:lnTo>
                <a:cubicBezTo>
                  <a:pt x="2270935" y="0"/>
                  <a:pt x="2305050" y="34115"/>
                  <a:pt x="2305050" y="76197"/>
                </a:cubicBezTo>
                <a:lnTo>
                  <a:pt x="2305050" y="914403"/>
                </a:lnTo>
                <a:cubicBezTo>
                  <a:pt x="2305050" y="956485"/>
                  <a:pt x="2270935" y="990600"/>
                  <a:pt x="2228853" y="990600"/>
                </a:cubicBezTo>
                <a:lnTo>
                  <a:pt x="76197" y="990600"/>
                </a:lnTo>
                <a:cubicBezTo>
                  <a:pt x="34115" y="990600"/>
                  <a:pt x="0" y="956485"/>
                  <a:pt x="0" y="914403"/>
                </a:cubicBezTo>
                <a:lnTo>
                  <a:pt x="0" y="76197"/>
                </a:lnTo>
                <a:cubicBezTo>
                  <a:pt x="0" y="34143"/>
                  <a:pt x="34143" y="0"/>
                  <a:pt x="76197" y="0"/>
                </a:cubicBezTo>
                <a:close/>
              </a:path>
            </a:pathLst>
          </a:custGeom>
          <a:solidFill>
            <a:srgbClr val="FFFFFF"/>
          </a:solidFill>
          <a:effectLst>
            <a:outerShdw blurRad="28575" dist="9525" dir="5400000" algn="bl" rotWithShape="0">
              <a:srgbClr val="000000">
                <a:alpha val="10196"/>
              </a:srgbClr>
            </a:outerShdw>
          </a:effectLst>
        </p:spPr>
      </p:sp>
      <p:sp>
        <p:nvSpPr>
          <p:cNvPr id="18" name="Text 14"/>
          <p:cNvSpPr/>
          <p:nvPr/>
        </p:nvSpPr>
        <p:spPr>
          <a:xfrm>
            <a:off x="5495330" y="1905000"/>
            <a:ext cx="2219325" cy="342900"/>
          </a:xfrm>
          <a:prstGeom prst="rect">
            <a:avLst/>
          </a:prstGeom>
          <a:noFill/>
        </p:spPr>
        <p:txBody>
          <a:bodyPr wrap="square" lIns="0" tIns="0" rIns="0" bIns="0" rtlCol="0" anchor="ctr"/>
          <a:lstStyle/>
          <a:p>
            <a:pPr algn="ctr">
              <a:lnSpc>
                <a:spcPct val="100000"/>
              </a:lnSpc>
            </a:pPr>
            <a:r>
              <a:rPr lang="en-US" sz="2250" b="1" dirty="0">
                <a:solidFill>
                  <a:srgbClr val="4A4A4A"/>
                </a:solidFill>
                <a:latin typeface="MiSans" pitchFamily="34" charset="-122"/>
                <a:ea typeface="MiSans" pitchFamily="34" charset="-122"/>
                <a:cs typeface="MiSans" pitchFamily="34" charset="-120"/>
              </a:rPr>
              <a:t>12,000+</a:t>
            </a:r>
            <a:endParaRPr lang="en-US" sz="1600" dirty="0"/>
          </a:p>
        </p:txBody>
      </p:sp>
      <p:sp>
        <p:nvSpPr>
          <p:cNvPr id="19" name="Text 15"/>
          <p:cNvSpPr/>
          <p:nvPr/>
        </p:nvSpPr>
        <p:spPr>
          <a:xfrm>
            <a:off x="5528667" y="2286000"/>
            <a:ext cx="2152650" cy="381000"/>
          </a:xfrm>
          <a:prstGeom prst="rect">
            <a:avLst/>
          </a:prstGeom>
          <a:noFill/>
        </p:spPr>
        <p:txBody>
          <a:bodyPr wrap="square" lIns="0" tIns="0" rIns="0" bIns="0" rtlCol="0" anchor="ctr"/>
          <a:lstStyle/>
          <a:p>
            <a:pPr algn="ctr">
              <a:lnSpc>
                <a:spcPct val="100000"/>
              </a:lnSpc>
            </a:pPr>
            <a:r>
              <a:rPr lang="en-US" sz="1200" dirty="0">
                <a:solidFill>
                  <a:srgbClr val="808080"/>
                </a:solidFill>
                <a:latin typeface="MiSans" pitchFamily="34" charset="-122"/>
                <a:ea typeface="MiSans" pitchFamily="34" charset="-122"/>
                <a:cs typeface="MiSans" pitchFamily="34" charset="-120"/>
              </a:rPr>
              <a:t>PyPI在2022年</a:t>
            </a:r>
            <a:endParaRPr lang="en-US" sz="1600" dirty="0"/>
          </a:p>
          <a:p>
            <a:pPr algn="ctr">
              <a:lnSpc>
                <a:spcPct val="100000"/>
              </a:lnSpc>
            </a:pPr>
            <a:r>
              <a:rPr lang="en-US" sz="1200" dirty="0">
                <a:solidFill>
                  <a:srgbClr val="808080"/>
                </a:solidFill>
                <a:latin typeface="MiSans" pitchFamily="34" charset="-122"/>
                <a:ea typeface="MiSans" pitchFamily="34" charset="-122"/>
                <a:cs typeface="MiSans" pitchFamily="34" charset="-120"/>
              </a:rPr>
              <a:t>移除的恶意包数量</a:t>
            </a:r>
            <a:endParaRPr lang="en-US" sz="1600" dirty="0"/>
          </a:p>
        </p:txBody>
      </p:sp>
      <p:sp>
        <p:nvSpPr>
          <p:cNvPr id="20" name="Shape 16"/>
          <p:cNvSpPr/>
          <p:nvPr/>
        </p:nvSpPr>
        <p:spPr>
          <a:xfrm>
            <a:off x="400050" y="3124200"/>
            <a:ext cx="3686175" cy="3352800"/>
          </a:xfrm>
          <a:custGeom>
            <a:avLst/>
            <a:gdLst/>
            <a:ahLst/>
            <a:cxnLst/>
            <a:rect l="l" t="t" r="r" b="b"/>
            <a:pathLst>
              <a:path w="3686175" h="3352800">
                <a:moveTo>
                  <a:pt x="38100" y="0"/>
                </a:moveTo>
                <a:lnTo>
                  <a:pt x="3609966" y="0"/>
                </a:lnTo>
                <a:cubicBezTo>
                  <a:pt x="3652055" y="0"/>
                  <a:pt x="3686175" y="34120"/>
                  <a:pt x="3686175" y="76209"/>
                </a:cubicBezTo>
                <a:lnTo>
                  <a:pt x="3686175" y="3276591"/>
                </a:lnTo>
                <a:cubicBezTo>
                  <a:pt x="3686175" y="3318680"/>
                  <a:pt x="3652055" y="3352800"/>
                  <a:pt x="3609966" y="3352800"/>
                </a:cubicBezTo>
                <a:lnTo>
                  <a:pt x="38100" y="3352800"/>
                </a:lnTo>
                <a:cubicBezTo>
                  <a:pt x="17058" y="3352800"/>
                  <a:pt x="0" y="3335742"/>
                  <a:pt x="0" y="3314700"/>
                </a:cubicBezTo>
                <a:lnTo>
                  <a:pt x="0" y="38100"/>
                </a:lnTo>
                <a:cubicBezTo>
                  <a:pt x="0" y="17072"/>
                  <a:pt x="17072" y="0"/>
                  <a:pt x="38100" y="0"/>
                </a:cubicBezTo>
                <a:close/>
              </a:path>
            </a:pathLst>
          </a:custGeom>
          <a:solidFill>
            <a:srgbClr val="808080">
              <a:alpha val="10196"/>
            </a:srgbClr>
          </a:solidFill>
        </p:spPr>
      </p:sp>
      <p:sp>
        <p:nvSpPr>
          <p:cNvPr id="21" name="Shape 17"/>
          <p:cNvSpPr/>
          <p:nvPr/>
        </p:nvSpPr>
        <p:spPr>
          <a:xfrm>
            <a:off x="400050" y="3124200"/>
            <a:ext cx="38100" cy="3352800"/>
          </a:xfrm>
          <a:custGeom>
            <a:avLst/>
            <a:gdLst/>
            <a:ahLst/>
            <a:cxnLst/>
            <a:rect l="l" t="t" r="r" b="b"/>
            <a:pathLst>
              <a:path w="38100" h="3352800">
                <a:moveTo>
                  <a:pt x="38100" y="0"/>
                </a:moveTo>
                <a:lnTo>
                  <a:pt x="38100" y="0"/>
                </a:lnTo>
                <a:lnTo>
                  <a:pt x="38100" y="3352800"/>
                </a:lnTo>
                <a:lnTo>
                  <a:pt x="38100" y="3352800"/>
                </a:lnTo>
                <a:cubicBezTo>
                  <a:pt x="17072" y="3352800"/>
                  <a:pt x="0" y="3335728"/>
                  <a:pt x="0" y="3314700"/>
                </a:cubicBezTo>
                <a:lnTo>
                  <a:pt x="0" y="38100"/>
                </a:lnTo>
                <a:cubicBezTo>
                  <a:pt x="0" y="17072"/>
                  <a:pt x="17072" y="0"/>
                  <a:pt x="38100" y="0"/>
                </a:cubicBezTo>
                <a:close/>
              </a:path>
            </a:pathLst>
          </a:custGeom>
          <a:solidFill>
            <a:srgbClr val="808080"/>
          </a:solidFill>
        </p:spPr>
      </p:sp>
      <p:sp>
        <p:nvSpPr>
          <p:cNvPr id="22" name="Shape 18"/>
          <p:cNvSpPr/>
          <p:nvPr/>
        </p:nvSpPr>
        <p:spPr>
          <a:xfrm>
            <a:off x="622697" y="3362325"/>
            <a:ext cx="192881" cy="171450"/>
          </a:xfrm>
          <a:custGeom>
            <a:avLst/>
            <a:gdLst/>
            <a:ahLst/>
            <a:cxnLst/>
            <a:rect l="l" t="t" r="r" b="b"/>
            <a:pathLst>
              <a:path w="192881" h="171450">
                <a:moveTo>
                  <a:pt x="96441" y="-5358"/>
                </a:moveTo>
                <a:cubicBezTo>
                  <a:pt x="102368" y="-5358"/>
                  <a:pt x="107156" y="-569"/>
                  <a:pt x="107156" y="5358"/>
                </a:cubicBezTo>
                <a:lnTo>
                  <a:pt x="107156" y="11486"/>
                </a:lnTo>
                <a:cubicBezTo>
                  <a:pt x="140006" y="16174"/>
                  <a:pt x="165992" y="42159"/>
                  <a:pt x="170680" y="75009"/>
                </a:cubicBezTo>
                <a:lnTo>
                  <a:pt x="176808" y="75009"/>
                </a:lnTo>
                <a:cubicBezTo>
                  <a:pt x="182735" y="75009"/>
                  <a:pt x="187523" y="79798"/>
                  <a:pt x="187523" y="85725"/>
                </a:cubicBezTo>
                <a:cubicBezTo>
                  <a:pt x="187523" y="91652"/>
                  <a:pt x="182735" y="96441"/>
                  <a:pt x="176808" y="96441"/>
                </a:cubicBezTo>
                <a:lnTo>
                  <a:pt x="170680" y="96441"/>
                </a:lnTo>
                <a:cubicBezTo>
                  <a:pt x="165992" y="129291"/>
                  <a:pt x="140006" y="155276"/>
                  <a:pt x="107156" y="159964"/>
                </a:cubicBezTo>
                <a:lnTo>
                  <a:pt x="107156" y="166092"/>
                </a:lnTo>
                <a:cubicBezTo>
                  <a:pt x="107156" y="172019"/>
                  <a:pt x="102368" y="176808"/>
                  <a:pt x="96441" y="176808"/>
                </a:cubicBezTo>
                <a:cubicBezTo>
                  <a:pt x="90514" y="176808"/>
                  <a:pt x="85725" y="172019"/>
                  <a:pt x="85725" y="166092"/>
                </a:cubicBezTo>
                <a:lnTo>
                  <a:pt x="85725" y="159964"/>
                </a:lnTo>
                <a:cubicBezTo>
                  <a:pt x="52875" y="155276"/>
                  <a:pt x="26890" y="129291"/>
                  <a:pt x="22201" y="96441"/>
                </a:cubicBezTo>
                <a:lnTo>
                  <a:pt x="16073" y="96441"/>
                </a:lnTo>
                <a:cubicBezTo>
                  <a:pt x="10146" y="96441"/>
                  <a:pt x="5358" y="91652"/>
                  <a:pt x="5358" y="85725"/>
                </a:cubicBezTo>
                <a:cubicBezTo>
                  <a:pt x="5358" y="79798"/>
                  <a:pt x="10146" y="75009"/>
                  <a:pt x="16073" y="75009"/>
                </a:cubicBezTo>
                <a:lnTo>
                  <a:pt x="22201" y="75009"/>
                </a:lnTo>
                <a:cubicBezTo>
                  <a:pt x="26890" y="42159"/>
                  <a:pt x="52875" y="16174"/>
                  <a:pt x="85725" y="11486"/>
                </a:cubicBezTo>
                <a:lnTo>
                  <a:pt x="85725" y="5358"/>
                </a:lnTo>
                <a:cubicBezTo>
                  <a:pt x="85725" y="-569"/>
                  <a:pt x="90514" y="-5358"/>
                  <a:pt x="96441" y="-5358"/>
                </a:cubicBezTo>
                <a:close/>
                <a:moveTo>
                  <a:pt x="43934" y="96441"/>
                </a:moveTo>
                <a:cubicBezTo>
                  <a:pt x="48187" y="117437"/>
                  <a:pt x="64729" y="133979"/>
                  <a:pt x="85725" y="138232"/>
                </a:cubicBezTo>
                <a:lnTo>
                  <a:pt x="85725" y="133945"/>
                </a:lnTo>
                <a:cubicBezTo>
                  <a:pt x="85725" y="128018"/>
                  <a:pt x="90514" y="123230"/>
                  <a:pt x="96441" y="123230"/>
                </a:cubicBezTo>
                <a:cubicBezTo>
                  <a:pt x="102368" y="123230"/>
                  <a:pt x="107156" y="128018"/>
                  <a:pt x="107156" y="133945"/>
                </a:cubicBezTo>
                <a:lnTo>
                  <a:pt x="107156" y="138232"/>
                </a:lnTo>
                <a:cubicBezTo>
                  <a:pt x="128152" y="133979"/>
                  <a:pt x="144694" y="117437"/>
                  <a:pt x="148947" y="96441"/>
                </a:cubicBezTo>
                <a:lnTo>
                  <a:pt x="144661" y="96441"/>
                </a:lnTo>
                <a:cubicBezTo>
                  <a:pt x="138734" y="96441"/>
                  <a:pt x="133945" y="91652"/>
                  <a:pt x="133945" y="85725"/>
                </a:cubicBezTo>
                <a:cubicBezTo>
                  <a:pt x="133945" y="79798"/>
                  <a:pt x="138734" y="75009"/>
                  <a:pt x="144661" y="75009"/>
                </a:cubicBezTo>
                <a:lnTo>
                  <a:pt x="148947" y="75009"/>
                </a:lnTo>
                <a:cubicBezTo>
                  <a:pt x="144694" y="54013"/>
                  <a:pt x="128152" y="37471"/>
                  <a:pt x="107156" y="33218"/>
                </a:cubicBezTo>
                <a:lnTo>
                  <a:pt x="107156" y="37505"/>
                </a:lnTo>
                <a:cubicBezTo>
                  <a:pt x="107156" y="43432"/>
                  <a:pt x="102368" y="48220"/>
                  <a:pt x="96441" y="48220"/>
                </a:cubicBezTo>
                <a:cubicBezTo>
                  <a:pt x="90514" y="48220"/>
                  <a:pt x="85725" y="43432"/>
                  <a:pt x="85725" y="37505"/>
                </a:cubicBezTo>
                <a:lnTo>
                  <a:pt x="85725" y="33218"/>
                </a:lnTo>
                <a:cubicBezTo>
                  <a:pt x="64729" y="37471"/>
                  <a:pt x="48187" y="54013"/>
                  <a:pt x="43934" y="75009"/>
                </a:cubicBezTo>
                <a:lnTo>
                  <a:pt x="48220" y="75009"/>
                </a:lnTo>
                <a:cubicBezTo>
                  <a:pt x="54147" y="75009"/>
                  <a:pt x="58936" y="79798"/>
                  <a:pt x="58936" y="85725"/>
                </a:cubicBezTo>
                <a:cubicBezTo>
                  <a:pt x="58936" y="91652"/>
                  <a:pt x="54147" y="96441"/>
                  <a:pt x="48220" y="96441"/>
                </a:cubicBezTo>
                <a:lnTo>
                  <a:pt x="43934" y="96441"/>
                </a:lnTo>
                <a:close/>
                <a:moveTo>
                  <a:pt x="96441" y="69652"/>
                </a:moveTo>
                <a:cubicBezTo>
                  <a:pt x="105312" y="69652"/>
                  <a:pt x="112514" y="76854"/>
                  <a:pt x="112514" y="85725"/>
                </a:cubicBezTo>
                <a:cubicBezTo>
                  <a:pt x="112514" y="94596"/>
                  <a:pt x="105312" y="101798"/>
                  <a:pt x="96441" y="101798"/>
                </a:cubicBezTo>
                <a:cubicBezTo>
                  <a:pt x="87569" y="101798"/>
                  <a:pt x="80367" y="94596"/>
                  <a:pt x="80367" y="85725"/>
                </a:cubicBezTo>
                <a:cubicBezTo>
                  <a:pt x="80367" y="76854"/>
                  <a:pt x="87569" y="69652"/>
                  <a:pt x="96441" y="69652"/>
                </a:cubicBezTo>
                <a:close/>
              </a:path>
            </a:pathLst>
          </a:custGeom>
          <a:solidFill>
            <a:srgbClr val="808080"/>
          </a:solidFill>
        </p:spPr>
      </p:sp>
      <p:sp>
        <p:nvSpPr>
          <p:cNvPr id="23" name="Text 19"/>
          <p:cNvSpPr/>
          <p:nvPr/>
        </p:nvSpPr>
        <p:spPr>
          <a:xfrm>
            <a:off x="828675" y="3314700"/>
            <a:ext cx="3152775"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攻击重灾区</a:t>
            </a:r>
            <a:endParaRPr lang="en-US" sz="1600" dirty="0"/>
          </a:p>
        </p:txBody>
      </p:sp>
      <p:sp>
        <p:nvSpPr>
          <p:cNvPr id="24" name="Shape 20"/>
          <p:cNvSpPr/>
          <p:nvPr/>
        </p:nvSpPr>
        <p:spPr>
          <a:xfrm>
            <a:off x="609600" y="36957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A4A4A"/>
          </a:solidFill>
        </p:spPr>
      </p:sp>
      <p:sp>
        <p:nvSpPr>
          <p:cNvPr id="25" name="Text 21"/>
          <p:cNvSpPr/>
          <p:nvPr/>
        </p:nvSpPr>
        <p:spPr>
          <a:xfrm>
            <a:off x="571500" y="3695700"/>
            <a:ext cx="381000" cy="304800"/>
          </a:xfrm>
          <a:prstGeom prst="rect">
            <a:avLst/>
          </a:prstGeom>
          <a:noFill/>
        </p:spPr>
        <p:txBody>
          <a:bodyPr wrap="square" lIns="0" tIns="0" rIns="0" bIns="0" rtlCol="0" anchor="ctr"/>
          <a:lstStyle/>
          <a:p>
            <a:pPr algn="ctr">
              <a:lnSpc>
                <a:spcPct val="130000"/>
              </a:lnSpc>
            </a:pPr>
            <a:r>
              <a:rPr lang="en-US" sz="1200" b="1" dirty="0">
                <a:solidFill>
                  <a:srgbClr val="FFFFFF"/>
                </a:solidFill>
                <a:latin typeface="MiSans" pitchFamily="34" charset="-122"/>
                <a:ea typeface="MiSans" pitchFamily="34" charset="-122"/>
                <a:cs typeface="MiSans" pitchFamily="34" charset="-120"/>
              </a:rPr>
              <a:t>N</a:t>
            </a:r>
            <a:endParaRPr lang="en-US" sz="1600" dirty="0"/>
          </a:p>
        </p:txBody>
      </p:sp>
      <p:sp>
        <p:nvSpPr>
          <p:cNvPr id="26" name="Text 22"/>
          <p:cNvSpPr/>
          <p:nvPr/>
        </p:nvSpPr>
        <p:spPr>
          <a:xfrm>
            <a:off x="1028700" y="3695700"/>
            <a:ext cx="2943225"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NPM (JavaScript)</a:t>
            </a:r>
            <a:endParaRPr lang="en-US" sz="1600" dirty="0"/>
          </a:p>
        </p:txBody>
      </p:sp>
      <p:sp>
        <p:nvSpPr>
          <p:cNvPr id="27" name="Text 23"/>
          <p:cNvSpPr/>
          <p:nvPr/>
        </p:nvSpPr>
        <p:spPr>
          <a:xfrm>
            <a:off x="1028700" y="3962400"/>
            <a:ext cx="2943225" cy="41910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全球最主流的JavaScript包注册中心，恶意攻击频发</a:t>
            </a:r>
            <a:endParaRPr lang="en-US" sz="1600" dirty="0"/>
          </a:p>
        </p:txBody>
      </p:sp>
      <p:sp>
        <p:nvSpPr>
          <p:cNvPr id="28" name="Shape 24"/>
          <p:cNvSpPr/>
          <p:nvPr/>
        </p:nvSpPr>
        <p:spPr>
          <a:xfrm>
            <a:off x="609600" y="56007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A4A4A"/>
          </a:solidFill>
        </p:spPr>
      </p:sp>
      <p:sp>
        <p:nvSpPr>
          <p:cNvPr id="29" name="Text 25"/>
          <p:cNvSpPr/>
          <p:nvPr/>
        </p:nvSpPr>
        <p:spPr>
          <a:xfrm>
            <a:off x="571500" y="5600700"/>
            <a:ext cx="381000" cy="304800"/>
          </a:xfrm>
          <a:prstGeom prst="rect">
            <a:avLst/>
          </a:prstGeom>
          <a:noFill/>
        </p:spPr>
        <p:txBody>
          <a:bodyPr wrap="square" lIns="0" tIns="0" rIns="0" bIns="0" rtlCol="0" anchor="ctr"/>
          <a:lstStyle/>
          <a:p>
            <a:pPr algn="ctr">
              <a:lnSpc>
                <a:spcPct val="130000"/>
              </a:lnSpc>
            </a:pPr>
            <a:r>
              <a:rPr lang="en-US" sz="1200" b="1" dirty="0">
                <a:solidFill>
                  <a:srgbClr val="FFFFFF"/>
                </a:solidFill>
                <a:latin typeface="MiSans" pitchFamily="34" charset="-122"/>
                <a:ea typeface="MiSans" pitchFamily="34" charset="-122"/>
                <a:cs typeface="MiSans" pitchFamily="34" charset="-120"/>
              </a:rPr>
              <a:t>P</a:t>
            </a:r>
            <a:endParaRPr lang="en-US" sz="1600" dirty="0"/>
          </a:p>
        </p:txBody>
      </p:sp>
      <p:sp>
        <p:nvSpPr>
          <p:cNvPr id="30" name="Text 26"/>
          <p:cNvSpPr/>
          <p:nvPr/>
        </p:nvSpPr>
        <p:spPr>
          <a:xfrm>
            <a:off x="1028700" y="5600700"/>
            <a:ext cx="2943225"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PyPI (Python)</a:t>
            </a:r>
            <a:endParaRPr lang="en-US" sz="1600" dirty="0"/>
          </a:p>
        </p:txBody>
      </p:sp>
      <p:sp>
        <p:nvSpPr>
          <p:cNvPr id="31" name="Text 27"/>
          <p:cNvSpPr/>
          <p:nvPr/>
        </p:nvSpPr>
        <p:spPr>
          <a:xfrm>
            <a:off x="1028700" y="5867400"/>
            <a:ext cx="2943225" cy="41910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Python生态的核心仓库，已成为恶意软件攻击重灾区</a:t>
            </a:r>
            <a:endParaRPr lang="en-US" sz="1600" dirty="0"/>
          </a:p>
        </p:txBody>
      </p:sp>
      <p:sp>
        <p:nvSpPr>
          <p:cNvPr id="32" name="Shape 28"/>
          <p:cNvSpPr/>
          <p:nvPr/>
        </p:nvSpPr>
        <p:spPr>
          <a:xfrm>
            <a:off x="4260771" y="3124200"/>
            <a:ext cx="3686175" cy="3352800"/>
          </a:xfrm>
          <a:custGeom>
            <a:avLst/>
            <a:gdLst/>
            <a:ahLst/>
            <a:cxnLst/>
            <a:rect l="l" t="t" r="r" b="b"/>
            <a:pathLst>
              <a:path w="3686175" h="3352800">
                <a:moveTo>
                  <a:pt x="38100" y="0"/>
                </a:moveTo>
                <a:lnTo>
                  <a:pt x="3609966" y="0"/>
                </a:lnTo>
                <a:cubicBezTo>
                  <a:pt x="3652055" y="0"/>
                  <a:pt x="3686175" y="34120"/>
                  <a:pt x="3686175" y="76209"/>
                </a:cubicBezTo>
                <a:lnTo>
                  <a:pt x="3686175" y="3276591"/>
                </a:lnTo>
                <a:cubicBezTo>
                  <a:pt x="3686175" y="3318680"/>
                  <a:pt x="3652055" y="3352800"/>
                  <a:pt x="3609966" y="3352800"/>
                </a:cubicBezTo>
                <a:lnTo>
                  <a:pt x="38100" y="3352800"/>
                </a:lnTo>
                <a:cubicBezTo>
                  <a:pt x="17058" y="3352800"/>
                  <a:pt x="0" y="3335742"/>
                  <a:pt x="0" y="3314700"/>
                </a:cubicBezTo>
                <a:lnTo>
                  <a:pt x="0" y="38100"/>
                </a:lnTo>
                <a:cubicBezTo>
                  <a:pt x="0" y="17072"/>
                  <a:pt x="17072" y="0"/>
                  <a:pt x="38100" y="0"/>
                </a:cubicBezTo>
                <a:close/>
              </a:path>
            </a:pathLst>
          </a:custGeom>
          <a:solidFill>
            <a:srgbClr val="BDBDBD">
              <a:alpha val="20000"/>
            </a:srgbClr>
          </a:solidFill>
        </p:spPr>
      </p:sp>
      <p:sp>
        <p:nvSpPr>
          <p:cNvPr id="33" name="Shape 29"/>
          <p:cNvSpPr/>
          <p:nvPr/>
        </p:nvSpPr>
        <p:spPr>
          <a:xfrm>
            <a:off x="4260771" y="3124200"/>
            <a:ext cx="38100" cy="3352800"/>
          </a:xfrm>
          <a:custGeom>
            <a:avLst/>
            <a:gdLst/>
            <a:ahLst/>
            <a:cxnLst/>
            <a:rect l="l" t="t" r="r" b="b"/>
            <a:pathLst>
              <a:path w="38100" h="3352800">
                <a:moveTo>
                  <a:pt x="38100" y="0"/>
                </a:moveTo>
                <a:lnTo>
                  <a:pt x="38100" y="0"/>
                </a:lnTo>
                <a:lnTo>
                  <a:pt x="38100" y="3352800"/>
                </a:lnTo>
                <a:lnTo>
                  <a:pt x="38100" y="3352800"/>
                </a:lnTo>
                <a:cubicBezTo>
                  <a:pt x="17072" y="3352800"/>
                  <a:pt x="0" y="3335728"/>
                  <a:pt x="0" y="3314700"/>
                </a:cubicBezTo>
                <a:lnTo>
                  <a:pt x="0" y="38100"/>
                </a:lnTo>
                <a:cubicBezTo>
                  <a:pt x="0" y="17072"/>
                  <a:pt x="17072" y="0"/>
                  <a:pt x="38100" y="0"/>
                </a:cubicBezTo>
                <a:close/>
              </a:path>
            </a:pathLst>
          </a:custGeom>
          <a:solidFill>
            <a:srgbClr val="BDBDBD"/>
          </a:solidFill>
        </p:spPr>
      </p:sp>
      <p:sp>
        <p:nvSpPr>
          <p:cNvPr id="34" name="Shape 30"/>
          <p:cNvSpPr/>
          <p:nvPr/>
        </p:nvSpPr>
        <p:spPr>
          <a:xfrm>
            <a:off x="4483418" y="3362325"/>
            <a:ext cx="192881" cy="171450"/>
          </a:xfrm>
          <a:custGeom>
            <a:avLst/>
            <a:gdLst/>
            <a:ahLst/>
            <a:cxnLst/>
            <a:rect l="l" t="t" r="r" b="b"/>
            <a:pathLst>
              <a:path w="192881" h="171450">
                <a:moveTo>
                  <a:pt x="64294" y="32147"/>
                </a:moveTo>
                <a:cubicBezTo>
                  <a:pt x="64294" y="14399"/>
                  <a:pt x="78693" y="0"/>
                  <a:pt x="96441" y="0"/>
                </a:cubicBezTo>
                <a:cubicBezTo>
                  <a:pt x="114188" y="0"/>
                  <a:pt x="128588" y="14399"/>
                  <a:pt x="128588" y="32147"/>
                </a:cubicBezTo>
                <a:lnTo>
                  <a:pt x="128588" y="33352"/>
                </a:lnTo>
                <a:cubicBezTo>
                  <a:pt x="128588" y="38610"/>
                  <a:pt x="124335" y="42863"/>
                  <a:pt x="119077" y="42863"/>
                </a:cubicBezTo>
                <a:lnTo>
                  <a:pt x="73837" y="42863"/>
                </a:lnTo>
                <a:cubicBezTo>
                  <a:pt x="68580" y="42863"/>
                  <a:pt x="64327" y="38610"/>
                  <a:pt x="64327" y="33352"/>
                </a:cubicBezTo>
                <a:lnTo>
                  <a:pt x="64327" y="32147"/>
                </a:lnTo>
                <a:close/>
                <a:moveTo>
                  <a:pt x="180023" y="36433"/>
                </a:moveTo>
                <a:cubicBezTo>
                  <a:pt x="183572" y="41155"/>
                  <a:pt x="182601" y="47885"/>
                  <a:pt x="177879" y="51435"/>
                </a:cubicBezTo>
                <a:lnTo>
                  <a:pt x="145130" y="75980"/>
                </a:lnTo>
                <a:cubicBezTo>
                  <a:pt x="146905" y="78961"/>
                  <a:pt x="148244" y="82242"/>
                  <a:pt x="149081" y="85725"/>
                </a:cubicBezTo>
                <a:lnTo>
                  <a:pt x="182166" y="85725"/>
                </a:lnTo>
                <a:cubicBezTo>
                  <a:pt x="188093" y="85725"/>
                  <a:pt x="192881" y="90514"/>
                  <a:pt x="192881" y="96441"/>
                </a:cubicBezTo>
                <a:cubicBezTo>
                  <a:pt x="192881" y="102368"/>
                  <a:pt x="188093" y="107156"/>
                  <a:pt x="182166" y="107156"/>
                </a:cubicBezTo>
                <a:lnTo>
                  <a:pt x="150019" y="107156"/>
                </a:lnTo>
                <a:lnTo>
                  <a:pt x="150019" y="117872"/>
                </a:lnTo>
                <a:cubicBezTo>
                  <a:pt x="150019" y="118743"/>
                  <a:pt x="149985" y="119647"/>
                  <a:pt x="149952" y="120517"/>
                </a:cubicBezTo>
                <a:lnTo>
                  <a:pt x="177879" y="141446"/>
                </a:lnTo>
                <a:cubicBezTo>
                  <a:pt x="182601" y="144996"/>
                  <a:pt x="183572" y="151727"/>
                  <a:pt x="180023" y="156448"/>
                </a:cubicBezTo>
                <a:cubicBezTo>
                  <a:pt x="176473" y="161170"/>
                  <a:pt x="169742" y="162141"/>
                  <a:pt x="165021" y="158591"/>
                </a:cubicBezTo>
                <a:lnTo>
                  <a:pt x="143891" y="142752"/>
                </a:lnTo>
                <a:cubicBezTo>
                  <a:pt x="136122" y="157553"/>
                  <a:pt x="121622" y="168269"/>
                  <a:pt x="104477" y="170847"/>
                </a:cubicBezTo>
                <a:lnTo>
                  <a:pt x="104477" y="93762"/>
                </a:lnTo>
                <a:cubicBezTo>
                  <a:pt x="104477" y="89308"/>
                  <a:pt x="100894" y="85725"/>
                  <a:pt x="96441" y="85725"/>
                </a:cubicBezTo>
                <a:cubicBezTo>
                  <a:pt x="91987" y="85725"/>
                  <a:pt x="88404" y="89308"/>
                  <a:pt x="88404" y="93762"/>
                </a:cubicBezTo>
                <a:lnTo>
                  <a:pt x="88404" y="170847"/>
                </a:lnTo>
                <a:cubicBezTo>
                  <a:pt x="71259" y="168269"/>
                  <a:pt x="56759" y="157553"/>
                  <a:pt x="48990" y="142752"/>
                </a:cubicBezTo>
                <a:lnTo>
                  <a:pt x="27861" y="158591"/>
                </a:lnTo>
                <a:cubicBezTo>
                  <a:pt x="23139" y="162141"/>
                  <a:pt x="16408" y="161170"/>
                  <a:pt x="12859" y="156448"/>
                </a:cubicBezTo>
                <a:cubicBezTo>
                  <a:pt x="9309" y="151727"/>
                  <a:pt x="10280" y="144996"/>
                  <a:pt x="15002" y="141446"/>
                </a:cubicBezTo>
                <a:lnTo>
                  <a:pt x="42929" y="120517"/>
                </a:lnTo>
                <a:cubicBezTo>
                  <a:pt x="42896" y="119647"/>
                  <a:pt x="42863" y="118776"/>
                  <a:pt x="42863" y="117872"/>
                </a:cubicBezTo>
                <a:lnTo>
                  <a:pt x="42863" y="107156"/>
                </a:lnTo>
                <a:lnTo>
                  <a:pt x="10716" y="107156"/>
                </a:lnTo>
                <a:cubicBezTo>
                  <a:pt x="4789" y="107156"/>
                  <a:pt x="0" y="102368"/>
                  <a:pt x="0" y="96441"/>
                </a:cubicBezTo>
                <a:cubicBezTo>
                  <a:pt x="0" y="90514"/>
                  <a:pt x="4789" y="85725"/>
                  <a:pt x="10716" y="85725"/>
                </a:cubicBezTo>
                <a:lnTo>
                  <a:pt x="43800" y="85725"/>
                </a:lnTo>
                <a:cubicBezTo>
                  <a:pt x="44637" y="82242"/>
                  <a:pt x="45977" y="78961"/>
                  <a:pt x="47752" y="75980"/>
                </a:cubicBezTo>
                <a:lnTo>
                  <a:pt x="15002" y="51435"/>
                </a:lnTo>
                <a:cubicBezTo>
                  <a:pt x="10280" y="47885"/>
                  <a:pt x="9309" y="41155"/>
                  <a:pt x="12859" y="36433"/>
                </a:cubicBezTo>
                <a:cubicBezTo>
                  <a:pt x="16408" y="31712"/>
                  <a:pt x="23139" y="30740"/>
                  <a:pt x="27861" y="34290"/>
                </a:cubicBezTo>
                <a:lnTo>
                  <a:pt x="64294" y="61615"/>
                </a:lnTo>
                <a:cubicBezTo>
                  <a:pt x="68413" y="59907"/>
                  <a:pt x="72933" y="58936"/>
                  <a:pt x="77688" y="58936"/>
                </a:cubicBezTo>
                <a:lnTo>
                  <a:pt x="115193" y="58936"/>
                </a:lnTo>
                <a:cubicBezTo>
                  <a:pt x="119948" y="58936"/>
                  <a:pt x="124469" y="59874"/>
                  <a:pt x="128588" y="61615"/>
                </a:cubicBezTo>
                <a:lnTo>
                  <a:pt x="165021" y="34290"/>
                </a:lnTo>
                <a:cubicBezTo>
                  <a:pt x="169742" y="30740"/>
                  <a:pt x="176473" y="31712"/>
                  <a:pt x="180023" y="36433"/>
                </a:cubicBezTo>
                <a:close/>
              </a:path>
            </a:pathLst>
          </a:custGeom>
          <a:solidFill>
            <a:srgbClr val="808080"/>
          </a:solidFill>
        </p:spPr>
      </p:sp>
      <p:sp>
        <p:nvSpPr>
          <p:cNvPr id="35" name="Text 31"/>
          <p:cNvSpPr/>
          <p:nvPr/>
        </p:nvSpPr>
        <p:spPr>
          <a:xfrm>
            <a:off x="4689396" y="3314700"/>
            <a:ext cx="3152775"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典型案例</a:t>
            </a:r>
            <a:endParaRPr lang="en-US" sz="1600" dirty="0"/>
          </a:p>
        </p:txBody>
      </p:sp>
      <p:sp>
        <p:nvSpPr>
          <p:cNvPr id="36" name="Text 32"/>
          <p:cNvSpPr/>
          <p:nvPr/>
        </p:nvSpPr>
        <p:spPr>
          <a:xfrm>
            <a:off x="4470321" y="3695700"/>
            <a:ext cx="3362325"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PyTorch依赖混淆攻击 (2022)</a:t>
            </a:r>
            <a:endParaRPr lang="en-US" sz="1600" dirty="0"/>
          </a:p>
        </p:txBody>
      </p:sp>
      <p:sp>
        <p:nvSpPr>
          <p:cNvPr id="37" name="Text 33"/>
          <p:cNvSpPr/>
          <p:nvPr/>
        </p:nvSpPr>
        <p:spPr>
          <a:xfrm>
            <a:off x="4470321" y="3962400"/>
            <a:ext cx="3362325" cy="41910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攻击者向PyPI上传与PyTorch内部依赖同名的恶意包 </a:t>
            </a:r>
            <a:r>
              <a:rPr lang="en-US" sz="1050" dirty="0">
                <a:solidFill>
                  <a:srgbClr val="4A4A4A"/>
                </a:solidFill>
                <a:highlight>
                  <a:srgbClr val="4A4A4A">
                    <a:alpha val="10000"/>
                  </a:srgbClr>
                </a:highlight>
                <a:latin typeface="MiSans" pitchFamily="34" charset="-122"/>
                <a:ea typeface="MiSans" pitchFamily="34" charset="-122"/>
                <a:cs typeface="MiSans" pitchFamily="34" charset="-120"/>
              </a:rPr>
              <a:t>torchtriton</a:t>
            </a:r>
            <a:endParaRPr lang="en-US" sz="1600" dirty="0"/>
          </a:p>
        </p:txBody>
      </p:sp>
      <p:sp>
        <p:nvSpPr>
          <p:cNvPr id="38" name="Shape 34"/>
          <p:cNvSpPr/>
          <p:nvPr/>
        </p:nvSpPr>
        <p:spPr>
          <a:xfrm>
            <a:off x="4470321" y="5638800"/>
            <a:ext cx="3286125" cy="647700"/>
          </a:xfrm>
          <a:custGeom>
            <a:avLst/>
            <a:gdLst/>
            <a:ahLst/>
            <a:cxnLst/>
            <a:rect l="l" t="t" r="r" b="b"/>
            <a:pathLst>
              <a:path w="3286125" h="647700">
                <a:moveTo>
                  <a:pt x="38098" y="0"/>
                </a:moveTo>
                <a:lnTo>
                  <a:pt x="3248027" y="0"/>
                </a:lnTo>
                <a:cubicBezTo>
                  <a:pt x="3269054" y="0"/>
                  <a:pt x="3286125" y="17071"/>
                  <a:pt x="3286125" y="38098"/>
                </a:cubicBezTo>
                <a:lnTo>
                  <a:pt x="3286125" y="609602"/>
                </a:lnTo>
                <a:cubicBezTo>
                  <a:pt x="3286125" y="630643"/>
                  <a:pt x="3269068" y="647700"/>
                  <a:pt x="3248027" y="647700"/>
                </a:cubicBezTo>
                <a:lnTo>
                  <a:pt x="38098" y="647700"/>
                </a:lnTo>
                <a:cubicBezTo>
                  <a:pt x="17071" y="647700"/>
                  <a:pt x="0" y="630629"/>
                  <a:pt x="0" y="609602"/>
                </a:cubicBezTo>
                <a:lnTo>
                  <a:pt x="0" y="38098"/>
                </a:lnTo>
                <a:cubicBezTo>
                  <a:pt x="0" y="17071"/>
                  <a:pt x="17071" y="0"/>
                  <a:pt x="38098" y="0"/>
                </a:cubicBezTo>
                <a:close/>
              </a:path>
            </a:pathLst>
          </a:custGeom>
          <a:solidFill>
            <a:srgbClr val="FFFFFF"/>
          </a:solidFill>
          <a:effectLst>
            <a:outerShdw blurRad="28575" dist="9525" dir="5400000" algn="bl" rotWithShape="0">
              <a:srgbClr val="000000">
                <a:alpha val="10196"/>
              </a:srgbClr>
            </a:outerShdw>
          </a:effectLst>
        </p:spPr>
      </p:sp>
      <p:sp>
        <p:nvSpPr>
          <p:cNvPr id="39" name="Text 35"/>
          <p:cNvSpPr/>
          <p:nvPr/>
        </p:nvSpPr>
        <p:spPr>
          <a:xfrm>
            <a:off x="4470321" y="5638800"/>
            <a:ext cx="3362325" cy="647700"/>
          </a:xfrm>
          <a:prstGeom prst="rect">
            <a:avLst/>
          </a:prstGeom>
          <a:noFill/>
        </p:spPr>
        <p:txBody>
          <a:bodyPr wrap="square" lIns="114300" tIns="114300" rIns="114300" bIns="11430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攻击机制：</a:t>
            </a:r>
            <a:r>
              <a:rPr lang="en-US" sz="1200" dirty="0">
                <a:solidFill>
                  <a:srgbClr val="808080"/>
                </a:solidFill>
                <a:latin typeface="MiSans" pitchFamily="34" charset="-122"/>
                <a:ea typeface="MiSans" pitchFamily="34" charset="-122"/>
                <a:cs typeface="MiSans" pitchFamily="34" charset="-120"/>
              </a:rPr>
              <a:t> 由于PyPI默认优先级更高，用户被诱导安装恶意版本而非合法内部版本</a:t>
            </a:r>
            <a:endParaRPr lang="en-US" sz="1600" dirty="0"/>
          </a:p>
        </p:txBody>
      </p:sp>
      <p:sp>
        <p:nvSpPr>
          <p:cNvPr id="40" name="Shape 36"/>
          <p:cNvSpPr/>
          <p:nvPr/>
        </p:nvSpPr>
        <p:spPr>
          <a:xfrm>
            <a:off x="8102561" y="1219200"/>
            <a:ext cx="3705225" cy="5257800"/>
          </a:xfrm>
          <a:custGeom>
            <a:avLst/>
            <a:gdLst/>
            <a:ahLst/>
            <a:cxnLst/>
            <a:rect l="l" t="t" r="r" b="b"/>
            <a:pathLst>
              <a:path w="3705225" h="5257800">
                <a:moveTo>
                  <a:pt x="76216" y="0"/>
                </a:moveTo>
                <a:lnTo>
                  <a:pt x="3629009" y="0"/>
                </a:lnTo>
                <a:cubicBezTo>
                  <a:pt x="3671102" y="0"/>
                  <a:pt x="3705225" y="34123"/>
                  <a:pt x="3705225" y="76216"/>
                </a:cubicBezTo>
                <a:lnTo>
                  <a:pt x="3705225" y="5181584"/>
                </a:lnTo>
                <a:cubicBezTo>
                  <a:pt x="3705225" y="5223677"/>
                  <a:pt x="3671102" y="5257800"/>
                  <a:pt x="3629009" y="5257800"/>
                </a:cubicBezTo>
                <a:lnTo>
                  <a:pt x="76216" y="5257800"/>
                </a:lnTo>
                <a:cubicBezTo>
                  <a:pt x="34123" y="5257800"/>
                  <a:pt x="0" y="5223677"/>
                  <a:pt x="0" y="5181584"/>
                </a:cubicBezTo>
                <a:lnTo>
                  <a:pt x="0" y="76216"/>
                </a:lnTo>
                <a:cubicBezTo>
                  <a:pt x="0" y="34151"/>
                  <a:pt x="34151" y="0"/>
                  <a:pt x="76216" y="0"/>
                </a:cubicBezTo>
                <a:close/>
              </a:path>
            </a:pathLst>
          </a:custGeom>
          <a:gradFill flip="none" rotWithShape="1">
            <a:gsLst>
              <a:gs pos="0">
                <a:srgbClr val="4A4A4A"/>
              </a:gs>
              <a:gs pos="100000">
                <a:srgbClr val="808080"/>
              </a:gs>
            </a:gsLst>
            <a:lin ang="2700000" scaled="1"/>
          </a:gradFill>
        </p:spPr>
      </p:sp>
      <p:sp>
        <p:nvSpPr>
          <p:cNvPr id="41" name="Shape 37"/>
          <p:cNvSpPr/>
          <p:nvPr/>
        </p:nvSpPr>
        <p:spPr>
          <a:xfrm>
            <a:off x="8306158" y="1457325"/>
            <a:ext cx="192881" cy="171450"/>
          </a:xfrm>
          <a:custGeom>
            <a:avLst/>
            <a:gdLst/>
            <a:ahLst/>
            <a:cxnLst/>
            <a:rect l="l" t="t" r="r" b="b"/>
            <a:pathLst>
              <a:path w="192881" h="171450">
                <a:moveTo>
                  <a:pt x="140475" y="32147"/>
                </a:moveTo>
                <a:cubicBezTo>
                  <a:pt x="134916" y="32147"/>
                  <a:pt x="129525" y="33654"/>
                  <a:pt x="124804" y="36400"/>
                </a:cubicBezTo>
                <a:cubicBezTo>
                  <a:pt x="119513" y="31042"/>
                  <a:pt x="113351" y="26555"/>
                  <a:pt x="106553" y="23173"/>
                </a:cubicBezTo>
                <a:cubicBezTo>
                  <a:pt x="115997" y="15136"/>
                  <a:pt x="128018" y="10716"/>
                  <a:pt x="140475" y="10716"/>
                </a:cubicBezTo>
                <a:cubicBezTo>
                  <a:pt x="169407" y="10716"/>
                  <a:pt x="192881" y="34156"/>
                  <a:pt x="192881" y="63122"/>
                </a:cubicBezTo>
                <a:cubicBezTo>
                  <a:pt x="192881" y="77019"/>
                  <a:pt x="187356" y="90346"/>
                  <a:pt x="177545" y="100158"/>
                </a:cubicBezTo>
                <a:lnTo>
                  <a:pt x="153736" y="123966"/>
                </a:lnTo>
                <a:cubicBezTo>
                  <a:pt x="143924" y="133778"/>
                  <a:pt x="130597" y="139303"/>
                  <a:pt x="116700" y="139303"/>
                </a:cubicBezTo>
                <a:cubicBezTo>
                  <a:pt x="87768" y="139303"/>
                  <a:pt x="64294" y="115863"/>
                  <a:pt x="64294" y="86897"/>
                </a:cubicBezTo>
                <a:cubicBezTo>
                  <a:pt x="64294" y="86395"/>
                  <a:pt x="64294" y="85892"/>
                  <a:pt x="64327" y="85390"/>
                </a:cubicBezTo>
                <a:cubicBezTo>
                  <a:pt x="64495" y="79463"/>
                  <a:pt x="69417" y="74808"/>
                  <a:pt x="75344" y="74976"/>
                </a:cubicBezTo>
                <a:cubicBezTo>
                  <a:pt x="81271" y="75143"/>
                  <a:pt x="85926" y="80066"/>
                  <a:pt x="85758" y="85993"/>
                </a:cubicBezTo>
                <a:cubicBezTo>
                  <a:pt x="85758" y="86294"/>
                  <a:pt x="85758" y="86596"/>
                  <a:pt x="85758" y="86864"/>
                </a:cubicBezTo>
                <a:cubicBezTo>
                  <a:pt x="85758" y="103975"/>
                  <a:pt x="99622" y="117838"/>
                  <a:pt x="116733" y="117838"/>
                </a:cubicBezTo>
                <a:cubicBezTo>
                  <a:pt x="124937" y="117838"/>
                  <a:pt x="132807" y="114590"/>
                  <a:pt x="138633" y="108764"/>
                </a:cubicBezTo>
                <a:lnTo>
                  <a:pt x="162442" y="84955"/>
                </a:lnTo>
                <a:cubicBezTo>
                  <a:pt x="168235" y="79162"/>
                  <a:pt x="171517" y="71259"/>
                  <a:pt x="171517" y="63055"/>
                </a:cubicBezTo>
                <a:cubicBezTo>
                  <a:pt x="171517" y="45943"/>
                  <a:pt x="157654" y="32080"/>
                  <a:pt x="140542" y="32080"/>
                </a:cubicBezTo>
                <a:close/>
                <a:moveTo>
                  <a:pt x="92154" y="58032"/>
                </a:moveTo>
                <a:cubicBezTo>
                  <a:pt x="91518" y="57764"/>
                  <a:pt x="90882" y="57396"/>
                  <a:pt x="90313" y="56994"/>
                </a:cubicBezTo>
                <a:cubicBezTo>
                  <a:pt x="86093" y="54817"/>
                  <a:pt x="81271" y="53578"/>
                  <a:pt x="76215" y="53578"/>
                </a:cubicBezTo>
                <a:cubicBezTo>
                  <a:pt x="68011" y="53578"/>
                  <a:pt x="60141" y="56826"/>
                  <a:pt x="54315" y="62653"/>
                </a:cubicBezTo>
                <a:lnTo>
                  <a:pt x="30506" y="86462"/>
                </a:lnTo>
                <a:cubicBezTo>
                  <a:pt x="24713" y="92255"/>
                  <a:pt x="21431" y="100158"/>
                  <a:pt x="21431" y="108362"/>
                </a:cubicBezTo>
                <a:cubicBezTo>
                  <a:pt x="21431" y="125473"/>
                  <a:pt x="35295" y="139337"/>
                  <a:pt x="52406" y="139337"/>
                </a:cubicBezTo>
                <a:cubicBezTo>
                  <a:pt x="57931" y="139337"/>
                  <a:pt x="63323" y="137863"/>
                  <a:pt x="68044" y="135117"/>
                </a:cubicBezTo>
                <a:cubicBezTo>
                  <a:pt x="73335" y="140475"/>
                  <a:pt x="79497" y="144962"/>
                  <a:pt x="86328" y="148344"/>
                </a:cubicBezTo>
                <a:cubicBezTo>
                  <a:pt x="76885" y="156348"/>
                  <a:pt x="64897" y="160801"/>
                  <a:pt x="52406" y="160801"/>
                </a:cubicBezTo>
                <a:cubicBezTo>
                  <a:pt x="23474" y="160801"/>
                  <a:pt x="0" y="137361"/>
                  <a:pt x="0" y="108395"/>
                </a:cubicBezTo>
                <a:cubicBezTo>
                  <a:pt x="0" y="94498"/>
                  <a:pt x="5525" y="81171"/>
                  <a:pt x="15337" y="71359"/>
                </a:cubicBezTo>
                <a:lnTo>
                  <a:pt x="39146" y="47551"/>
                </a:lnTo>
                <a:cubicBezTo>
                  <a:pt x="48957" y="37739"/>
                  <a:pt x="62285" y="32214"/>
                  <a:pt x="76181" y="32214"/>
                </a:cubicBezTo>
                <a:cubicBezTo>
                  <a:pt x="105181" y="32214"/>
                  <a:pt x="128588" y="55855"/>
                  <a:pt x="128588" y="84754"/>
                </a:cubicBezTo>
                <a:cubicBezTo>
                  <a:pt x="128588" y="85189"/>
                  <a:pt x="128588" y="85625"/>
                  <a:pt x="128588" y="86060"/>
                </a:cubicBezTo>
                <a:cubicBezTo>
                  <a:pt x="128454" y="91987"/>
                  <a:pt x="123531" y="96642"/>
                  <a:pt x="117604" y="96508"/>
                </a:cubicBezTo>
                <a:cubicBezTo>
                  <a:pt x="111677" y="96374"/>
                  <a:pt x="107022" y="91451"/>
                  <a:pt x="107156" y="85524"/>
                </a:cubicBezTo>
                <a:cubicBezTo>
                  <a:pt x="107156" y="85256"/>
                  <a:pt x="107156" y="85022"/>
                  <a:pt x="107156" y="84754"/>
                </a:cubicBezTo>
                <a:cubicBezTo>
                  <a:pt x="107156" y="73469"/>
                  <a:pt x="101129" y="63557"/>
                  <a:pt x="92154" y="58099"/>
                </a:cubicBezTo>
                <a:close/>
              </a:path>
            </a:pathLst>
          </a:custGeom>
          <a:solidFill>
            <a:srgbClr val="FFFFFF"/>
          </a:solidFill>
        </p:spPr>
      </p:sp>
      <p:sp>
        <p:nvSpPr>
          <p:cNvPr id="42" name="Text 38"/>
          <p:cNvSpPr/>
          <p:nvPr/>
        </p:nvSpPr>
        <p:spPr>
          <a:xfrm>
            <a:off x="8512136" y="1409700"/>
            <a:ext cx="3190875" cy="266700"/>
          </a:xfrm>
          <a:prstGeom prst="rect">
            <a:avLst/>
          </a:prstGeom>
          <a:noFill/>
        </p:spPr>
        <p:txBody>
          <a:bodyPr wrap="square" lIns="0" tIns="0" rIns="0" bIns="0" rtlCol="0" anchor="ctr"/>
          <a:lstStyle/>
          <a:p>
            <a:pPr>
              <a:lnSpc>
                <a:spcPct val="130000"/>
              </a:lnSpc>
            </a:pPr>
            <a:r>
              <a:rPr lang="en-US" sz="1350" b="1" dirty="0">
                <a:solidFill>
                  <a:srgbClr val="FFFFFF"/>
                </a:solidFill>
                <a:latin typeface="MiSans" pitchFamily="34" charset="-122"/>
                <a:ea typeface="MiSans" pitchFamily="34" charset="-122"/>
                <a:cs typeface="MiSans" pitchFamily="34" charset="-120"/>
              </a:rPr>
              <a:t>威胁链条</a:t>
            </a:r>
            <a:endParaRPr lang="en-US" sz="1600" dirty="0"/>
          </a:p>
        </p:txBody>
      </p:sp>
      <p:sp>
        <p:nvSpPr>
          <p:cNvPr id="43" name="Shape 39"/>
          <p:cNvSpPr/>
          <p:nvPr/>
        </p:nvSpPr>
        <p:spPr>
          <a:xfrm>
            <a:off x="8293061" y="18669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FFFF">
              <a:alpha val="20000"/>
            </a:srgbClr>
          </a:solidFill>
        </p:spPr>
      </p:sp>
      <p:sp>
        <p:nvSpPr>
          <p:cNvPr id="44" name="Text 40"/>
          <p:cNvSpPr/>
          <p:nvPr/>
        </p:nvSpPr>
        <p:spPr>
          <a:xfrm>
            <a:off x="8415457" y="1905000"/>
            <a:ext cx="133350"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1</a:t>
            </a:r>
            <a:endParaRPr lang="en-US" sz="1600" dirty="0"/>
          </a:p>
        </p:txBody>
      </p:sp>
      <p:sp>
        <p:nvSpPr>
          <p:cNvPr id="45" name="Text 41"/>
          <p:cNvSpPr/>
          <p:nvPr/>
        </p:nvSpPr>
        <p:spPr>
          <a:xfrm>
            <a:off x="8712161" y="1828800"/>
            <a:ext cx="2362200"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开发环节</a:t>
            </a:r>
            <a:endParaRPr lang="en-US" sz="1600" dirty="0"/>
          </a:p>
        </p:txBody>
      </p:sp>
      <p:sp>
        <p:nvSpPr>
          <p:cNvPr id="46" name="Text 42"/>
          <p:cNvSpPr/>
          <p:nvPr/>
        </p:nvSpPr>
        <p:spPr>
          <a:xfrm>
            <a:off x="8712161" y="2076450"/>
            <a:ext cx="2362200" cy="209550"/>
          </a:xfrm>
          <a:prstGeom prst="rect">
            <a:avLst/>
          </a:prstGeom>
          <a:noFill/>
        </p:spPr>
        <p:txBody>
          <a:bodyPr wrap="square" lIns="0" tIns="0" rIns="0" bIns="0" rtlCol="0" anchor="ctr"/>
          <a:lstStyle/>
          <a:p>
            <a:pPr>
              <a:lnSpc>
                <a:spcPct val="110000"/>
              </a:lnSpc>
            </a:pPr>
            <a:r>
              <a:rPr lang="en-US" sz="1200" dirty="0">
                <a:solidFill>
                  <a:srgbClr val="FFFFFF">
                    <a:alpha val="80000"/>
                  </a:srgbClr>
                </a:solidFill>
                <a:latin typeface="MiSans" pitchFamily="34" charset="-122"/>
                <a:ea typeface="MiSans" pitchFamily="34" charset="-122"/>
                <a:cs typeface="MiSans" pitchFamily="34" charset="-120"/>
              </a:rPr>
              <a:t>弱凭证、协作治理薄弱、投毒攻击</a:t>
            </a:r>
            <a:endParaRPr lang="en-US" sz="1600" dirty="0"/>
          </a:p>
        </p:txBody>
      </p:sp>
      <p:sp>
        <p:nvSpPr>
          <p:cNvPr id="47" name="Shape 43"/>
          <p:cNvSpPr/>
          <p:nvPr/>
        </p:nvSpPr>
        <p:spPr>
          <a:xfrm>
            <a:off x="8293061" y="3501391"/>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FFFF">
              <a:alpha val="20000"/>
            </a:srgbClr>
          </a:solidFill>
        </p:spPr>
      </p:sp>
      <p:sp>
        <p:nvSpPr>
          <p:cNvPr id="48" name="Text 44"/>
          <p:cNvSpPr/>
          <p:nvPr/>
        </p:nvSpPr>
        <p:spPr>
          <a:xfrm>
            <a:off x="8402598" y="3539491"/>
            <a:ext cx="161925"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2</a:t>
            </a:r>
            <a:endParaRPr lang="en-US" sz="1600" dirty="0"/>
          </a:p>
        </p:txBody>
      </p:sp>
      <p:sp>
        <p:nvSpPr>
          <p:cNvPr id="49" name="Text 45"/>
          <p:cNvSpPr/>
          <p:nvPr/>
        </p:nvSpPr>
        <p:spPr>
          <a:xfrm>
            <a:off x="8712161" y="3463291"/>
            <a:ext cx="2209800"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审核环节</a:t>
            </a:r>
            <a:endParaRPr lang="en-US" sz="1600" dirty="0"/>
          </a:p>
        </p:txBody>
      </p:sp>
      <p:sp>
        <p:nvSpPr>
          <p:cNvPr id="50" name="Text 46"/>
          <p:cNvSpPr/>
          <p:nvPr/>
        </p:nvSpPr>
        <p:spPr>
          <a:xfrm>
            <a:off x="8712161" y="3710941"/>
            <a:ext cx="2209800" cy="209550"/>
          </a:xfrm>
          <a:prstGeom prst="rect">
            <a:avLst/>
          </a:prstGeom>
          <a:noFill/>
        </p:spPr>
        <p:txBody>
          <a:bodyPr wrap="square" lIns="0" tIns="0" rIns="0" bIns="0" rtlCol="0" anchor="ctr"/>
          <a:lstStyle/>
          <a:p>
            <a:pPr>
              <a:lnSpc>
                <a:spcPct val="110000"/>
              </a:lnSpc>
            </a:pPr>
            <a:r>
              <a:rPr lang="en-US" sz="1200" dirty="0">
                <a:solidFill>
                  <a:srgbClr val="FFFFFF">
                    <a:alpha val="80000"/>
                  </a:srgbClr>
                </a:solidFill>
                <a:latin typeface="MiSans" pitchFamily="34" charset="-122"/>
                <a:ea typeface="MiSans" pitchFamily="34" charset="-122"/>
                <a:cs typeface="MiSans" pitchFamily="34" charset="-120"/>
              </a:rPr>
              <a:t>审核不充分、管理员治理不可信</a:t>
            </a:r>
            <a:endParaRPr lang="en-US" sz="1600" dirty="0"/>
          </a:p>
        </p:txBody>
      </p:sp>
      <p:sp>
        <p:nvSpPr>
          <p:cNvPr id="51" name="Shape 47"/>
          <p:cNvSpPr/>
          <p:nvPr/>
        </p:nvSpPr>
        <p:spPr>
          <a:xfrm>
            <a:off x="8293061" y="513588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FFFF">
              <a:alpha val="20000"/>
            </a:srgbClr>
          </a:solidFill>
        </p:spPr>
      </p:sp>
      <p:sp>
        <p:nvSpPr>
          <p:cNvPr id="52" name="Text 48"/>
          <p:cNvSpPr/>
          <p:nvPr/>
        </p:nvSpPr>
        <p:spPr>
          <a:xfrm>
            <a:off x="8400574" y="5173980"/>
            <a:ext cx="161925"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3</a:t>
            </a:r>
            <a:endParaRPr lang="en-US" sz="1600" dirty="0"/>
          </a:p>
        </p:txBody>
      </p:sp>
      <p:sp>
        <p:nvSpPr>
          <p:cNvPr id="53" name="Text 49"/>
          <p:cNvSpPr/>
          <p:nvPr/>
        </p:nvSpPr>
        <p:spPr>
          <a:xfrm>
            <a:off x="8712161" y="5097780"/>
            <a:ext cx="2362200"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使用环节</a:t>
            </a:r>
            <a:endParaRPr lang="en-US" sz="1600" dirty="0"/>
          </a:p>
        </p:txBody>
      </p:sp>
      <p:sp>
        <p:nvSpPr>
          <p:cNvPr id="54" name="Text 50"/>
          <p:cNvSpPr/>
          <p:nvPr/>
        </p:nvSpPr>
        <p:spPr>
          <a:xfrm>
            <a:off x="8712161" y="5345430"/>
            <a:ext cx="2362200" cy="209550"/>
          </a:xfrm>
          <a:prstGeom prst="rect">
            <a:avLst/>
          </a:prstGeom>
          <a:noFill/>
        </p:spPr>
        <p:txBody>
          <a:bodyPr wrap="square" lIns="0" tIns="0" rIns="0" bIns="0" rtlCol="0" anchor="ctr"/>
          <a:lstStyle/>
          <a:p>
            <a:pPr>
              <a:lnSpc>
                <a:spcPct val="110000"/>
              </a:lnSpc>
            </a:pPr>
            <a:r>
              <a:rPr lang="en-US" sz="1200" dirty="0">
                <a:solidFill>
                  <a:srgbClr val="FFFFFF">
                    <a:alpha val="80000"/>
                  </a:srgbClr>
                </a:solidFill>
                <a:latin typeface="MiSans" pitchFamily="34" charset="-122"/>
                <a:ea typeface="MiSans" pitchFamily="34" charset="-122"/>
                <a:cs typeface="MiSans" pitchFamily="34" charset="-120"/>
              </a:rPr>
              <a:t>安全意识薄弱、自动依赖解析弱点</a:t>
            </a:r>
            <a:endParaRPr lang="en-US" sz="1600" dirty="0"/>
          </a:p>
        </p:txBody>
      </p:sp>
      <p:sp>
        <p:nvSpPr>
          <p:cNvPr id="55" name="Shape 51"/>
          <p:cNvSpPr/>
          <p:nvPr/>
        </p:nvSpPr>
        <p:spPr>
          <a:xfrm>
            <a:off x="8293061" y="5711190"/>
            <a:ext cx="3324225" cy="7620"/>
          </a:xfrm>
          <a:custGeom>
            <a:avLst/>
            <a:gdLst/>
            <a:ahLst/>
            <a:cxnLst/>
            <a:rect l="l" t="t" r="r" b="b"/>
            <a:pathLst>
              <a:path w="3324225" h="7620">
                <a:moveTo>
                  <a:pt x="0" y="0"/>
                </a:moveTo>
                <a:lnTo>
                  <a:pt x="3324225" y="0"/>
                </a:lnTo>
                <a:lnTo>
                  <a:pt x="3324225" y="7620"/>
                </a:lnTo>
                <a:lnTo>
                  <a:pt x="0" y="7620"/>
                </a:lnTo>
                <a:lnTo>
                  <a:pt x="0" y="0"/>
                </a:lnTo>
                <a:close/>
              </a:path>
            </a:pathLst>
          </a:custGeom>
          <a:solidFill>
            <a:srgbClr val="FFFFFF">
              <a:alpha val="20000"/>
            </a:srgbClr>
          </a:solidFill>
        </p:spPr>
      </p:sp>
      <p:sp>
        <p:nvSpPr>
          <p:cNvPr id="56" name="Shape 52"/>
          <p:cNvSpPr/>
          <p:nvPr/>
        </p:nvSpPr>
        <p:spPr>
          <a:xfrm>
            <a:off x="8312111" y="5890261"/>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FFFFFF">
              <a:alpha val="90196"/>
            </a:srgbClr>
          </a:solidFill>
        </p:spPr>
      </p:sp>
      <p:sp>
        <p:nvSpPr>
          <p:cNvPr id="57" name="Text 53"/>
          <p:cNvSpPr/>
          <p:nvPr/>
        </p:nvSpPr>
        <p:spPr>
          <a:xfrm>
            <a:off x="8540711" y="5867400"/>
            <a:ext cx="3152775" cy="419100"/>
          </a:xfrm>
          <a:prstGeom prst="rect">
            <a:avLst/>
          </a:prstGeom>
          <a:noFill/>
        </p:spPr>
        <p:txBody>
          <a:bodyPr wrap="square" lIns="0" tIns="0" rIns="0" bIns="0" rtlCol="0" anchor="ctr"/>
          <a:lstStyle/>
          <a:p>
            <a:pPr>
              <a:lnSpc>
                <a:spcPct val="110000"/>
              </a:lnSpc>
            </a:pPr>
            <a:r>
              <a:rPr lang="en-US" sz="1200" dirty="0">
                <a:solidFill>
                  <a:srgbClr val="FFFFFF">
                    <a:alpha val="90000"/>
                  </a:srgbClr>
                </a:solidFill>
                <a:latin typeface="MiSans" pitchFamily="34" charset="-122"/>
                <a:ea typeface="MiSans" pitchFamily="34" charset="-122"/>
                <a:cs typeface="MiSans" pitchFamily="34" charset="-120"/>
              </a:rPr>
              <a:t>恶意软件包从产生、流通到造成危害形成完整链条</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10-11-20:29:04-d3l4r40s8jdo4os5eok0.jpeg"/>
          <p:cNvPicPr>
            <a:picLocks noChangeAspect="1"/>
          </p:cNvPicPr>
          <p:nvPr/>
        </p:nvPicPr>
        <p:blipFill>
          <a:blip r:embed="rId1">
            <a:alphaModFix amt="34000"/>
          </a:blip>
          <a:srcRect t="46513" b="46513"/>
          <a:stretch>
            <a:fillRect/>
          </a:stretch>
        </p:blipFill>
        <p:spPr>
          <a:xfrm>
            <a:off x="799465" y="6010275"/>
            <a:ext cx="10638155" cy="215265"/>
          </a:xfrm>
          <a:prstGeom prst="rect">
            <a:avLst/>
          </a:prstGeom>
        </p:spPr>
      </p:pic>
      <p:pic>
        <p:nvPicPr>
          <p:cNvPr id="3" name="Image 1" descr="https://kimi-img.moonshot.cn/pub/slides/slides_tmpl/image/25-10-11-20:29:20-d3l4r80s8jdo4os5eomg.jpg"/>
          <p:cNvPicPr>
            <a:picLocks noChangeAspect="1"/>
          </p:cNvPicPr>
          <p:nvPr/>
        </p:nvPicPr>
        <p:blipFill>
          <a:blip r:embed="rId2"/>
          <a:stretch>
            <a:fillRect/>
          </a:stretch>
        </p:blipFill>
        <p:spPr>
          <a:xfrm>
            <a:off x="1270" y="0"/>
            <a:ext cx="12190730" cy="6858000"/>
          </a:xfrm>
          <a:prstGeom prst="rect">
            <a:avLst/>
          </a:prstGeom>
        </p:spPr>
      </p:pic>
      <p:sp>
        <p:nvSpPr>
          <p:cNvPr id="4" name="Text 0"/>
          <p:cNvSpPr/>
          <p:nvPr/>
        </p:nvSpPr>
        <p:spPr>
          <a:xfrm>
            <a:off x="352116" y="352116"/>
            <a:ext cx="11549389" cy="176058"/>
          </a:xfrm>
          <a:prstGeom prst="rect">
            <a:avLst/>
          </a:prstGeom>
          <a:noFill/>
        </p:spPr>
        <p:txBody>
          <a:bodyPr wrap="square" lIns="0" tIns="0" rIns="0" bIns="0" rtlCol="0" anchor="ctr"/>
          <a:lstStyle/>
          <a:p>
            <a:pPr>
              <a:lnSpc>
                <a:spcPct val="120000"/>
              </a:lnSpc>
            </a:pPr>
            <a:r>
              <a:rPr lang="en-US" sz="970" b="1" kern="0" spc="49" dirty="0">
                <a:solidFill>
                  <a:srgbClr val="808080"/>
                </a:solidFill>
                <a:latin typeface="MiSans" pitchFamily="34" charset="-122"/>
                <a:ea typeface="MiSans" pitchFamily="34" charset="-122"/>
                <a:cs typeface="MiSans" pitchFamily="34" charset="-120"/>
              </a:rPr>
              <a:t>LIMITATIONS</a:t>
            </a:r>
            <a:endParaRPr lang="en-US" sz="1600" dirty="0"/>
          </a:p>
        </p:txBody>
      </p:sp>
      <p:sp>
        <p:nvSpPr>
          <p:cNvPr id="5" name="Text 1"/>
          <p:cNvSpPr/>
          <p:nvPr/>
        </p:nvSpPr>
        <p:spPr>
          <a:xfrm>
            <a:off x="352116" y="598596"/>
            <a:ext cx="11646221" cy="352116"/>
          </a:xfrm>
          <a:prstGeom prst="rect">
            <a:avLst/>
          </a:prstGeom>
          <a:noFill/>
        </p:spPr>
        <p:txBody>
          <a:bodyPr wrap="square" lIns="0" tIns="0" rIns="0" bIns="0" rtlCol="0" anchor="ctr"/>
          <a:lstStyle/>
          <a:p>
            <a:pPr>
              <a:lnSpc>
                <a:spcPct val="90000"/>
              </a:lnSpc>
            </a:pPr>
            <a:r>
              <a:rPr lang="en-US" sz="2495" b="1" dirty="0">
                <a:solidFill>
                  <a:srgbClr val="4A4A4A"/>
                </a:solidFill>
                <a:latin typeface="MiSans" pitchFamily="34" charset="-122"/>
                <a:ea typeface="MiSans" pitchFamily="34" charset="-122"/>
                <a:cs typeface="MiSans" pitchFamily="34" charset="-120"/>
              </a:rPr>
              <a:t>现有检测方法的两大核心局限</a:t>
            </a:r>
            <a:endParaRPr lang="en-US" sz="1600" dirty="0"/>
          </a:p>
        </p:txBody>
      </p:sp>
      <p:sp>
        <p:nvSpPr>
          <p:cNvPr id="6" name="Shape 2"/>
          <p:cNvSpPr/>
          <p:nvPr/>
        </p:nvSpPr>
        <p:spPr>
          <a:xfrm>
            <a:off x="352116" y="1056347"/>
            <a:ext cx="704231" cy="35212"/>
          </a:xfrm>
          <a:custGeom>
            <a:avLst/>
            <a:gdLst/>
            <a:ahLst/>
            <a:cxnLst/>
            <a:rect l="l" t="t" r="r" b="b"/>
            <a:pathLst>
              <a:path w="704231" h="35212">
                <a:moveTo>
                  <a:pt x="0" y="0"/>
                </a:moveTo>
                <a:lnTo>
                  <a:pt x="704231" y="0"/>
                </a:lnTo>
                <a:lnTo>
                  <a:pt x="704231" y="35212"/>
                </a:lnTo>
                <a:lnTo>
                  <a:pt x="0" y="35212"/>
                </a:lnTo>
                <a:lnTo>
                  <a:pt x="0" y="0"/>
                </a:lnTo>
                <a:close/>
              </a:path>
            </a:pathLst>
          </a:custGeom>
          <a:solidFill>
            <a:srgbClr val="4A4A4A"/>
          </a:solidFill>
        </p:spPr>
      </p:sp>
      <p:sp>
        <p:nvSpPr>
          <p:cNvPr id="7" name="Shape 3"/>
          <p:cNvSpPr/>
          <p:nvPr/>
        </p:nvSpPr>
        <p:spPr>
          <a:xfrm>
            <a:off x="359158" y="1309870"/>
            <a:ext cx="5621524" cy="4406726"/>
          </a:xfrm>
          <a:custGeom>
            <a:avLst/>
            <a:gdLst/>
            <a:ahLst/>
            <a:cxnLst/>
            <a:rect l="l" t="t" r="r" b="b"/>
            <a:pathLst>
              <a:path w="5621524" h="4406726">
                <a:moveTo>
                  <a:pt x="70419" y="0"/>
                </a:moveTo>
                <a:lnTo>
                  <a:pt x="5551105" y="0"/>
                </a:lnTo>
                <a:cubicBezTo>
                  <a:pt x="5589996" y="0"/>
                  <a:pt x="5621524" y="31528"/>
                  <a:pt x="5621524" y="70419"/>
                </a:cubicBezTo>
                <a:lnTo>
                  <a:pt x="5621524" y="4336306"/>
                </a:lnTo>
                <a:cubicBezTo>
                  <a:pt x="5621524" y="4375198"/>
                  <a:pt x="5589996" y="4406726"/>
                  <a:pt x="5551105" y="4406726"/>
                </a:cubicBezTo>
                <a:lnTo>
                  <a:pt x="70419" y="4406726"/>
                </a:lnTo>
                <a:cubicBezTo>
                  <a:pt x="31528" y="4406726"/>
                  <a:pt x="0" y="4375198"/>
                  <a:pt x="0" y="4336306"/>
                </a:cubicBezTo>
                <a:lnTo>
                  <a:pt x="0" y="70419"/>
                </a:lnTo>
                <a:cubicBezTo>
                  <a:pt x="0" y="31528"/>
                  <a:pt x="31528" y="0"/>
                  <a:pt x="70419" y="0"/>
                </a:cubicBezTo>
                <a:close/>
              </a:path>
            </a:pathLst>
          </a:custGeom>
          <a:solidFill>
            <a:srgbClr val="4A4A4A">
              <a:alpha val="5098"/>
            </a:srgbClr>
          </a:solidFill>
          <a:ln w="20320">
            <a:solidFill>
              <a:srgbClr val="4A4A4A"/>
            </a:solidFill>
            <a:prstDash val="solid"/>
          </a:ln>
        </p:spPr>
      </p:sp>
      <p:sp>
        <p:nvSpPr>
          <p:cNvPr id="8" name="Shape 4"/>
          <p:cNvSpPr/>
          <p:nvPr/>
        </p:nvSpPr>
        <p:spPr>
          <a:xfrm>
            <a:off x="577469" y="1528182"/>
            <a:ext cx="563385" cy="563385"/>
          </a:xfrm>
          <a:custGeom>
            <a:avLst/>
            <a:gdLst/>
            <a:ahLst/>
            <a:cxnLst/>
            <a:rect l="l" t="t" r="r" b="b"/>
            <a:pathLst>
              <a:path w="563385" h="563385">
                <a:moveTo>
                  <a:pt x="70423" y="0"/>
                </a:moveTo>
                <a:lnTo>
                  <a:pt x="492962" y="0"/>
                </a:lnTo>
                <a:cubicBezTo>
                  <a:pt x="531855" y="0"/>
                  <a:pt x="563385" y="31529"/>
                  <a:pt x="563385" y="70423"/>
                </a:cubicBezTo>
                <a:lnTo>
                  <a:pt x="563385" y="492962"/>
                </a:lnTo>
                <a:cubicBezTo>
                  <a:pt x="563385" y="531855"/>
                  <a:pt x="531855" y="563385"/>
                  <a:pt x="492962" y="563385"/>
                </a:cubicBezTo>
                <a:lnTo>
                  <a:pt x="70423" y="563385"/>
                </a:lnTo>
                <a:cubicBezTo>
                  <a:pt x="31529" y="563385"/>
                  <a:pt x="0" y="531855"/>
                  <a:pt x="0" y="492962"/>
                </a:cubicBezTo>
                <a:lnTo>
                  <a:pt x="0" y="70423"/>
                </a:lnTo>
                <a:cubicBezTo>
                  <a:pt x="0" y="31556"/>
                  <a:pt x="31556" y="0"/>
                  <a:pt x="70423" y="0"/>
                </a:cubicBezTo>
                <a:close/>
              </a:path>
            </a:pathLst>
          </a:custGeom>
          <a:solidFill>
            <a:srgbClr val="4A4A4A"/>
          </a:solidFill>
        </p:spPr>
      </p:sp>
      <p:sp>
        <p:nvSpPr>
          <p:cNvPr id="9" name="Shape 5"/>
          <p:cNvSpPr/>
          <p:nvPr/>
        </p:nvSpPr>
        <p:spPr>
          <a:xfrm>
            <a:off x="729319" y="1677831"/>
            <a:ext cx="264087" cy="264087"/>
          </a:xfrm>
          <a:custGeom>
            <a:avLst/>
            <a:gdLst/>
            <a:ahLst/>
            <a:cxnLst/>
            <a:rect l="l" t="t" r="r" b="b"/>
            <a:pathLst>
              <a:path w="264087" h="264087">
                <a:moveTo>
                  <a:pt x="189400" y="212765"/>
                </a:moveTo>
                <a:lnTo>
                  <a:pt x="51322" y="74687"/>
                </a:lnTo>
                <a:cubicBezTo>
                  <a:pt x="39768" y="90883"/>
                  <a:pt x="33011" y="110689"/>
                  <a:pt x="33011" y="132043"/>
                </a:cubicBezTo>
                <a:cubicBezTo>
                  <a:pt x="33011" y="186718"/>
                  <a:pt x="77369" y="231076"/>
                  <a:pt x="132043" y="231076"/>
                </a:cubicBezTo>
                <a:cubicBezTo>
                  <a:pt x="153449" y="231076"/>
                  <a:pt x="173255" y="224319"/>
                  <a:pt x="189400" y="212765"/>
                </a:cubicBezTo>
                <a:close/>
                <a:moveTo>
                  <a:pt x="212765" y="189400"/>
                </a:moveTo>
                <a:cubicBezTo>
                  <a:pt x="224319" y="173204"/>
                  <a:pt x="231076" y="153397"/>
                  <a:pt x="231076" y="132043"/>
                </a:cubicBezTo>
                <a:cubicBezTo>
                  <a:pt x="231076" y="77369"/>
                  <a:pt x="186718" y="33011"/>
                  <a:pt x="132043" y="33011"/>
                </a:cubicBezTo>
                <a:cubicBezTo>
                  <a:pt x="110638" y="33011"/>
                  <a:pt x="90831" y="39768"/>
                  <a:pt x="74687" y="51322"/>
                </a:cubicBezTo>
                <a:lnTo>
                  <a:pt x="212765" y="189400"/>
                </a:lnTo>
                <a:close/>
                <a:moveTo>
                  <a:pt x="0" y="132043"/>
                </a:moveTo>
                <a:cubicBezTo>
                  <a:pt x="0" y="59167"/>
                  <a:pt x="59167" y="0"/>
                  <a:pt x="132043" y="0"/>
                </a:cubicBezTo>
                <a:cubicBezTo>
                  <a:pt x="204920" y="0"/>
                  <a:pt x="264087" y="59167"/>
                  <a:pt x="264087" y="132043"/>
                </a:cubicBezTo>
                <a:cubicBezTo>
                  <a:pt x="264087" y="204920"/>
                  <a:pt x="204920" y="264087"/>
                  <a:pt x="132043" y="264087"/>
                </a:cubicBezTo>
                <a:cubicBezTo>
                  <a:pt x="59167" y="264087"/>
                  <a:pt x="0" y="204920"/>
                  <a:pt x="0" y="132043"/>
                </a:cubicBezTo>
                <a:close/>
              </a:path>
            </a:pathLst>
          </a:custGeom>
          <a:solidFill>
            <a:srgbClr val="F5F5F5"/>
          </a:solidFill>
        </p:spPr>
      </p:sp>
      <p:sp>
        <p:nvSpPr>
          <p:cNvPr id="10" name="Text 6"/>
          <p:cNvSpPr/>
          <p:nvPr/>
        </p:nvSpPr>
        <p:spPr>
          <a:xfrm>
            <a:off x="1281701" y="1563394"/>
            <a:ext cx="906697" cy="176058"/>
          </a:xfrm>
          <a:prstGeom prst="rect">
            <a:avLst/>
          </a:prstGeom>
          <a:noFill/>
        </p:spPr>
        <p:txBody>
          <a:bodyPr wrap="square" lIns="0" tIns="0" rIns="0" bIns="0" rtlCol="0" anchor="ctr"/>
          <a:lstStyle/>
          <a:p>
            <a:pPr>
              <a:lnSpc>
                <a:spcPct val="120000"/>
              </a:lnSpc>
            </a:pPr>
            <a:r>
              <a:rPr lang="en-US" sz="970" b="1" dirty="0">
                <a:solidFill>
                  <a:srgbClr val="808080"/>
                </a:solidFill>
                <a:latin typeface="MiSans" pitchFamily="34" charset="-122"/>
                <a:ea typeface="MiSans" pitchFamily="34" charset="-122"/>
                <a:cs typeface="MiSans" pitchFamily="34" charset="-120"/>
              </a:rPr>
              <a:t>LIMITATION 01</a:t>
            </a:r>
            <a:endParaRPr lang="en-US" sz="1600" dirty="0"/>
          </a:p>
        </p:txBody>
      </p:sp>
      <p:sp>
        <p:nvSpPr>
          <p:cNvPr id="11" name="Text 7"/>
          <p:cNvSpPr/>
          <p:nvPr/>
        </p:nvSpPr>
        <p:spPr>
          <a:xfrm>
            <a:off x="1281701" y="1774663"/>
            <a:ext cx="950712" cy="281692"/>
          </a:xfrm>
          <a:prstGeom prst="rect">
            <a:avLst/>
          </a:prstGeom>
          <a:noFill/>
        </p:spPr>
        <p:txBody>
          <a:bodyPr wrap="square" lIns="0" tIns="0" rIns="0" bIns="0" rtlCol="0" anchor="ctr"/>
          <a:lstStyle/>
          <a:p>
            <a:pPr>
              <a:lnSpc>
                <a:spcPct val="110000"/>
              </a:lnSpc>
            </a:pPr>
            <a:r>
              <a:rPr lang="en-US" sz="1665" b="1" dirty="0">
                <a:solidFill>
                  <a:srgbClr val="4A4A4A"/>
                </a:solidFill>
                <a:latin typeface="MiSans" pitchFamily="34" charset="-122"/>
                <a:ea typeface="MiSans" pitchFamily="34" charset="-122"/>
                <a:cs typeface="MiSans" pitchFamily="34" charset="-120"/>
              </a:rPr>
              <a:t>知识隔离</a:t>
            </a:r>
            <a:endParaRPr lang="en-US" sz="1600" dirty="0"/>
          </a:p>
        </p:txBody>
      </p:sp>
      <p:sp>
        <p:nvSpPr>
          <p:cNvPr id="12" name="Shape 8"/>
          <p:cNvSpPr/>
          <p:nvPr/>
        </p:nvSpPr>
        <p:spPr>
          <a:xfrm>
            <a:off x="577469" y="2267625"/>
            <a:ext cx="5184901" cy="1021135"/>
          </a:xfrm>
          <a:custGeom>
            <a:avLst/>
            <a:gdLst/>
            <a:ahLst/>
            <a:cxnLst/>
            <a:rect l="l" t="t" r="r" b="b"/>
            <a:pathLst>
              <a:path w="5184901" h="1021135">
                <a:moveTo>
                  <a:pt x="70428" y="0"/>
                </a:moveTo>
                <a:lnTo>
                  <a:pt x="5114473" y="0"/>
                </a:lnTo>
                <a:cubicBezTo>
                  <a:pt x="5153370" y="0"/>
                  <a:pt x="5184901" y="31532"/>
                  <a:pt x="5184901" y="70428"/>
                </a:cubicBezTo>
                <a:lnTo>
                  <a:pt x="5184901" y="950707"/>
                </a:lnTo>
                <a:cubicBezTo>
                  <a:pt x="5184901" y="989603"/>
                  <a:pt x="5153370" y="1021135"/>
                  <a:pt x="5114473" y="1021135"/>
                </a:cubicBezTo>
                <a:lnTo>
                  <a:pt x="70428" y="1021135"/>
                </a:lnTo>
                <a:cubicBezTo>
                  <a:pt x="31532" y="1021135"/>
                  <a:pt x="0" y="989603"/>
                  <a:pt x="0" y="950707"/>
                </a:cubicBezTo>
                <a:lnTo>
                  <a:pt x="0" y="70428"/>
                </a:lnTo>
                <a:cubicBezTo>
                  <a:pt x="0" y="31532"/>
                  <a:pt x="31532" y="0"/>
                  <a:pt x="70428" y="0"/>
                </a:cubicBezTo>
                <a:close/>
              </a:path>
            </a:pathLst>
          </a:custGeom>
          <a:solidFill>
            <a:srgbClr val="FFFFFF"/>
          </a:solidFill>
          <a:effectLst>
            <a:outerShdw blurRad="26409" dist="8803" dir="5400000" algn="bl" rotWithShape="0">
              <a:srgbClr val="000000">
                <a:alpha val="10196"/>
              </a:srgbClr>
            </a:outerShdw>
          </a:effectLst>
        </p:spPr>
      </p:sp>
      <p:sp>
        <p:nvSpPr>
          <p:cNvPr id="13" name="Shape 9"/>
          <p:cNvSpPr/>
          <p:nvPr/>
        </p:nvSpPr>
        <p:spPr>
          <a:xfrm>
            <a:off x="735921" y="2443683"/>
            <a:ext cx="140846" cy="140846"/>
          </a:xfrm>
          <a:custGeom>
            <a:avLst/>
            <a:gdLst/>
            <a:ahLst/>
            <a:cxnLst/>
            <a:rect l="l" t="t" r="r" b="b"/>
            <a:pathLst>
              <a:path w="140846" h="140846">
                <a:moveTo>
                  <a:pt x="70423" y="140846"/>
                </a:moveTo>
                <a:cubicBezTo>
                  <a:pt x="109291" y="140846"/>
                  <a:pt x="140846" y="109291"/>
                  <a:pt x="140846" y="70423"/>
                </a:cubicBezTo>
                <a:cubicBezTo>
                  <a:pt x="140846" y="31556"/>
                  <a:pt x="109291" y="0"/>
                  <a:pt x="70423" y="0"/>
                </a:cubicBezTo>
                <a:cubicBezTo>
                  <a:pt x="31556" y="0"/>
                  <a:pt x="0" y="31556"/>
                  <a:pt x="0" y="70423"/>
                </a:cubicBezTo>
                <a:cubicBezTo>
                  <a:pt x="0" y="109291"/>
                  <a:pt x="31556" y="140846"/>
                  <a:pt x="70423" y="140846"/>
                </a:cubicBezTo>
                <a:close/>
                <a:moveTo>
                  <a:pt x="61620" y="44014"/>
                </a:moveTo>
                <a:cubicBezTo>
                  <a:pt x="61620" y="39156"/>
                  <a:pt x="65565" y="35212"/>
                  <a:pt x="70423" y="35212"/>
                </a:cubicBezTo>
                <a:cubicBezTo>
                  <a:pt x="75282" y="35212"/>
                  <a:pt x="79226" y="39156"/>
                  <a:pt x="79226" y="44014"/>
                </a:cubicBezTo>
                <a:cubicBezTo>
                  <a:pt x="79226" y="48873"/>
                  <a:pt x="75282" y="52817"/>
                  <a:pt x="70423" y="52817"/>
                </a:cubicBezTo>
                <a:cubicBezTo>
                  <a:pt x="65565" y="52817"/>
                  <a:pt x="61620" y="48873"/>
                  <a:pt x="61620" y="44014"/>
                </a:cubicBezTo>
                <a:close/>
                <a:moveTo>
                  <a:pt x="59419" y="61620"/>
                </a:moveTo>
                <a:lnTo>
                  <a:pt x="72624" y="61620"/>
                </a:lnTo>
                <a:cubicBezTo>
                  <a:pt x="76283" y="61620"/>
                  <a:pt x="79226" y="64564"/>
                  <a:pt x="79226" y="68222"/>
                </a:cubicBezTo>
                <a:lnTo>
                  <a:pt x="79226" y="92430"/>
                </a:lnTo>
                <a:lnTo>
                  <a:pt x="81427" y="92430"/>
                </a:lnTo>
                <a:cubicBezTo>
                  <a:pt x="85085" y="92430"/>
                  <a:pt x="88029" y="95374"/>
                  <a:pt x="88029" y="99032"/>
                </a:cubicBezTo>
                <a:cubicBezTo>
                  <a:pt x="88029" y="102691"/>
                  <a:pt x="85085" y="105635"/>
                  <a:pt x="81427" y="105635"/>
                </a:cubicBezTo>
                <a:lnTo>
                  <a:pt x="59419" y="105635"/>
                </a:lnTo>
                <a:cubicBezTo>
                  <a:pt x="55761" y="105635"/>
                  <a:pt x="52817" y="102691"/>
                  <a:pt x="52817" y="99032"/>
                </a:cubicBezTo>
                <a:cubicBezTo>
                  <a:pt x="52817" y="95374"/>
                  <a:pt x="55761" y="92430"/>
                  <a:pt x="59419" y="92430"/>
                </a:cubicBezTo>
                <a:lnTo>
                  <a:pt x="66022" y="92430"/>
                </a:lnTo>
                <a:lnTo>
                  <a:pt x="66022" y="74825"/>
                </a:lnTo>
                <a:lnTo>
                  <a:pt x="59419" y="74825"/>
                </a:lnTo>
                <a:cubicBezTo>
                  <a:pt x="55761" y="74825"/>
                  <a:pt x="52817" y="71881"/>
                  <a:pt x="52817" y="68222"/>
                </a:cubicBezTo>
                <a:cubicBezTo>
                  <a:pt x="52817" y="64564"/>
                  <a:pt x="55761" y="61620"/>
                  <a:pt x="59419" y="61620"/>
                </a:cubicBezTo>
                <a:close/>
              </a:path>
            </a:pathLst>
          </a:custGeom>
          <a:solidFill>
            <a:srgbClr val="4A4A4A"/>
          </a:solidFill>
        </p:spPr>
      </p:sp>
      <p:sp>
        <p:nvSpPr>
          <p:cNvPr id="14" name="Text 10"/>
          <p:cNvSpPr/>
          <p:nvPr/>
        </p:nvSpPr>
        <p:spPr>
          <a:xfrm>
            <a:off x="894373" y="2408471"/>
            <a:ext cx="4797574" cy="211269"/>
          </a:xfrm>
          <a:prstGeom prst="rect">
            <a:avLst/>
          </a:prstGeom>
          <a:noFill/>
        </p:spPr>
        <p:txBody>
          <a:bodyPr wrap="square" lIns="0" tIns="0" rIns="0" bIns="0" rtlCol="0" anchor="ctr"/>
          <a:lstStyle/>
          <a:p>
            <a:pPr>
              <a:lnSpc>
                <a:spcPct val="130000"/>
              </a:lnSpc>
            </a:pPr>
            <a:r>
              <a:rPr lang="en-US" sz="1110" b="1" dirty="0">
                <a:solidFill>
                  <a:srgbClr val="4A4A4A"/>
                </a:solidFill>
                <a:latin typeface="MiSans" pitchFamily="34" charset="-122"/>
                <a:ea typeface="MiSans" pitchFamily="34" charset="-122"/>
                <a:cs typeface="MiSans" pitchFamily="34" charset="-120"/>
              </a:rPr>
              <a:t>具体说明</a:t>
            </a:r>
            <a:endParaRPr lang="en-US" sz="1600" dirty="0"/>
          </a:p>
        </p:txBody>
      </p:sp>
      <p:sp>
        <p:nvSpPr>
          <p:cNvPr id="15" name="Text 11"/>
          <p:cNvSpPr/>
          <p:nvPr/>
        </p:nvSpPr>
        <p:spPr>
          <a:xfrm>
            <a:off x="718316" y="2690163"/>
            <a:ext cx="4973632" cy="457750"/>
          </a:xfrm>
          <a:prstGeom prst="rect">
            <a:avLst/>
          </a:prstGeom>
          <a:noFill/>
        </p:spPr>
        <p:txBody>
          <a:bodyPr wrap="square" lIns="0" tIns="0" rIns="0" bIns="0" rtlCol="0" anchor="ctr"/>
          <a:lstStyle/>
          <a:p>
            <a:pPr>
              <a:lnSpc>
                <a:spcPct val="140000"/>
              </a:lnSpc>
            </a:pPr>
            <a:r>
              <a:rPr lang="en-US" sz="1110" dirty="0">
                <a:solidFill>
                  <a:srgbClr val="808080"/>
                </a:solidFill>
                <a:latin typeface="MiSans" pitchFamily="34" charset="-122"/>
                <a:ea typeface="MiSans" pitchFamily="34" charset="-122"/>
                <a:cs typeface="MiSans" pitchFamily="34" charset="-120"/>
              </a:rPr>
              <a:t>现有检测器通常</a:t>
            </a:r>
            <a:r>
              <a:rPr lang="en-US" sz="1110" b="1" dirty="0">
                <a:solidFill>
                  <a:srgbClr val="4A4A4A"/>
                </a:solidFill>
                <a:latin typeface="MiSans" pitchFamily="34" charset="-122"/>
                <a:ea typeface="MiSans" pitchFamily="34" charset="-122"/>
                <a:cs typeface="MiSans" pitchFamily="34" charset="-120"/>
              </a:rPr>
              <a:t>只为单一生态系统</a:t>
            </a:r>
            <a:r>
              <a:rPr lang="en-US" sz="1110" dirty="0">
                <a:solidFill>
                  <a:srgbClr val="808080"/>
                </a:solidFill>
                <a:latin typeface="MiSans" pitchFamily="34" charset="-122"/>
                <a:ea typeface="MiSans" pitchFamily="34" charset="-122"/>
                <a:cs typeface="MiSans" pitchFamily="34" charset="-120"/>
              </a:rPr>
              <a:t>（如仅针对NPM或仅针对PyPI）设计和训练。每个生态系统独立开发检测模型，无法共享跨生态的恶意知识。</a:t>
            </a:r>
            <a:endParaRPr lang="en-US" sz="1600" dirty="0"/>
          </a:p>
        </p:txBody>
      </p:sp>
      <p:sp>
        <p:nvSpPr>
          <p:cNvPr id="16" name="Shape 12"/>
          <p:cNvSpPr/>
          <p:nvPr/>
        </p:nvSpPr>
        <p:spPr>
          <a:xfrm>
            <a:off x="577469" y="3429606"/>
            <a:ext cx="5184901" cy="1250010"/>
          </a:xfrm>
          <a:custGeom>
            <a:avLst/>
            <a:gdLst/>
            <a:ahLst/>
            <a:cxnLst/>
            <a:rect l="l" t="t" r="r" b="b"/>
            <a:pathLst>
              <a:path w="5184901" h="1250010">
                <a:moveTo>
                  <a:pt x="70426" y="0"/>
                </a:moveTo>
                <a:lnTo>
                  <a:pt x="5114476" y="0"/>
                </a:lnTo>
                <a:cubicBezTo>
                  <a:pt x="5153370" y="0"/>
                  <a:pt x="5184901" y="31531"/>
                  <a:pt x="5184901" y="70426"/>
                </a:cubicBezTo>
                <a:lnTo>
                  <a:pt x="5184901" y="1179585"/>
                </a:lnTo>
                <a:cubicBezTo>
                  <a:pt x="5184901" y="1218480"/>
                  <a:pt x="5153370" y="1250010"/>
                  <a:pt x="5114476" y="1250010"/>
                </a:cubicBezTo>
                <a:lnTo>
                  <a:pt x="70426" y="1250010"/>
                </a:lnTo>
                <a:cubicBezTo>
                  <a:pt x="31531" y="1250010"/>
                  <a:pt x="0" y="1218480"/>
                  <a:pt x="0" y="1179585"/>
                </a:cubicBezTo>
                <a:lnTo>
                  <a:pt x="0" y="70426"/>
                </a:lnTo>
                <a:cubicBezTo>
                  <a:pt x="0" y="31531"/>
                  <a:pt x="31531" y="0"/>
                  <a:pt x="70426" y="0"/>
                </a:cubicBezTo>
                <a:close/>
              </a:path>
            </a:pathLst>
          </a:custGeom>
          <a:solidFill>
            <a:srgbClr val="FFFFFF"/>
          </a:solidFill>
          <a:effectLst>
            <a:outerShdw blurRad="26409" dist="8803" dir="5400000" algn="bl" rotWithShape="0">
              <a:srgbClr val="000000">
                <a:alpha val="10196"/>
              </a:srgbClr>
            </a:outerShdw>
          </a:effectLst>
        </p:spPr>
      </p:sp>
      <p:sp>
        <p:nvSpPr>
          <p:cNvPr id="17" name="Shape 13"/>
          <p:cNvSpPr/>
          <p:nvPr/>
        </p:nvSpPr>
        <p:spPr>
          <a:xfrm>
            <a:off x="735921" y="3605664"/>
            <a:ext cx="140846" cy="140846"/>
          </a:xfrm>
          <a:custGeom>
            <a:avLst/>
            <a:gdLst/>
            <a:ahLst/>
            <a:cxnLst/>
            <a:rect l="l" t="t" r="r" b="b"/>
            <a:pathLst>
              <a:path w="140846" h="140846">
                <a:moveTo>
                  <a:pt x="70423" y="140846"/>
                </a:moveTo>
                <a:cubicBezTo>
                  <a:pt x="109291" y="140846"/>
                  <a:pt x="140846" y="109291"/>
                  <a:pt x="140846" y="70423"/>
                </a:cubicBezTo>
                <a:cubicBezTo>
                  <a:pt x="140846" y="31556"/>
                  <a:pt x="109291" y="0"/>
                  <a:pt x="70423" y="0"/>
                </a:cubicBezTo>
                <a:cubicBezTo>
                  <a:pt x="31556" y="0"/>
                  <a:pt x="0" y="31556"/>
                  <a:pt x="0" y="70423"/>
                </a:cubicBezTo>
                <a:cubicBezTo>
                  <a:pt x="0" y="109291"/>
                  <a:pt x="31556" y="140846"/>
                  <a:pt x="70423" y="140846"/>
                </a:cubicBezTo>
                <a:close/>
                <a:moveTo>
                  <a:pt x="70423" y="37412"/>
                </a:moveTo>
                <a:cubicBezTo>
                  <a:pt x="74082" y="37412"/>
                  <a:pt x="77025" y="40356"/>
                  <a:pt x="77025" y="44014"/>
                </a:cubicBezTo>
                <a:lnTo>
                  <a:pt x="77025" y="74825"/>
                </a:lnTo>
                <a:cubicBezTo>
                  <a:pt x="77025" y="78483"/>
                  <a:pt x="74082" y="81427"/>
                  <a:pt x="70423" y="81427"/>
                </a:cubicBezTo>
                <a:cubicBezTo>
                  <a:pt x="66764" y="81427"/>
                  <a:pt x="63821" y="78483"/>
                  <a:pt x="63821" y="74825"/>
                </a:cubicBezTo>
                <a:lnTo>
                  <a:pt x="63821" y="44014"/>
                </a:lnTo>
                <a:cubicBezTo>
                  <a:pt x="63821" y="40356"/>
                  <a:pt x="66764" y="37412"/>
                  <a:pt x="70423" y="37412"/>
                </a:cubicBezTo>
                <a:close/>
                <a:moveTo>
                  <a:pt x="63078" y="96832"/>
                </a:moveTo>
                <a:cubicBezTo>
                  <a:pt x="62911" y="94105"/>
                  <a:pt x="64271" y="91512"/>
                  <a:pt x="66608" y="90098"/>
                </a:cubicBezTo>
                <a:cubicBezTo>
                  <a:pt x="68945" y="88684"/>
                  <a:pt x="71874" y="88684"/>
                  <a:pt x="74211" y="90098"/>
                </a:cubicBezTo>
                <a:cubicBezTo>
                  <a:pt x="76548" y="91512"/>
                  <a:pt x="77908" y="94105"/>
                  <a:pt x="77741" y="96832"/>
                </a:cubicBezTo>
                <a:cubicBezTo>
                  <a:pt x="77908" y="99558"/>
                  <a:pt x="76548" y="102152"/>
                  <a:pt x="74211" y="103566"/>
                </a:cubicBezTo>
                <a:cubicBezTo>
                  <a:pt x="71874" y="104979"/>
                  <a:pt x="68945" y="104979"/>
                  <a:pt x="66608" y="103566"/>
                </a:cubicBezTo>
                <a:cubicBezTo>
                  <a:pt x="64271" y="102152"/>
                  <a:pt x="62911" y="99558"/>
                  <a:pt x="63078" y="96832"/>
                </a:cubicBezTo>
                <a:close/>
              </a:path>
            </a:pathLst>
          </a:custGeom>
          <a:solidFill>
            <a:srgbClr val="4A4A4A"/>
          </a:solidFill>
        </p:spPr>
      </p:sp>
      <p:sp>
        <p:nvSpPr>
          <p:cNvPr id="18" name="Text 14"/>
          <p:cNvSpPr/>
          <p:nvPr/>
        </p:nvSpPr>
        <p:spPr>
          <a:xfrm>
            <a:off x="894373" y="3570452"/>
            <a:ext cx="4797574" cy="211269"/>
          </a:xfrm>
          <a:prstGeom prst="rect">
            <a:avLst/>
          </a:prstGeom>
          <a:noFill/>
        </p:spPr>
        <p:txBody>
          <a:bodyPr wrap="square" lIns="0" tIns="0" rIns="0" bIns="0" rtlCol="0" anchor="ctr"/>
          <a:lstStyle/>
          <a:p>
            <a:pPr>
              <a:lnSpc>
                <a:spcPct val="130000"/>
              </a:lnSpc>
            </a:pPr>
            <a:r>
              <a:rPr lang="en-US" sz="1110" b="1" dirty="0">
                <a:solidFill>
                  <a:srgbClr val="4A4A4A"/>
                </a:solidFill>
                <a:latin typeface="MiSans" pitchFamily="34" charset="-122"/>
                <a:ea typeface="MiSans" pitchFamily="34" charset="-122"/>
                <a:cs typeface="MiSans" pitchFamily="34" charset="-120"/>
              </a:rPr>
              <a:t>导致后果</a:t>
            </a:r>
            <a:endParaRPr lang="en-US" sz="1600" dirty="0"/>
          </a:p>
        </p:txBody>
      </p:sp>
      <p:sp>
        <p:nvSpPr>
          <p:cNvPr id="19" name="Text 15"/>
          <p:cNvSpPr/>
          <p:nvPr/>
        </p:nvSpPr>
        <p:spPr>
          <a:xfrm>
            <a:off x="718316" y="3852145"/>
            <a:ext cx="4973632" cy="686625"/>
          </a:xfrm>
          <a:prstGeom prst="rect">
            <a:avLst/>
          </a:prstGeom>
          <a:noFill/>
        </p:spPr>
        <p:txBody>
          <a:bodyPr wrap="square" lIns="0" tIns="0" rIns="0" bIns="0" rtlCol="0" anchor="ctr"/>
          <a:lstStyle/>
          <a:p>
            <a:pPr>
              <a:lnSpc>
                <a:spcPct val="140000"/>
              </a:lnSpc>
            </a:pPr>
            <a:r>
              <a:rPr lang="en-US" sz="1110" dirty="0">
                <a:solidFill>
                  <a:srgbClr val="808080"/>
                </a:solidFill>
                <a:latin typeface="MiSans" pitchFamily="34" charset="-122"/>
                <a:ea typeface="MiSans" pitchFamily="34" charset="-122"/>
                <a:cs typeface="MiSans" pitchFamily="34" charset="-120"/>
              </a:rPr>
              <a:t>无法利用在一个生态（如NPM）中新发现的恶意软件知识，来检测另一个生态（如PyPI）中的新型恶意软件，</a:t>
            </a:r>
            <a:r>
              <a:rPr lang="en-US" sz="1110" b="1" dirty="0">
                <a:solidFill>
                  <a:srgbClr val="4A4A4A"/>
                </a:solidFill>
                <a:latin typeface="MiSans" pitchFamily="34" charset="-122"/>
                <a:ea typeface="MiSans" pitchFamily="34" charset="-122"/>
                <a:cs typeface="MiSans" pitchFamily="34" charset="-120"/>
              </a:rPr>
              <a:t>无法实现跨生态知识融合</a:t>
            </a:r>
            <a:r>
              <a:rPr lang="en-US" sz="1110" dirty="0">
                <a:solidFill>
                  <a:srgbClr val="808080"/>
                </a:solidFill>
                <a:latin typeface="MiSans" pitchFamily="34" charset="-122"/>
                <a:ea typeface="MiSans" pitchFamily="34" charset="-122"/>
                <a:cs typeface="MiSans" pitchFamily="34" charset="-120"/>
              </a:rPr>
              <a:t>，造成检测能力的割裂。</a:t>
            </a:r>
            <a:endParaRPr lang="en-US" sz="1600" dirty="0"/>
          </a:p>
        </p:txBody>
      </p:sp>
      <p:sp>
        <p:nvSpPr>
          <p:cNvPr id="20" name="Shape 16"/>
          <p:cNvSpPr/>
          <p:nvPr/>
        </p:nvSpPr>
        <p:spPr>
          <a:xfrm>
            <a:off x="577469" y="4820462"/>
            <a:ext cx="5184901" cy="510568"/>
          </a:xfrm>
          <a:custGeom>
            <a:avLst/>
            <a:gdLst/>
            <a:ahLst/>
            <a:cxnLst/>
            <a:rect l="l" t="t" r="r" b="b"/>
            <a:pathLst>
              <a:path w="5184901" h="510568">
                <a:moveTo>
                  <a:pt x="70423" y="0"/>
                </a:moveTo>
                <a:lnTo>
                  <a:pt x="5114479" y="0"/>
                </a:lnTo>
                <a:cubicBezTo>
                  <a:pt x="5153372" y="0"/>
                  <a:pt x="5184901" y="31529"/>
                  <a:pt x="5184901" y="70423"/>
                </a:cubicBezTo>
                <a:lnTo>
                  <a:pt x="5184901" y="440145"/>
                </a:lnTo>
                <a:cubicBezTo>
                  <a:pt x="5184901" y="479038"/>
                  <a:pt x="5153372" y="510568"/>
                  <a:pt x="5114479" y="510568"/>
                </a:cubicBezTo>
                <a:lnTo>
                  <a:pt x="70423" y="510568"/>
                </a:lnTo>
                <a:cubicBezTo>
                  <a:pt x="31529" y="510568"/>
                  <a:pt x="0" y="479038"/>
                  <a:pt x="0" y="440145"/>
                </a:cubicBezTo>
                <a:lnTo>
                  <a:pt x="0" y="70423"/>
                </a:lnTo>
                <a:cubicBezTo>
                  <a:pt x="0" y="31555"/>
                  <a:pt x="31555" y="0"/>
                  <a:pt x="70423" y="0"/>
                </a:cubicBezTo>
                <a:close/>
              </a:path>
            </a:pathLst>
          </a:custGeom>
          <a:solidFill>
            <a:srgbClr val="4A4A4A">
              <a:alpha val="10196"/>
            </a:srgbClr>
          </a:solidFill>
        </p:spPr>
      </p:sp>
      <p:sp>
        <p:nvSpPr>
          <p:cNvPr id="21" name="Shape 17"/>
          <p:cNvSpPr/>
          <p:nvPr/>
        </p:nvSpPr>
        <p:spPr>
          <a:xfrm>
            <a:off x="753527" y="4996520"/>
            <a:ext cx="105635" cy="140846"/>
          </a:xfrm>
          <a:custGeom>
            <a:avLst/>
            <a:gdLst/>
            <a:ahLst/>
            <a:cxnLst/>
            <a:rect l="l" t="t" r="r" b="b"/>
            <a:pathLst>
              <a:path w="105635" h="140846">
                <a:moveTo>
                  <a:pt x="80574" y="105635"/>
                </a:moveTo>
                <a:cubicBezTo>
                  <a:pt x="82582" y="99500"/>
                  <a:pt x="86598" y="93943"/>
                  <a:pt x="91137" y="89157"/>
                </a:cubicBezTo>
                <a:cubicBezTo>
                  <a:pt x="100133" y="79694"/>
                  <a:pt x="105635" y="66902"/>
                  <a:pt x="105635" y="52817"/>
                </a:cubicBezTo>
                <a:cubicBezTo>
                  <a:pt x="105635" y="23658"/>
                  <a:pt x="81977" y="0"/>
                  <a:pt x="52817" y="0"/>
                </a:cubicBezTo>
                <a:cubicBezTo>
                  <a:pt x="23658" y="0"/>
                  <a:pt x="0" y="23658"/>
                  <a:pt x="0" y="52817"/>
                </a:cubicBezTo>
                <a:cubicBezTo>
                  <a:pt x="0" y="66902"/>
                  <a:pt x="5502" y="79694"/>
                  <a:pt x="14497" y="89157"/>
                </a:cubicBezTo>
                <a:cubicBezTo>
                  <a:pt x="19036" y="93943"/>
                  <a:pt x="23080" y="99500"/>
                  <a:pt x="25061" y="105635"/>
                </a:cubicBezTo>
                <a:lnTo>
                  <a:pt x="80546" y="105635"/>
                </a:lnTo>
                <a:close/>
                <a:moveTo>
                  <a:pt x="79226" y="118839"/>
                </a:moveTo>
                <a:lnTo>
                  <a:pt x="26409" y="118839"/>
                </a:lnTo>
                <a:lnTo>
                  <a:pt x="26409" y="123240"/>
                </a:lnTo>
                <a:cubicBezTo>
                  <a:pt x="26409" y="135399"/>
                  <a:pt x="36257" y="145248"/>
                  <a:pt x="48416" y="145248"/>
                </a:cubicBezTo>
                <a:lnTo>
                  <a:pt x="57219" y="145248"/>
                </a:lnTo>
                <a:cubicBezTo>
                  <a:pt x="69378" y="145248"/>
                  <a:pt x="79226" y="135399"/>
                  <a:pt x="79226" y="123240"/>
                </a:cubicBezTo>
                <a:lnTo>
                  <a:pt x="79226" y="118839"/>
                </a:lnTo>
                <a:close/>
                <a:moveTo>
                  <a:pt x="50617" y="30810"/>
                </a:moveTo>
                <a:cubicBezTo>
                  <a:pt x="39668" y="30810"/>
                  <a:pt x="30810" y="39668"/>
                  <a:pt x="30810" y="50617"/>
                </a:cubicBezTo>
                <a:cubicBezTo>
                  <a:pt x="30810" y="54275"/>
                  <a:pt x="27867" y="57219"/>
                  <a:pt x="24208" y="57219"/>
                </a:cubicBezTo>
                <a:cubicBezTo>
                  <a:pt x="20549" y="57219"/>
                  <a:pt x="17606" y="54275"/>
                  <a:pt x="17606" y="50617"/>
                </a:cubicBezTo>
                <a:cubicBezTo>
                  <a:pt x="17606" y="32378"/>
                  <a:pt x="32378" y="17606"/>
                  <a:pt x="50617" y="17606"/>
                </a:cubicBezTo>
                <a:cubicBezTo>
                  <a:pt x="54275" y="17606"/>
                  <a:pt x="57219" y="20549"/>
                  <a:pt x="57219" y="24208"/>
                </a:cubicBezTo>
                <a:cubicBezTo>
                  <a:pt x="57219" y="27867"/>
                  <a:pt x="54275" y="30810"/>
                  <a:pt x="50617" y="30810"/>
                </a:cubicBezTo>
                <a:close/>
              </a:path>
            </a:pathLst>
          </a:custGeom>
          <a:solidFill>
            <a:srgbClr val="4A4A4A"/>
          </a:solidFill>
        </p:spPr>
      </p:sp>
      <p:sp>
        <p:nvSpPr>
          <p:cNvPr id="22" name="Text 18"/>
          <p:cNvSpPr/>
          <p:nvPr/>
        </p:nvSpPr>
        <p:spPr>
          <a:xfrm>
            <a:off x="943187" y="4961309"/>
            <a:ext cx="4748761" cy="228875"/>
          </a:xfrm>
          <a:prstGeom prst="rect">
            <a:avLst/>
          </a:prstGeom>
          <a:noFill/>
        </p:spPr>
        <p:txBody>
          <a:bodyPr wrap="square" lIns="0" tIns="0" rIns="0" bIns="0" rtlCol="0" anchor="ctr"/>
          <a:lstStyle/>
          <a:p>
            <a:pPr>
              <a:lnSpc>
                <a:spcPct val="140000"/>
              </a:lnSpc>
            </a:pPr>
            <a:r>
              <a:rPr lang="en-US" sz="1110" b="1" dirty="0">
                <a:solidFill>
                  <a:srgbClr val="4A4A4A"/>
                </a:solidFill>
                <a:latin typeface="MiSans" pitchFamily="34" charset="-122"/>
                <a:ea typeface="MiSans" pitchFamily="34" charset="-122"/>
                <a:cs typeface="MiSans" pitchFamily="34" charset="-120"/>
              </a:rPr>
              <a:t>核心问题：</a:t>
            </a:r>
            <a:r>
              <a:rPr lang="en-US" sz="1110" dirty="0">
                <a:solidFill>
                  <a:srgbClr val="4A4A4A"/>
                </a:solidFill>
                <a:latin typeface="MiSans" pitchFamily="34" charset="-122"/>
                <a:ea typeface="MiSans" pitchFamily="34" charset="-122"/>
                <a:cs typeface="MiSans" pitchFamily="34" charset="-120"/>
              </a:rPr>
              <a:t>单一生态数据有限，无法充分利用跨生态的相似攻击模式</a:t>
            </a:r>
            <a:endParaRPr lang="en-US" sz="1600" dirty="0"/>
          </a:p>
        </p:txBody>
      </p:sp>
      <p:sp>
        <p:nvSpPr>
          <p:cNvPr id="23" name="Shape 19"/>
          <p:cNvSpPr/>
          <p:nvPr/>
        </p:nvSpPr>
        <p:spPr>
          <a:xfrm>
            <a:off x="6208127" y="1309870"/>
            <a:ext cx="5621524" cy="4406726"/>
          </a:xfrm>
          <a:custGeom>
            <a:avLst/>
            <a:gdLst/>
            <a:ahLst/>
            <a:cxnLst/>
            <a:rect l="l" t="t" r="r" b="b"/>
            <a:pathLst>
              <a:path w="5621524" h="4406726">
                <a:moveTo>
                  <a:pt x="70419" y="0"/>
                </a:moveTo>
                <a:lnTo>
                  <a:pt x="5551105" y="0"/>
                </a:lnTo>
                <a:cubicBezTo>
                  <a:pt x="5589996" y="0"/>
                  <a:pt x="5621524" y="31528"/>
                  <a:pt x="5621524" y="70419"/>
                </a:cubicBezTo>
                <a:lnTo>
                  <a:pt x="5621524" y="4336306"/>
                </a:lnTo>
                <a:cubicBezTo>
                  <a:pt x="5621524" y="4375198"/>
                  <a:pt x="5589996" y="4406726"/>
                  <a:pt x="5551105" y="4406726"/>
                </a:cubicBezTo>
                <a:lnTo>
                  <a:pt x="70419" y="4406726"/>
                </a:lnTo>
                <a:cubicBezTo>
                  <a:pt x="31528" y="4406726"/>
                  <a:pt x="0" y="4375198"/>
                  <a:pt x="0" y="4336306"/>
                </a:cubicBezTo>
                <a:lnTo>
                  <a:pt x="0" y="70419"/>
                </a:lnTo>
                <a:cubicBezTo>
                  <a:pt x="0" y="31528"/>
                  <a:pt x="31528" y="0"/>
                  <a:pt x="70419" y="0"/>
                </a:cubicBezTo>
                <a:close/>
              </a:path>
            </a:pathLst>
          </a:custGeom>
          <a:solidFill>
            <a:srgbClr val="808080">
              <a:alpha val="10196"/>
            </a:srgbClr>
          </a:solidFill>
          <a:ln w="20320">
            <a:solidFill>
              <a:srgbClr val="808080"/>
            </a:solidFill>
            <a:prstDash val="solid"/>
          </a:ln>
        </p:spPr>
      </p:sp>
      <p:sp>
        <p:nvSpPr>
          <p:cNvPr id="24" name="Shape 20"/>
          <p:cNvSpPr/>
          <p:nvPr/>
        </p:nvSpPr>
        <p:spPr>
          <a:xfrm>
            <a:off x="6426439" y="1528182"/>
            <a:ext cx="563385" cy="563385"/>
          </a:xfrm>
          <a:custGeom>
            <a:avLst/>
            <a:gdLst/>
            <a:ahLst/>
            <a:cxnLst/>
            <a:rect l="l" t="t" r="r" b="b"/>
            <a:pathLst>
              <a:path w="563385" h="563385">
                <a:moveTo>
                  <a:pt x="70423" y="0"/>
                </a:moveTo>
                <a:lnTo>
                  <a:pt x="492962" y="0"/>
                </a:lnTo>
                <a:cubicBezTo>
                  <a:pt x="531855" y="0"/>
                  <a:pt x="563385" y="31529"/>
                  <a:pt x="563385" y="70423"/>
                </a:cubicBezTo>
                <a:lnTo>
                  <a:pt x="563385" y="492962"/>
                </a:lnTo>
                <a:cubicBezTo>
                  <a:pt x="563385" y="531855"/>
                  <a:pt x="531855" y="563385"/>
                  <a:pt x="492962" y="563385"/>
                </a:cubicBezTo>
                <a:lnTo>
                  <a:pt x="70423" y="563385"/>
                </a:lnTo>
                <a:cubicBezTo>
                  <a:pt x="31529" y="563385"/>
                  <a:pt x="0" y="531855"/>
                  <a:pt x="0" y="492962"/>
                </a:cubicBezTo>
                <a:lnTo>
                  <a:pt x="0" y="70423"/>
                </a:lnTo>
                <a:cubicBezTo>
                  <a:pt x="0" y="31556"/>
                  <a:pt x="31556" y="0"/>
                  <a:pt x="70423" y="0"/>
                </a:cubicBezTo>
                <a:close/>
              </a:path>
            </a:pathLst>
          </a:custGeom>
          <a:solidFill>
            <a:srgbClr val="808080"/>
          </a:solidFill>
        </p:spPr>
      </p:sp>
      <p:sp>
        <p:nvSpPr>
          <p:cNvPr id="25" name="Shape 21"/>
          <p:cNvSpPr/>
          <p:nvPr/>
        </p:nvSpPr>
        <p:spPr>
          <a:xfrm>
            <a:off x="6578289" y="1677831"/>
            <a:ext cx="264087" cy="264087"/>
          </a:xfrm>
          <a:custGeom>
            <a:avLst/>
            <a:gdLst/>
            <a:ahLst/>
            <a:cxnLst/>
            <a:rect l="l" t="t" r="r" b="b"/>
            <a:pathLst>
              <a:path w="264087" h="264087">
                <a:moveTo>
                  <a:pt x="208278" y="17743"/>
                </a:moveTo>
                <a:cubicBezTo>
                  <a:pt x="214467" y="15164"/>
                  <a:pt x="221534" y="16609"/>
                  <a:pt x="226279" y="21302"/>
                </a:cubicBezTo>
                <a:lnTo>
                  <a:pt x="259290" y="54313"/>
                </a:lnTo>
                <a:cubicBezTo>
                  <a:pt x="262385" y="57408"/>
                  <a:pt x="264138" y="61586"/>
                  <a:pt x="264138" y="65970"/>
                </a:cubicBezTo>
                <a:cubicBezTo>
                  <a:pt x="264138" y="70354"/>
                  <a:pt x="262385" y="74532"/>
                  <a:pt x="259290" y="77627"/>
                </a:cubicBezTo>
                <a:lnTo>
                  <a:pt x="226279" y="110638"/>
                </a:lnTo>
                <a:cubicBezTo>
                  <a:pt x="221534" y="115383"/>
                  <a:pt x="214467" y="116776"/>
                  <a:pt x="208278" y="114197"/>
                </a:cubicBezTo>
                <a:cubicBezTo>
                  <a:pt x="202088" y="111618"/>
                  <a:pt x="198065" y="105686"/>
                  <a:pt x="198065" y="99032"/>
                </a:cubicBezTo>
                <a:lnTo>
                  <a:pt x="198065" y="82527"/>
                </a:lnTo>
                <a:lnTo>
                  <a:pt x="181560" y="82527"/>
                </a:lnTo>
                <a:cubicBezTo>
                  <a:pt x="176350" y="82527"/>
                  <a:pt x="171450" y="84951"/>
                  <a:pt x="168355" y="89129"/>
                </a:cubicBezTo>
                <a:lnTo>
                  <a:pt x="151644" y="111412"/>
                </a:lnTo>
                <a:lnTo>
                  <a:pt x="131012" y="83920"/>
                </a:lnTo>
                <a:lnTo>
                  <a:pt x="141947" y="69323"/>
                </a:lnTo>
                <a:cubicBezTo>
                  <a:pt x="151282" y="56841"/>
                  <a:pt x="165983" y="49516"/>
                  <a:pt x="181560" y="49516"/>
                </a:cubicBezTo>
                <a:lnTo>
                  <a:pt x="198065" y="49516"/>
                </a:lnTo>
                <a:lnTo>
                  <a:pt x="198065" y="33011"/>
                </a:lnTo>
                <a:cubicBezTo>
                  <a:pt x="198065" y="26357"/>
                  <a:pt x="202088" y="20322"/>
                  <a:pt x="208278" y="17743"/>
                </a:cubicBezTo>
                <a:close/>
                <a:moveTo>
                  <a:pt x="79432" y="152675"/>
                </a:moveTo>
                <a:lnTo>
                  <a:pt x="100064" y="180167"/>
                </a:lnTo>
                <a:lnTo>
                  <a:pt x="89129" y="194764"/>
                </a:lnTo>
                <a:cubicBezTo>
                  <a:pt x="79793" y="207246"/>
                  <a:pt x="65093" y="214570"/>
                  <a:pt x="49516" y="214570"/>
                </a:cubicBezTo>
                <a:lnTo>
                  <a:pt x="16505" y="214570"/>
                </a:lnTo>
                <a:cubicBezTo>
                  <a:pt x="7376" y="214570"/>
                  <a:pt x="0" y="207195"/>
                  <a:pt x="0" y="198065"/>
                </a:cubicBezTo>
                <a:cubicBezTo>
                  <a:pt x="0" y="188935"/>
                  <a:pt x="7376" y="181560"/>
                  <a:pt x="16505" y="181560"/>
                </a:cubicBezTo>
                <a:lnTo>
                  <a:pt x="49516" y="181560"/>
                </a:lnTo>
                <a:cubicBezTo>
                  <a:pt x="54726" y="181560"/>
                  <a:pt x="59626" y="179135"/>
                  <a:pt x="62721" y="174957"/>
                </a:cubicBezTo>
                <a:lnTo>
                  <a:pt x="79432" y="152675"/>
                </a:lnTo>
                <a:close/>
                <a:moveTo>
                  <a:pt x="226227" y="242733"/>
                </a:moveTo>
                <a:cubicBezTo>
                  <a:pt x="221482" y="247478"/>
                  <a:pt x="214416" y="248871"/>
                  <a:pt x="208226" y="246292"/>
                </a:cubicBezTo>
                <a:cubicBezTo>
                  <a:pt x="202037" y="243713"/>
                  <a:pt x="198065" y="237730"/>
                  <a:pt x="198065" y="231076"/>
                </a:cubicBezTo>
                <a:lnTo>
                  <a:pt x="198065" y="214570"/>
                </a:lnTo>
                <a:lnTo>
                  <a:pt x="181560" y="214570"/>
                </a:lnTo>
                <a:cubicBezTo>
                  <a:pt x="165983" y="214570"/>
                  <a:pt x="151282" y="207246"/>
                  <a:pt x="141947" y="194764"/>
                </a:cubicBezTo>
                <a:lnTo>
                  <a:pt x="62721" y="89129"/>
                </a:lnTo>
                <a:cubicBezTo>
                  <a:pt x="59626" y="84951"/>
                  <a:pt x="54726" y="82527"/>
                  <a:pt x="49516" y="82527"/>
                </a:cubicBezTo>
                <a:lnTo>
                  <a:pt x="16505" y="82527"/>
                </a:lnTo>
                <a:cubicBezTo>
                  <a:pt x="7376" y="82527"/>
                  <a:pt x="0" y="75151"/>
                  <a:pt x="0" y="66022"/>
                </a:cubicBezTo>
                <a:cubicBezTo>
                  <a:pt x="0" y="56892"/>
                  <a:pt x="7376" y="49516"/>
                  <a:pt x="16505" y="49516"/>
                </a:cubicBezTo>
                <a:lnTo>
                  <a:pt x="49516" y="49516"/>
                </a:lnTo>
                <a:cubicBezTo>
                  <a:pt x="65093" y="49516"/>
                  <a:pt x="79793" y="56841"/>
                  <a:pt x="89129" y="69323"/>
                </a:cubicBezTo>
                <a:lnTo>
                  <a:pt x="168355" y="174957"/>
                </a:lnTo>
                <a:cubicBezTo>
                  <a:pt x="171450" y="179135"/>
                  <a:pt x="176350" y="181560"/>
                  <a:pt x="181560" y="181560"/>
                </a:cubicBezTo>
                <a:lnTo>
                  <a:pt x="198065" y="181560"/>
                </a:lnTo>
                <a:lnTo>
                  <a:pt x="198065" y="165054"/>
                </a:lnTo>
                <a:cubicBezTo>
                  <a:pt x="198065" y="158400"/>
                  <a:pt x="202088" y="152366"/>
                  <a:pt x="208278" y="149787"/>
                </a:cubicBezTo>
                <a:cubicBezTo>
                  <a:pt x="214467" y="147208"/>
                  <a:pt x="221534" y="148652"/>
                  <a:pt x="226279" y="153346"/>
                </a:cubicBezTo>
                <a:lnTo>
                  <a:pt x="259290" y="186356"/>
                </a:lnTo>
                <a:cubicBezTo>
                  <a:pt x="262385" y="189451"/>
                  <a:pt x="264138" y="193629"/>
                  <a:pt x="264138" y="198013"/>
                </a:cubicBezTo>
                <a:cubicBezTo>
                  <a:pt x="264138" y="202398"/>
                  <a:pt x="262385" y="206576"/>
                  <a:pt x="259290" y="209670"/>
                </a:cubicBezTo>
                <a:lnTo>
                  <a:pt x="226279" y="242681"/>
                </a:lnTo>
                <a:close/>
              </a:path>
            </a:pathLst>
          </a:custGeom>
          <a:solidFill>
            <a:srgbClr val="F5F5F5"/>
          </a:solidFill>
        </p:spPr>
      </p:sp>
      <p:sp>
        <p:nvSpPr>
          <p:cNvPr id="26" name="Text 22"/>
          <p:cNvSpPr/>
          <p:nvPr/>
        </p:nvSpPr>
        <p:spPr>
          <a:xfrm>
            <a:off x="7130670" y="1563394"/>
            <a:ext cx="1329236" cy="176058"/>
          </a:xfrm>
          <a:prstGeom prst="rect">
            <a:avLst/>
          </a:prstGeom>
          <a:noFill/>
        </p:spPr>
        <p:txBody>
          <a:bodyPr wrap="square" lIns="0" tIns="0" rIns="0" bIns="0" rtlCol="0" anchor="ctr"/>
          <a:lstStyle/>
          <a:p>
            <a:pPr>
              <a:lnSpc>
                <a:spcPct val="120000"/>
              </a:lnSpc>
            </a:pPr>
            <a:r>
              <a:rPr lang="en-US" sz="970" b="1" dirty="0">
                <a:solidFill>
                  <a:srgbClr val="808080"/>
                </a:solidFill>
                <a:latin typeface="MiSans" pitchFamily="34" charset="-122"/>
                <a:ea typeface="MiSans" pitchFamily="34" charset="-122"/>
                <a:cs typeface="MiSans" pitchFamily="34" charset="-120"/>
              </a:rPr>
              <a:t>LIMITATION 02</a:t>
            </a:r>
            <a:endParaRPr lang="en-US" sz="1600" dirty="0"/>
          </a:p>
        </p:txBody>
      </p:sp>
      <p:sp>
        <p:nvSpPr>
          <p:cNvPr id="27" name="Text 23"/>
          <p:cNvSpPr/>
          <p:nvPr/>
        </p:nvSpPr>
        <p:spPr>
          <a:xfrm>
            <a:off x="7130670" y="1774663"/>
            <a:ext cx="1373251" cy="281692"/>
          </a:xfrm>
          <a:prstGeom prst="rect">
            <a:avLst/>
          </a:prstGeom>
          <a:noFill/>
        </p:spPr>
        <p:txBody>
          <a:bodyPr wrap="square" lIns="0" tIns="0" rIns="0" bIns="0" rtlCol="0" anchor="ctr"/>
          <a:lstStyle/>
          <a:p>
            <a:pPr>
              <a:lnSpc>
                <a:spcPct val="110000"/>
              </a:lnSpc>
            </a:pPr>
            <a:r>
              <a:rPr lang="en-US" sz="1665" b="1" dirty="0">
                <a:solidFill>
                  <a:srgbClr val="4A4A4A"/>
                </a:solidFill>
                <a:latin typeface="MiSans" pitchFamily="34" charset="-122"/>
                <a:ea typeface="MiSans" pitchFamily="34" charset="-122"/>
                <a:cs typeface="MiSans" pitchFamily="34" charset="-120"/>
              </a:rPr>
              <a:t>忽略顺序性质</a:t>
            </a:r>
            <a:endParaRPr lang="en-US" sz="1600" dirty="0"/>
          </a:p>
        </p:txBody>
      </p:sp>
      <p:sp>
        <p:nvSpPr>
          <p:cNvPr id="28" name="Shape 24"/>
          <p:cNvSpPr/>
          <p:nvPr/>
        </p:nvSpPr>
        <p:spPr>
          <a:xfrm>
            <a:off x="6426439" y="2267625"/>
            <a:ext cx="5184901" cy="1021135"/>
          </a:xfrm>
          <a:custGeom>
            <a:avLst/>
            <a:gdLst/>
            <a:ahLst/>
            <a:cxnLst/>
            <a:rect l="l" t="t" r="r" b="b"/>
            <a:pathLst>
              <a:path w="5184901" h="1021135">
                <a:moveTo>
                  <a:pt x="70428" y="0"/>
                </a:moveTo>
                <a:lnTo>
                  <a:pt x="5114473" y="0"/>
                </a:lnTo>
                <a:cubicBezTo>
                  <a:pt x="5153370" y="0"/>
                  <a:pt x="5184901" y="31532"/>
                  <a:pt x="5184901" y="70428"/>
                </a:cubicBezTo>
                <a:lnTo>
                  <a:pt x="5184901" y="950707"/>
                </a:lnTo>
                <a:cubicBezTo>
                  <a:pt x="5184901" y="989603"/>
                  <a:pt x="5153370" y="1021135"/>
                  <a:pt x="5114473" y="1021135"/>
                </a:cubicBezTo>
                <a:lnTo>
                  <a:pt x="70428" y="1021135"/>
                </a:lnTo>
                <a:cubicBezTo>
                  <a:pt x="31532" y="1021135"/>
                  <a:pt x="0" y="989603"/>
                  <a:pt x="0" y="950707"/>
                </a:cubicBezTo>
                <a:lnTo>
                  <a:pt x="0" y="70428"/>
                </a:lnTo>
                <a:cubicBezTo>
                  <a:pt x="0" y="31532"/>
                  <a:pt x="31532" y="0"/>
                  <a:pt x="70428" y="0"/>
                </a:cubicBezTo>
                <a:close/>
              </a:path>
            </a:pathLst>
          </a:custGeom>
          <a:solidFill>
            <a:srgbClr val="FFFFFF"/>
          </a:solidFill>
          <a:effectLst>
            <a:outerShdw blurRad="26409" dist="8803" dir="5400000" algn="bl" rotWithShape="0">
              <a:srgbClr val="000000">
                <a:alpha val="10196"/>
              </a:srgbClr>
            </a:outerShdw>
          </a:effectLst>
        </p:spPr>
      </p:sp>
      <p:sp>
        <p:nvSpPr>
          <p:cNvPr id="29" name="Shape 25"/>
          <p:cNvSpPr/>
          <p:nvPr/>
        </p:nvSpPr>
        <p:spPr>
          <a:xfrm>
            <a:off x="6584891" y="2443683"/>
            <a:ext cx="140846" cy="140846"/>
          </a:xfrm>
          <a:custGeom>
            <a:avLst/>
            <a:gdLst/>
            <a:ahLst/>
            <a:cxnLst/>
            <a:rect l="l" t="t" r="r" b="b"/>
            <a:pathLst>
              <a:path w="140846" h="140846">
                <a:moveTo>
                  <a:pt x="70423" y="140846"/>
                </a:moveTo>
                <a:cubicBezTo>
                  <a:pt x="109291" y="140846"/>
                  <a:pt x="140846" y="109291"/>
                  <a:pt x="140846" y="70423"/>
                </a:cubicBezTo>
                <a:cubicBezTo>
                  <a:pt x="140846" y="31556"/>
                  <a:pt x="109291" y="0"/>
                  <a:pt x="70423" y="0"/>
                </a:cubicBezTo>
                <a:cubicBezTo>
                  <a:pt x="31556" y="0"/>
                  <a:pt x="0" y="31556"/>
                  <a:pt x="0" y="70423"/>
                </a:cubicBezTo>
                <a:cubicBezTo>
                  <a:pt x="0" y="109291"/>
                  <a:pt x="31556" y="140846"/>
                  <a:pt x="70423" y="140846"/>
                </a:cubicBezTo>
                <a:close/>
                <a:moveTo>
                  <a:pt x="61620" y="44014"/>
                </a:moveTo>
                <a:cubicBezTo>
                  <a:pt x="61620" y="39156"/>
                  <a:pt x="65565" y="35212"/>
                  <a:pt x="70423" y="35212"/>
                </a:cubicBezTo>
                <a:cubicBezTo>
                  <a:pt x="75282" y="35212"/>
                  <a:pt x="79226" y="39156"/>
                  <a:pt x="79226" y="44014"/>
                </a:cubicBezTo>
                <a:cubicBezTo>
                  <a:pt x="79226" y="48873"/>
                  <a:pt x="75282" y="52817"/>
                  <a:pt x="70423" y="52817"/>
                </a:cubicBezTo>
                <a:cubicBezTo>
                  <a:pt x="65565" y="52817"/>
                  <a:pt x="61620" y="48873"/>
                  <a:pt x="61620" y="44014"/>
                </a:cubicBezTo>
                <a:close/>
                <a:moveTo>
                  <a:pt x="59419" y="61620"/>
                </a:moveTo>
                <a:lnTo>
                  <a:pt x="72624" y="61620"/>
                </a:lnTo>
                <a:cubicBezTo>
                  <a:pt x="76283" y="61620"/>
                  <a:pt x="79226" y="64564"/>
                  <a:pt x="79226" y="68222"/>
                </a:cubicBezTo>
                <a:lnTo>
                  <a:pt x="79226" y="92430"/>
                </a:lnTo>
                <a:lnTo>
                  <a:pt x="81427" y="92430"/>
                </a:lnTo>
                <a:cubicBezTo>
                  <a:pt x="85085" y="92430"/>
                  <a:pt x="88029" y="95374"/>
                  <a:pt x="88029" y="99032"/>
                </a:cubicBezTo>
                <a:cubicBezTo>
                  <a:pt x="88029" y="102691"/>
                  <a:pt x="85085" y="105635"/>
                  <a:pt x="81427" y="105635"/>
                </a:cubicBezTo>
                <a:lnTo>
                  <a:pt x="59419" y="105635"/>
                </a:lnTo>
                <a:cubicBezTo>
                  <a:pt x="55761" y="105635"/>
                  <a:pt x="52817" y="102691"/>
                  <a:pt x="52817" y="99032"/>
                </a:cubicBezTo>
                <a:cubicBezTo>
                  <a:pt x="52817" y="95374"/>
                  <a:pt x="55761" y="92430"/>
                  <a:pt x="59419" y="92430"/>
                </a:cubicBezTo>
                <a:lnTo>
                  <a:pt x="66022" y="92430"/>
                </a:lnTo>
                <a:lnTo>
                  <a:pt x="66022" y="74825"/>
                </a:lnTo>
                <a:lnTo>
                  <a:pt x="59419" y="74825"/>
                </a:lnTo>
                <a:cubicBezTo>
                  <a:pt x="55761" y="74825"/>
                  <a:pt x="52817" y="71881"/>
                  <a:pt x="52817" y="68222"/>
                </a:cubicBezTo>
                <a:cubicBezTo>
                  <a:pt x="52817" y="64564"/>
                  <a:pt x="55761" y="61620"/>
                  <a:pt x="59419" y="61620"/>
                </a:cubicBezTo>
                <a:close/>
              </a:path>
            </a:pathLst>
          </a:custGeom>
          <a:solidFill>
            <a:srgbClr val="808080"/>
          </a:solidFill>
        </p:spPr>
      </p:sp>
      <p:sp>
        <p:nvSpPr>
          <p:cNvPr id="30" name="Text 26"/>
          <p:cNvSpPr/>
          <p:nvPr/>
        </p:nvSpPr>
        <p:spPr>
          <a:xfrm>
            <a:off x="6743343" y="2408471"/>
            <a:ext cx="4797574" cy="211269"/>
          </a:xfrm>
          <a:prstGeom prst="rect">
            <a:avLst/>
          </a:prstGeom>
          <a:noFill/>
        </p:spPr>
        <p:txBody>
          <a:bodyPr wrap="square" lIns="0" tIns="0" rIns="0" bIns="0" rtlCol="0" anchor="ctr"/>
          <a:lstStyle/>
          <a:p>
            <a:pPr>
              <a:lnSpc>
                <a:spcPct val="130000"/>
              </a:lnSpc>
            </a:pPr>
            <a:r>
              <a:rPr lang="en-US" sz="1110" b="1" dirty="0">
                <a:solidFill>
                  <a:srgbClr val="4A4A4A"/>
                </a:solidFill>
                <a:latin typeface="MiSans" pitchFamily="34" charset="-122"/>
                <a:ea typeface="MiSans" pitchFamily="34" charset="-122"/>
                <a:cs typeface="MiSans" pitchFamily="34" charset="-120"/>
              </a:rPr>
              <a:t>具体说明</a:t>
            </a:r>
            <a:endParaRPr lang="en-US" sz="1600" dirty="0"/>
          </a:p>
        </p:txBody>
      </p:sp>
      <p:sp>
        <p:nvSpPr>
          <p:cNvPr id="31" name="Text 27"/>
          <p:cNvSpPr/>
          <p:nvPr/>
        </p:nvSpPr>
        <p:spPr>
          <a:xfrm>
            <a:off x="6567285" y="2690163"/>
            <a:ext cx="4973632" cy="457750"/>
          </a:xfrm>
          <a:prstGeom prst="rect">
            <a:avLst/>
          </a:prstGeom>
          <a:noFill/>
        </p:spPr>
        <p:txBody>
          <a:bodyPr wrap="square" lIns="0" tIns="0" rIns="0" bIns="0" rtlCol="0" anchor="ctr"/>
          <a:lstStyle/>
          <a:p>
            <a:pPr>
              <a:lnSpc>
                <a:spcPct val="140000"/>
              </a:lnSpc>
            </a:pPr>
            <a:r>
              <a:rPr lang="en-US" sz="1110" dirty="0">
                <a:solidFill>
                  <a:srgbClr val="808080"/>
                </a:solidFill>
                <a:latin typeface="MiSans" pitchFamily="34" charset="-122"/>
                <a:ea typeface="MiSans" pitchFamily="34" charset="-122"/>
                <a:cs typeface="MiSans" pitchFamily="34" charset="-120"/>
              </a:rPr>
              <a:t>现有方法（包括基于规则和基于学习的方法）将恶意行为视为</a:t>
            </a:r>
            <a:r>
              <a:rPr lang="en-US" sz="1110" b="1" dirty="0">
                <a:solidFill>
                  <a:srgbClr val="4A4A4A"/>
                </a:solidFill>
                <a:latin typeface="MiSans" pitchFamily="34" charset="-122"/>
                <a:ea typeface="MiSans" pitchFamily="34" charset="-122"/>
                <a:cs typeface="MiSans" pitchFamily="34" charset="-120"/>
              </a:rPr>
              <a:t>孤立的特征集合</a:t>
            </a:r>
            <a:r>
              <a:rPr lang="en-US" sz="1110" dirty="0">
                <a:solidFill>
                  <a:srgbClr val="808080"/>
                </a:solidFill>
                <a:latin typeface="MiSans" pitchFamily="34" charset="-122"/>
                <a:ea typeface="MiSans" pitchFamily="34" charset="-122"/>
                <a:cs typeface="MiSans" pitchFamily="34" charset="-120"/>
              </a:rPr>
              <a:t>，而没有考虑这些恶意活动在代码执行时的先后顺序。</a:t>
            </a:r>
            <a:endParaRPr lang="en-US" sz="1600" dirty="0"/>
          </a:p>
        </p:txBody>
      </p:sp>
      <p:sp>
        <p:nvSpPr>
          <p:cNvPr id="32" name="Shape 28"/>
          <p:cNvSpPr/>
          <p:nvPr/>
        </p:nvSpPr>
        <p:spPr>
          <a:xfrm>
            <a:off x="6426439" y="3429606"/>
            <a:ext cx="5184901" cy="1250010"/>
          </a:xfrm>
          <a:custGeom>
            <a:avLst/>
            <a:gdLst/>
            <a:ahLst/>
            <a:cxnLst/>
            <a:rect l="l" t="t" r="r" b="b"/>
            <a:pathLst>
              <a:path w="5184901" h="1250010">
                <a:moveTo>
                  <a:pt x="70426" y="0"/>
                </a:moveTo>
                <a:lnTo>
                  <a:pt x="5114476" y="0"/>
                </a:lnTo>
                <a:cubicBezTo>
                  <a:pt x="5153370" y="0"/>
                  <a:pt x="5184901" y="31531"/>
                  <a:pt x="5184901" y="70426"/>
                </a:cubicBezTo>
                <a:lnTo>
                  <a:pt x="5184901" y="1179585"/>
                </a:lnTo>
                <a:cubicBezTo>
                  <a:pt x="5184901" y="1218480"/>
                  <a:pt x="5153370" y="1250010"/>
                  <a:pt x="5114476" y="1250010"/>
                </a:cubicBezTo>
                <a:lnTo>
                  <a:pt x="70426" y="1250010"/>
                </a:lnTo>
                <a:cubicBezTo>
                  <a:pt x="31531" y="1250010"/>
                  <a:pt x="0" y="1218480"/>
                  <a:pt x="0" y="1179585"/>
                </a:cubicBezTo>
                <a:lnTo>
                  <a:pt x="0" y="70426"/>
                </a:lnTo>
                <a:cubicBezTo>
                  <a:pt x="0" y="31531"/>
                  <a:pt x="31531" y="0"/>
                  <a:pt x="70426" y="0"/>
                </a:cubicBezTo>
                <a:close/>
              </a:path>
            </a:pathLst>
          </a:custGeom>
          <a:solidFill>
            <a:srgbClr val="FFFFFF"/>
          </a:solidFill>
          <a:effectLst>
            <a:outerShdw blurRad="26409" dist="8803" dir="5400000" algn="bl" rotWithShape="0">
              <a:srgbClr val="000000">
                <a:alpha val="10196"/>
              </a:srgbClr>
            </a:outerShdw>
          </a:effectLst>
        </p:spPr>
      </p:sp>
      <p:sp>
        <p:nvSpPr>
          <p:cNvPr id="33" name="Shape 29"/>
          <p:cNvSpPr/>
          <p:nvPr/>
        </p:nvSpPr>
        <p:spPr>
          <a:xfrm>
            <a:off x="6584891" y="3605664"/>
            <a:ext cx="140846" cy="140846"/>
          </a:xfrm>
          <a:custGeom>
            <a:avLst/>
            <a:gdLst/>
            <a:ahLst/>
            <a:cxnLst/>
            <a:rect l="l" t="t" r="r" b="b"/>
            <a:pathLst>
              <a:path w="140846" h="140846">
                <a:moveTo>
                  <a:pt x="70423" y="140846"/>
                </a:moveTo>
                <a:cubicBezTo>
                  <a:pt x="109291" y="140846"/>
                  <a:pt x="140846" y="109291"/>
                  <a:pt x="140846" y="70423"/>
                </a:cubicBezTo>
                <a:cubicBezTo>
                  <a:pt x="140846" y="31556"/>
                  <a:pt x="109291" y="0"/>
                  <a:pt x="70423" y="0"/>
                </a:cubicBezTo>
                <a:cubicBezTo>
                  <a:pt x="31556" y="0"/>
                  <a:pt x="0" y="31556"/>
                  <a:pt x="0" y="70423"/>
                </a:cubicBezTo>
                <a:cubicBezTo>
                  <a:pt x="0" y="109291"/>
                  <a:pt x="31556" y="140846"/>
                  <a:pt x="70423" y="140846"/>
                </a:cubicBezTo>
                <a:close/>
                <a:moveTo>
                  <a:pt x="70423" y="37412"/>
                </a:moveTo>
                <a:cubicBezTo>
                  <a:pt x="74082" y="37412"/>
                  <a:pt x="77025" y="40356"/>
                  <a:pt x="77025" y="44014"/>
                </a:cubicBezTo>
                <a:lnTo>
                  <a:pt x="77025" y="74825"/>
                </a:lnTo>
                <a:cubicBezTo>
                  <a:pt x="77025" y="78483"/>
                  <a:pt x="74082" y="81427"/>
                  <a:pt x="70423" y="81427"/>
                </a:cubicBezTo>
                <a:cubicBezTo>
                  <a:pt x="66764" y="81427"/>
                  <a:pt x="63821" y="78483"/>
                  <a:pt x="63821" y="74825"/>
                </a:cubicBezTo>
                <a:lnTo>
                  <a:pt x="63821" y="44014"/>
                </a:lnTo>
                <a:cubicBezTo>
                  <a:pt x="63821" y="40356"/>
                  <a:pt x="66764" y="37412"/>
                  <a:pt x="70423" y="37412"/>
                </a:cubicBezTo>
                <a:close/>
                <a:moveTo>
                  <a:pt x="63078" y="96832"/>
                </a:moveTo>
                <a:cubicBezTo>
                  <a:pt x="62911" y="94105"/>
                  <a:pt x="64271" y="91512"/>
                  <a:pt x="66608" y="90098"/>
                </a:cubicBezTo>
                <a:cubicBezTo>
                  <a:pt x="68945" y="88684"/>
                  <a:pt x="71874" y="88684"/>
                  <a:pt x="74211" y="90098"/>
                </a:cubicBezTo>
                <a:cubicBezTo>
                  <a:pt x="76548" y="91512"/>
                  <a:pt x="77908" y="94105"/>
                  <a:pt x="77741" y="96832"/>
                </a:cubicBezTo>
                <a:cubicBezTo>
                  <a:pt x="77908" y="99558"/>
                  <a:pt x="76548" y="102152"/>
                  <a:pt x="74211" y="103566"/>
                </a:cubicBezTo>
                <a:cubicBezTo>
                  <a:pt x="71874" y="104979"/>
                  <a:pt x="68945" y="104979"/>
                  <a:pt x="66608" y="103566"/>
                </a:cubicBezTo>
                <a:cubicBezTo>
                  <a:pt x="64271" y="102152"/>
                  <a:pt x="62911" y="99558"/>
                  <a:pt x="63078" y="96832"/>
                </a:cubicBezTo>
                <a:close/>
              </a:path>
            </a:pathLst>
          </a:custGeom>
          <a:solidFill>
            <a:srgbClr val="808080"/>
          </a:solidFill>
        </p:spPr>
      </p:sp>
      <p:sp>
        <p:nvSpPr>
          <p:cNvPr id="34" name="Text 30"/>
          <p:cNvSpPr/>
          <p:nvPr/>
        </p:nvSpPr>
        <p:spPr>
          <a:xfrm>
            <a:off x="6743343" y="3570452"/>
            <a:ext cx="4797574" cy="211269"/>
          </a:xfrm>
          <a:prstGeom prst="rect">
            <a:avLst/>
          </a:prstGeom>
          <a:noFill/>
        </p:spPr>
        <p:txBody>
          <a:bodyPr wrap="square" lIns="0" tIns="0" rIns="0" bIns="0" rtlCol="0" anchor="ctr"/>
          <a:lstStyle/>
          <a:p>
            <a:pPr>
              <a:lnSpc>
                <a:spcPct val="130000"/>
              </a:lnSpc>
            </a:pPr>
            <a:r>
              <a:rPr lang="en-US" sz="1110" b="1" dirty="0">
                <a:solidFill>
                  <a:srgbClr val="4A4A4A"/>
                </a:solidFill>
                <a:latin typeface="MiSans" pitchFamily="34" charset="-122"/>
                <a:ea typeface="MiSans" pitchFamily="34" charset="-122"/>
                <a:cs typeface="MiSans" pitchFamily="34" charset="-120"/>
              </a:rPr>
              <a:t>导致后果</a:t>
            </a:r>
            <a:endParaRPr lang="en-US" sz="1600" dirty="0"/>
          </a:p>
        </p:txBody>
      </p:sp>
      <p:sp>
        <p:nvSpPr>
          <p:cNvPr id="35" name="Text 31"/>
          <p:cNvSpPr/>
          <p:nvPr/>
        </p:nvSpPr>
        <p:spPr>
          <a:xfrm>
            <a:off x="6567285" y="3852145"/>
            <a:ext cx="4973632" cy="686625"/>
          </a:xfrm>
          <a:prstGeom prst="rect">
            <a:avLst/>
          </a:prstGeom>
          <a:noFill/>
        </p:spPr>
        <p:txBody>
          <a:bodyPr wrap="square" lIns="0" tIns="0" rIns="0" bIns="0" rtlCol="0" anchor="ctr"/>
          <a:lstStyle/>
          <a:p>
            <a:pPr>
              <a:lnSpc>
                <a:spcPct val="140000"/>
              </a:lnSpc>
            </a:pPr>
            <a:r>
              <a:rPr lang="en-US" sz="1110" dirty="0">
                <a:solidFill>
                  <a:srgbClr val="808080"/>
                </a:solidFill>
                <a:latin typeface="MiSans" pitchFamily="34" charset="-122"/>
                <a:ea typeface="MiSans" pitchFamily="34" charset="-122"/>
                <a:cs typeface="MiSans" pitchFamily="34" charset="-120"/>
              </a:rPr>
              <a:t>由于建模不精确，会导致较高的</a:t>
            </a:r>
            <a:r>
              <a:rPr lang="en-US" sz="1110" b="1" dirty="0">
                <a:solidFill>
                  <a:srgbClr val="4A4A4A"/>
                </a:solidFill>
                <a:latin typeface="MiSans" pitchFamily="34" charset="-122"/>
                <a:ea typeface="MiSans" pitchFamily="34" charset="-122"/>
                <a:cs typeface="MiSans" pitchFamily="34" charset="-120"/>
              </a:rPr>
              <a:t>误报（False Positives）</a:t>
            </a:r>
            <a:r>
              <a:rPr lang="en-US" sz="1110" dirty="0">
                <a:solidFill>
                  <a:srgbClr val="808080"/>
                </a:solidFill>
                <a:latin typeface="MiSans" pitchFamily="34" charset="-122"/>
                <a:ea typeface="MiSans" pitchFamily="34" charset="-122"/>
                <a:cs typeface="MiSans" pitchFamily="34" charset="-120"/>
              </a:rPr>
              <a:t>和</a:t>
            </a:r>
            <a:r>
              <a:rPr lang="en-US" sz="1110" b="1" dirty="0">
                <a:solidFill>
                  <a:srgbClr val="4A4A4A"/>
                </a:solidFill>
                <a:latin typeface="MiSans" pitchFamily="34" charset="-122"/>
                <a:ea typeface="MiSans" pitchFamily="34" charset="-122"/>
                <a:cs typeface="MiSans" pitchFamily="34" charset="-120"/>
              </a:rPr>
              <a:t>漏报（False Negatives）</a:t>
            </a:r>
            <a:r>
              <a:rPr lang="en-US" sz="1110" dirty="0">
                <a:solidFill>
                  <a:srgbClr val="808080"/>
                </a:solidFill>
                <a:latin typeface="MiSans" pitchFamily="34" charset="-122"/>
                <a:ea typeface="MiSans" pitchFamily="34" charset="-122"/>
                <a:cs typeface="MiSans" pitchFamily="34" charset="-120"/>
              </a:rPr>
              <a:t>。恶意攻击通常由一系列有逻辑顺序的活动构成，忽略顺序会丢失关键攻击逻辑。</a:t>
            </a:r>
            <a:endParaRPr lang="en-US" sz="1600" dirty="0"/>
          </a:p>
        </p:txBody>
      </p:sp>
      <p:sp>
        <p:nvSpPr>
          <p:cNvPr id="36" name="Shape 32"/>
          <p:cNvSpPr/>
          <p:nvPr/>
        </p:nvSpPr>
        <p:spPr>
          <a:xfrm>
            <a:off x="6426439" y="4820462"/>
            <a:ext cx="5184901" cy="510568"/>
          </a:xfrm>
          <a:custGeom>
            <a:avLst/>
            <a:gdLst/>
            <a:ahLst/>
            <a:cxnLst/>
            <a:rect l="l" t="t" r="r" b="b"/>
            <a:pathLst>
              <a:path w="5184901" h="510568">
                <a:moveTo>
                  <a:pt x="70423" y="0"/>
                </a:moveTo>
                <a:lnTo>
                  <a:pt x="5114479" y="0"/>
                </a:lnTo>
                <a:cubicBezTo>
                  <a:pt x="5153372" y="0"/>
                  <a:pt x="5184901" y="31529"/>
                  <a:pt x="5184901" y="70423"/>
                </a:cubicBezTo>
                <a:lnTo>
                  <a:pt x="5184901" y="440145"/>
                </a:lnTo>
                <a:cubicBezTo>
                  <a:pt x="5184901" y="479038"/>
                  <a:pt x="5153372" y="510568"/>
                  <a:pt x="5114479" y="510568"/>
                </a:cubicBezTo>
                <a:lnTo>
                  <a:pt x="70423" y="510568"/>
                </a:lnTo>
                <a:cubicBezTo>
                  <a:pt x="31529" y="510568"/>
                  <a:pt x="0" y="479038"/>
                  <a:pt x="0" y="440145"/>
                </a:cubicBezTo>
                <a:lnTo>
                  <a:pt x="0" y="70423"/>
                </a:lnTo>
                <a:cubicBezTo>
                  <a:pt x="0" y="31555"/>
                  <a:pt x="31555" y="0"/>
                  <a:pt x="70423" y="0"/>
                </a:cubicBezTo>
                <a:close/>
              </a:path>
            </a:pathLst>
          </a:custGeom>
          <a:solidFill>
            <a:srgbClr val="808080">
              <a:alpha val="20000"/>
            </a:srgbClr>
          </a:solidFill>
        </p:spPr>
      </p:sp>
      <p:sp>
        <p:nvSpPr>
          <p:cNvPr id="37" name="Shape 33"/>
          <p:cNvSpPr/>
          <p:nvPr/>
        </p:nvSpPr>
        <p:spPr>
          <a:xfrm>
            <a:off x="6602496" y="4996520"/>
            <a:ext cx="105635" cy="140846"/>
          </a:xfrm>
          <a:custGeom>
            <a:avLst/>
            <a:gdLst/>
            <a:ahLst/>
            <a:cxnLst/>
            <a:rect l="l" t="t" r="r" b="b"/>
            <a:pathLst>
              <a:path w="105635" h="140846">
                <a:moveTo>
                  <a:pt x="80574" y="105635"/>
                </a:moveTo>
                <a:cubicBezTo>
                  <a:pt x="82582" y="99500"/>
                  <a:pt x="86598" y="93943"/>
                  <a:pt x="91137" y="89157"/>
                </a:cubicBezTo>
                <a:cubicBezTo>
                  <a:pt x="100133" y="79694"/>
                  <a:pt x="105635" y="66902"/>
                  <a:pt x="105635" y="52817"/>
                </a:cubicBezTo>
                <a:cubicBezTo>
                  <a:pt x="105635" y="23658"/>
                  <a:pt x="81977" y="0"/>
                  <a:pt x="52817" y="0"/>
                </a:cubicBezTo>
                <a:cubicBezTo>
                  <a:pt x="23658" y="0"/>
                  <a:pt x="0" y="23658"/>
                  <a:pt x="0" y="52817"/>
                </a:cubicBezTo>
                <a:cubicBezTo>
                  <a:pt x="0" y="66902"/>
                  <a:pt x="5502" y="79694"/>
                  <a:pt x="14497" y="89157"/>
                </a:cubicBezTo>
                <a:cubicBezTo>
                  <a:pt x="19036" y="93943"/>
                  <a:pt x="23080" y="99500"/>
                  <a:pt x="25061" y="105635"/>
                </a:cubicBezTo>
                <a:lnTo>
                  <a:pt x="80546" y="105635"/>
                </a:lnTo>
                <a:close/>
                <a:moveTo>
                  <a:pt x="79226" y="118839"/>
                </a:moveTo>
                <a:lnTo>
                  <a:pt x="26409" y="118839"/>
                </a:lnTo>
                <a:lnTo>
                  <a:pt x="26409" y="123240"/>
                </a:lnTo>
                <a:cubicBezTo>
                  <a:pt x="26409" y="135399"/>
                  <a:pt x="36257" y="145248"/>
                  <a:pt x="48416" y="145248"/>
                </a:cubicBezTo>
                <a:lnTo>
                  <a:pt x="57219" y="145248"/>
                </a:lnTo>
                <a:cubicBezTo>
                  <a:pt x="69378" y="145248"/>
                  <a:pt x="79226" y="135399"/>
                  <a:pt x="79226" y="123240"/>
                </a:cubicBezTo>
                <a:lnTo>
                  <a:pt x="79226" y="118839"/>
                </a:lnTo>
                <a:close/>
                <a:moveTo>
                  <a:pt x="50617" y="30810"/>
                </a:moveTo>
                <a:cubicBezTo>
                  <a:pt x="39668" y="30810"/>
                  <a:pt x="30810" y="39668"/>
                  <a:pt x="30810" y="50617"/>
                </a:cubicBezTo>
                <a:cubicBezTo>
                  <a:pt x="30810" y="54275"/>
                  <a:pt x="27867" y="57219"/>
                  <a:pt x="24208" y="57219"/>
                </a:cubicBezTo>
                <a:cubicBezTo>
                  <a:pt x="20549" y="57219"/>
                  <a:pt x="17606" y="54275"/>
                  <a:pt x="17606" y="50617"/>
                </a:cubicBezTo>
                <a:cubicBezTo>
                  <a:pt x="17606" y="32378"/>
                  <a:pt x="32378" y="17606"/>
                  <a:pt x="50617" y="17606"/>
                </a:cubicBezTo>
                <a:cubicBezTo>
                  <a:pt x="54275" y="17606"/>
                  <a:pt x="57219" y="20549"/>
                  <a:pt x="57219" y="24208"/>
                </a:cubicBezTo>
                <a:cubicBezTo>
                  <a:pt x="57219" y="27867"/>
                  <a:pt x="54275" y="30810"/>
                  <a:pt x="50617" y="30810"/>
                </a:cubicBezTo>
                <a:close/>
              </a:path>
            </a:pathLst>
          </a:custGeom>
          <a:solidFill>
            <a:srgbClr val="808080"/>
          </a:solidFill>
        </p:spPr>
      </p:sp>
      <p:sp>
        <p:nvSpPr>
          <p:cNvPr id="38" name="Text 34"/>
          <p:cNvSpPr/>
          <p:nvPr/>
        </p:nvSpPr>
        <p:spPr>
          <a:xfrm>
            <a:off x="6792156" y="4961309"/>
            <a:ext cx="4748761" cy="228875"/>
          </a:xfrm>
          <a:prstGeom prst="rect">
            <a:avLst/>
          </a:prstGeom>
          <a:noFill/>
        </p:spPr>
        <p:txBody>
          <a:bodyPr wrap="square" lIns="0" tIns="0" rIns="0" bIns="0" rtlCol="0" anchor="ctr"/>
          <a:lstStyle/>
          <a:p>
            <a:pPr>
              <a:lnSpc>
                <a:spcPct val="140000"/>
              </a:lnSpc>
            </a:pPr>
            <a:r>
              <a:rPr lang="en-US" sz="1110" b="1" dirty="0">
                <a:solidFill>
                  <a:srgbClr val="4A4A4A"/>
                </a:solidFill>
                <a:latin typeface="MiSans" pitchFamily="34" charset="-122"/>
                <a:ea typeface="MiSans" pitchFamily="34" charset="-122"/>
                <a:cs typeface="MiSans" pitchFamily="34" charset="-120"/>
              </a:rPr>
              <a:t>核心问题：</a:t>
            </a:r>
            <a:r>
              <a:rPr lang="en-US" sz="1110" dirty="0">
                <a:solidFill>
                  <a:srgbClr val="4A4A4A"/>
                </a:solidFill>
                <a:latin typeface="MiSans" pitchFamily="34" charset="-122"/>
                <a:ea typeface="MiSans" pitchFamily="34" charset="-122"/>
                <a:cs typeface="MiSans" pitchFamily="34" charset="-120"/>
              </a:rPr>
              <a:t>攻击链逻辑被拆解，无法准确识别复杂的恶意行为序列</a:t>
            </a:r>
            <a:endParaRPr lang="en-US" sz="1600" dirty="0"/>
          </a:p>
        </p:txBody>
      </p:sp>
      <p:sp>
        <p:nvSpPr>
          <p:cNvPr id="39" name="Shape 35"/>
          <p:cNvSpPr/>
          <p:nvPr/>
        </p:nvSpPr>
        <p:spPr>
          <a:xfrm>
            <a:off x="352116" y="5938098"/>
            <a:ext cx="11487769" cy="633808"/>
          </a:xfrm>
          <a:custGeom>
            <a:avLst/>
            <a:gdLst/>
            <a:ahLst/>
            <a:cxnLst/>
            <a:rect l="l" t="t" r="r" b="b"/>
            <a:pathLst>
              <a:path w="11487769" h="633808">
                <a:moveTo>
                  <a:pt x="70422" y="0"/>
                </a:moveTo>
                <a:lnTo>
                  <a:pt x="11417347" y="0"/>
                </a:lnTo>
                <a:cubicBezTo>
                  <a:pt x="11456240" y="0"/>
                  <a:pt x="11487769" y="31529"/>
                  <a:pt x="11487769" y="70422"/>
                </a:cubicBezTo>
                <a:lnTo>
                  <a:pt x="11487769" y="563386"/>
                </a:lnTo>
                <a:cubicBezTo>
                  <a:pt x="11487769" y="602279"/>
                  <a:pt x="11456240" y="633808"/>
                  <a:pt x="11417347" y="633808"/>
                </a:cubicBezTo>
                <a:lnTo>
                  <a:pt x="70422" y="633808"/>
                </a:lnTo>
                <a:cubicBezTo>
                  <a:pt x="31529" y="633808"/>
                  <a:pt x="0" y="602279"/>
                  <a:pt x="0" y="563386"/>
                </a:cubicBezTo>
                <a:lnTo>
                  <a:pt x="0" y="70422"/>
                </a:lnTo>
                <a:cubicBezTo>
                  <a:pt x="0" y="31555"/>
                  <a:pt x="31555" y="0"/>
                  <a:pt x="70422" y="0"/>
                </a:cubicBezTo>
                <a:close/>
              </a:path>
            </a:pathLst>
          </a:custGeom>
          <a:gradFill flip="none" rotWithShape="1">
            <a:gsLst>
              <a:gs pos="0">
                <a:srgbClr val="4A4A4A"/>
              </a:gs>
              <a:gs pos="100000">
                <a:srgbClr val="808080"/>
              </a:gs>
            </a:gsLst>
            <a:lin ang="0" scaled="1"/>
          </a:gradFill>
        </p:spPr>
      </p:sp>
      <p:sp>
        <p:nvSpPr>
          <p:cNvPr id="40" name="Shape 36"/>
          <p:cNvSpPr/>
          <p:nvPr/>
        </p:nvSpPr>
        <p:spPr>
          <a:xfrm>
            <a:off x="519370" y="6149368"/>
            <a:ext cx="211269" cy="211269"/>
          </a:xfrm>
          <a:custGeom>
            <a:avLst/>
            <a:gdLst/>
            <a:ahLst/>
            <a:cxnLst/>
            <a:rect l="l" t="t" r="r" b="b"/>
            <a:pathLst>
              <a:path w="211269" h="211269">
                <a:moveTo>
                  <a:pt x="207391" y="114960"/>
                </a:moveTo>
                <a:cubicBezTo>
                  <a:pt x="212548" y="109802"/>
                  <a:pt x="212548" y="101426"/>
                  <a:pt x="207391" y="96268"/>
                </a:cubicBezTo>
                <a:lnTo>
                  <a:pt x="141369" y="30246"/>
                </a:lnTo>
                <a:cubicBezTo>
                  <a:pt x="136211" y="25088"/>
                  <a:pt x="127834" y="25088"/>
                  <a:pt x="122676" y="30246"/>
                </a:cubicBezTo>
                <a:cubicBezTo>
                  <a:pt x="117519" y="35404"/>
                  <a:pt x="117519" y="43781"/>
                  <a:pt x="122676" y="48939"/>
                </a:cubicBezTo>
                <a:lnTo>
                  <a:pt x="166168" y="92430"/>
                </a:lnTo>
                <a:lnTo>
                  <a:pt x="13204" y="92430"/>
                </a:lnTo>
                <a:cubicBezTo>
                  <a:pt x="5901" y="92430"/>
                  <a:pt x="0" y="98331"/>
                  <a:pt x="0" y="105635"/>
                </a:cubicBezTo>
                <a:cubicBezTo>
                  <a:pt x="0" y="112938"/>
                  <a:pt x="5901" y="118839"/>
                  <a:pt x="13204" y="118839"/>
                </a:cubicBezTo>
                <a:lnTo>
                  <a:pt x="166168" y="118839"/>
                </a:lnTo>
                <a:lnTo>
                  <a:pt x="122676" y="162331"/>
                </a:lnTo>
                <a:cubicBezTo>
                  <a:pt x="117519" y="167489"/>
                  <a:pt x="117519" y="175865"/>
                  <a:pt x="122676" y="181023"/>
                </a:cubicBezTo>
                <a:cubicBezTo>
                  <a:pt x="127834" y="186181"/>
                  <a:pt x="136211" y="186181"/>
                  <a:pt x="141369" y="181023"/>
                </a:cubicBezTo>
                <a:lnTo>
                  <a:pt x="207391" y="115001"/>
                </a:lnTo>
                <a:close/>
              </a:path>
            </a:pathLst>
          </a:custGeom>
          <a:solidFill>
            <a:srgbClr val="FFFFFF"/>
          </a:solidFill>
        </p:spPr>
      </p:sp>
      <p:sp>
        <p:nvSpPr>
          <p:cNvPr id="41" name="Text 37"/>
          <p:cNvSpPr/>
          <p:nvPr/>
        </p:nvSpPr>
        <p:spPr>
          <a:xfrm>
            <a:off x="897895" y="6131762"/>
            <a:ext cx="3336295" cy="246481"/>
          </a:xfrm>
          <a:prstGeom prst="rect">
            <a:avLst/>
          </a:prstGeom>
          <a:noFill/>
        </p:spPr>
        <p:txBody>
          <a:bodyPr wrap="square" lIns="0" tIns="0" rIns="0" bIns="0" rtlCol="0" anchor="ctr"/>
          <a:lstStyle/>
          <a:p>
            <a:pPr>
              <a:lnSpc>
                <a:spcPct val="130000"/>
              </a:lnSpc>
            </a:pPr>
            <a:r>
              <a:rPr lang="en-US" sz="1250" b="1" dirty="0">
                <a:solidFill>
                  <a:srgbClr val="FFFFFF"/>
                </a:solidFill>
                <a:latin typeface="MiSans" pitchFamily="34" charset="-122"/>
                <a:ea typeface="MiSans" pitchFamily="34" charset="-122"/>
                <a:cs typeface="MiSans" pitchFamily="34" charset="-120"/>
              </a:rPr>
              <a:t>基于以上局限，本研究提出CEREBRO解决方案</a:t>
            </a:r>
            <a:endParaRPr lang="en-US" sz="1600" dirty="0"/>
          </a:p>
        </p:txBody>
      </p:sp>
      <p:sp>
        <p:nvSpPr>
          <p:cNvPr id="42" name="Text 38"/>
          <p:cNvSpPr/>
          <p:nvPr/>
        </p:nvSpPr>
        <p:spPr>
          <a:xfrm>
            <a:off x="10034303" y="6078944"/>
            <a:ext cx="1663746" cy="176058"/>
          </a:xfrm>
          <a:prstGeom prst="rect">
            <a:avLst/>
          </a:prstGeom>
          <a:noFill/>
        </p:spPr>
        <p:txBody>
          <a:bodyPr wrap="square" lIns="0" tIns="0" rIns="0" bIns="0" rtlCol="0" anchor="ctr"/>
          <a:lstStyle/>
          <a:p>
            <a:pPr algn="r">
              <a:lnSpc>
                <a:spcPct val="120000"/>
              </a:lnSpc>
            </a:pPr>
            <a:r>
              <a:rPr lang="en-US" sz="970" dirty="0">
                <a:solidFill>
                  <a:srgbClr val="FFFFFF">
                    <a:alpha val="80000"/>
                  </a:srgbClr>
                </a:solidFill>
                <a:latin typeface="MiSans" pitchFamily="34" charset="-122"/>
                <a:ea typeface="MiSans" pitchFamily="34" charset="-122"/>
                <a:cs typeface="MiSans" pitchFamily="34" charset="-120"/>
              </a:rPr>
              <a:t>目标：单一模型，双生态检测</a:t>
            </a:r>
            <a:endParaRPr lang="en-US" sz="1600" dirty="0"/>
          </a:p>
        </p:txBody>
      </p:sp>
      <p:sp>
        <p:nvSpPr>
          <p:cNvPr id="43" name="Text 39"/>
          <p:cNvSpPr/>
          <p:nvPr/>
        </p:nvSpPr>
        <p:spPr>
          <a:xfrm>
            <a:off x="10034303" y="6255002"/>
            <a:ext cx="1663746" cy="176058"/>
          </a:xfrm>
          <a:prstGeom prst="rect">
            <a:avLst/>
          </a:prstGeom>
          <a:noFill/>
        </p:spPr>
        <p:txBody>
          <a:bodyPr wrap="square" lIns="0" tIns="0" rIns="0" bIns="0" rtlCol="0" anchor="ctr"/>
          <a:lstStyle/>
          <a:p>
            <a:pPr algn="r">
              <a:lnSpc>
                <a:spcPct val="120000"/>
              </a:lnSpc>
            </a:pPr>
            <a:r>
              <a:rPr lang="en-US" sz="970" dirty="0">
                <a:solidFill>
                  <a:srgbClr val="FFFFFF">
                    <a:alpha val="80000"/>
                  </a:srgbClr>
                </a:solidFill>
                <a:latin typeface="MiSans" pitchFamily="34" charset="-122"/>
                <a:ea typeface="MiSans" pitchFamily="34" charset="-122"/>
                <a:cs typeface="MiSans" pitchFamily="34" charset="-120"/>
              </a:rPr>
              <a:t>核心：建模恶意行为序列</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10-11-20:29:04-d3l4r40s8jdo4os5eok0.jpeg"/>
          <p:cNvPicPr>
            <a:picLocks noChangeAspect="1"/>
          </p:cNvPicPr>
          <p:nvPr/>
        </p:nvPicPr>
        <p:blipFill>
          <a:blip r:embed="rId1">
            <a:alphaModFix amt="34000"/>
          </a:blip>
          <a:srcRect t="46513" b="46513"/>
          <a:stretch>
            <a:fillRect/>
          </a:stretch>
        </p:blipFill>
        <p:spPr>
          <a:xfrm>
            <a:off x="799465" y="6010275"/>
            <a:ext cx="10638155" cy="215265"/>
          </a:xfrm>
          <a:prstGeom prst="rect">
            <a:avLst/>
          </a:prstGeom>
        </p:spPr>
      </p:pic>
      <p:pic>
        <p:nvPicPr>
          <p:cNvPr id="3" name="Image 1" descr="https://kimi-img.moonshot.cn/pub/slides/slides_tmpl/image/25-10-11-20:29:20-d3l4r80s8jdo4os5eomg.jpg"/>
          <p:cNvPicPr>
            <a:picLocks noChangeAspect="1"/>
          </p:cNvPicPr>
          <p:nvPr/>
        </p:nvPicPr>
        <p:blipFill>
          <a:blip r:embed="rId2"/>
          <a:stretch>
            <a:fillRect/>
          </a:stretch>
        </p:blipFill>
        <p:spPr>
          <a:xfrm>
            <a:off x="1270" y="0"/>
            <a:ext cx="12190730" cy="6858000"/>
          </a:xfrm>
          <a:prstGeom prst="rect">
            <a:avLst/>
          </a:prstGeom>
        </p:spPr>
      </p:pic>
      <p:sp>
        <p:nvSpPr>
          <p:cNvPr id="4"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08080"/>
                </a:solidFill>
                <a:latin typeface="MiSans" pitchFamily="34" charset="-122"/>
                <a:ea typeface="MiSans" pitchFamily="34" charset="-122"/>
                <a:cs typeface="MiSans" pitchFamily="34" charset="-120"/>
              </a:rPr>
              <a:t>INNOVATION</a:t>
            </a:r>
            <a:endParaRPr lang="en-US" sz="1600" dirty="0"/>
          </a:p>
        </p:txBody>
      </p:sp>
      <p:sp>
        <p:nvSpPr>
          <p:cNvPr id="5" name="Text 1"/>
          <p:cNvSpPr/>
          <p:nvPr/>
        </p:nvSpPr>
        <p:spPr>
          <a:xfrm>
            <a:off x="381000" y="647700"/>
            <a:ext cx="11572875" cy="342900"/>
          </a:xfrm>
          <a:prstGeom prst="rect">
            <a:avLst/>
          </a:prstGeom>
          <a:noFill/>
        </p:spPr>
        <p:txBody>
          <a:bodyPr wrap="square" lIns="0" tIns="0" rIns="0" bIns="0" rtlCol="0" anchor="ctr"/>
          <a:lstStyle/>
          <a:p>
            <a:pPr>
              <a:lnSpc>
                <a:spcPct val="100000"/>
              </a:lnSpc>
            </a:pPr>
            <a:r>
              <a:rPr lang="en-US" sz="2250" b="1" dirty="0">
                <a:solidFill>
                  <a:srgbClr val="4A4A4A"/>
                </a:solidFill>
                <a:latin typeface="MiSans" pitchFamily="34" charset="-122"/>
                <a:ea typeface="MiSans" pitchFamily="34" charset="-122"/>
                <a:cs typeface="MiSans" pitchFamily="34" charset="-120"/>
              </a:rPr>
              <a:t>研究动机与创新点</a:t>
            </a:r>
            <a:endParaRPr lang="en-US" sz="1600" dirty="0"/>
          </a:p>
        </p:txBody>
      </p:sp>
      <p:sp>
        <p:nvSpPr>
          <p:cNvPr id="6" name="Shape 2"/>
          <p:cNvSpPr/>
          <p:nvPr/>
        </p:nvSpPr>
        <p:spPr>
          <a:xfrm>
            <a:off x="381000" y="10668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4A4A4A"/>
          </a:solidFill>
        </p:spPr>
      </p:sp>
      <p:sp>
        <p:nvSpPr>
          <p:cNvPr id="7" name="Shape 3"/>
          <p:cNvSpPr/>
          <p:nvPr/>
        </p:nvSpPr>
        <p:spPr>
          <a:xfrm>
            <a:off x="381000" y="1181100"/>
            <a:ext cx="7277100" cy="2590800"/>
          </a:xfrm>
          <a:custGeom>
            <a:avLst/>
            <a:gdLst/>
            <a:ahLst/>
            <a:cxnLst/>
            <a:rect l="l" t="t" r="r" b="b"/>
            <a:pathLst>
              <a:path w="7277100" h="2590800">
                <a:moveTo>
                  <a:pt x="76195" y="0"/>
                </a:moveTo>
                <a:lnTo>
                  <a:pt x="7200905" y="0"/>
                </a:lnTo>
                <a:cubicBezTo>
                  <a:pt x="7242958" y="0"/>
                  <a:pt x="7277100" y="34142"/>
                  <a:pt x="7277100" y="76195"/>
                </a:cubicBezTo>
                <a:lnTo>
                  <a:pt x="7277100" y="2514605"/>
                </a:lnTo>
                <a:cubicBezTo>
                  <a:pt x="7277100" y="2556686"/>
                  <a:pt x="7242986" y="2590800"/>
                  <a:pt x="7200905" y="2590800"/>
                </a:cubicBezTo>
                <a:lnTo>
                  <a:pt x="76195" y="2590800"/>
                </a:lnTo>
                <a:cubicBezTo>
                  <a:pt x="34142" y="2590800"/>
                  <a:pt x="0" y="2556658"/>
                  <a:pt x="0" y="2514605"/>
                </a:cubicBezTo>
                <a:lnTo>
                  <a:pt x="0" y="76195"/>
                </a:lnTo>
                <a:cubicBezTo>
                  <a:pt x="0" y="34142"/>
                  <a:pt x="34142" y="0"/>
                  <a:pt x="76195" y="0"/>
                </a:cubicBezTo>
                <a:close/>
              </a:path>
            </a:pathLst>
          </a:custGeom>
          <a:gradFill flip="none" rotWithShape="1">
            <a:gsLst>
              <a:gs pos="0">
                <a:srgbClr val="4A4A4A"/>
              </a:gs>
              <a:gs pos="100000">
                <a:srgbClr val="808080"/>
              </a:gs>
            </a:gsLst>
            <a:lin ang="2700000" scaled="1"/>
          </a:gradFill>
        </p:spPr>
      </p:sp>
      <p:sp>
        <p:nvSpPr>
          <p:cNvPr id="8" name="Shape 4"/>
          <p:cNvSpPr/>
          <p:nvPr/>
        </p:nvSpPr>
        <p:spPr>
          <a:xfrm>
            <a:off x="533400" y="13335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FFFFF">
              <a:alpha val="20000"/>
            </a:srgbClr>
          </a:solidFill>
        </p:spPr>
      </p:sp>
      <p:sp>
        <p:nvSpPr>
          <p:cNvPr id="9" name="Text 5"/>
          <p:cNvSpPr/>
          <p:nvPr/>
        </p:nvSpPr>
        <p:spPr>
          <a:xfrm>
            <a:off x="686395" y="1390650"/>
            <a:ext cx="171450" cy="266700"/>
          </a:xfrm>
          <a:prstGeom prst="rect">
            <a:avLst/>
          </a:prstGeom>
          <a:noFill/>
        </p:spPr>
        <p:txBody>
          <a:bodyPr wrap="square" lIns="0" tIns="0" rIns="0" bIns="0" rtlCol="0" anchor="ctr"/>
          <a:lstStyle/>
          <a:p>
            <a:pPr>
              <a:lnSpc>
                <a:spcPct val="120000"/>
              </a:lnSpc>
            </a:pPr>
            <a:r>
              <a:rPr lang="en-US" sz="1500" b="1" dirty="0">
                <a:solidFill>
                  <a:srgbClr val="FFFFFF"/>
                </a:solidFill>
                <a:latin typeface="MiSans" pitchFamily="34" charset="-122"/>
                <a:ea typeface="MiSans" pitchFamily="34" charset="-122"/>
                <a:cs typeface="MiSans" pitchFamily="34" charset="-120"/>
              </a:rPr>
              <a:t>1</a:t>
            </a:r>
            <a:endParaRPr lang="en-US" sz="1600" dirty="0"/>
          </a:p>
        </p:txBody>
      </p:sp>
      <p:sp>
        <p:nvSpPr>
          <p:cNvPr id="10" name="Text 6"/>
          <p:cNvSpPr/>
          <p:nvPr/>
        </p:nvSpPr>
        <p:spPr>
          <a:xfrm>
            <a:off x="1028700" y="1390650"/>
            <a:ext cx="2000250" cy="266700"/>
          </a:xfrm>
          <a:prstGeom prst="rect">
            <a:avLst/>
          </a:prstGeom>
          <a:noFill/>
        </p:spPr>
        <p:txBody>
          <a:bodyPr wrap="square" lIns="0" tIns="0" rIns="0" bIns="0" rtlCol="0" anchor="ctr"/>
          <a:lstStyle/>
          <a:p>
            <a:pPr>
              <a:lnSpc>
                <a:spcPct val="120000"/>
              </a:lnSpc>
            </a:pPr>
            <a:r>
              <a:rPr lang="en-US" sz="1500" b="1" dirty="0">
                <a:solidFill>
                  <a:srgbClr val="FFFFFF"/>
                </a:solidFill>
                <a:latin typeface="MiSans" pitchFamily="34" charset="-122"/>
                <a:ea typeface="MiSans" pitchFamily="34" charset="-122"/>
                <a:cs typeface="MiSans" pitchFamily="34" charset="-120"/>
              </a:rPr>
              <a:t>单一模型，双生态检测</a:t>
            </a:r>
            <a:endParaRPr lang="en-US" sz="1600" dirty="0"/>
          </a:p>
        </p:txBody>
      </p:sp>
      <p:sp>
        <p:nvSpPr>
          <p:cNvPr id="11" name="Shape 7"/>
          <p:cNvSpPr/>
          <p:nvPr/>
        </p:nvSpPr>
        <p:spPr>
          <a:xfrm>
            <a:off x="533400" y="1628775"/>
            <a:ext cx="6972300" cy="666750"/>
          </a:xfrm>
          <a:custGeom>
            <a:avLst/>
            <a:gdLst/>
            <a:ahLst/>
            <a:cxnLst/>
            <a:rect l="l" t="t" r="r" b="b"/>
            <a:pathLst>
              <a:path w="6972300" h="666750">
                <a:moveTo>
                  <a:pt x="76203" y="0"/>
                </a:moveTo>
                <a:lnTo>
                  <a:pt x="6896097" y="0"/>
                </a:lnTo>
                <a:cubicBezTo>
                  <a:pt x="6938155" y="0"/>
                  <a:pt x="6972300" y="34145"/>
                  <a:pt x="6972300" y="76203"/>
                </a:cubicBezTo>
                <a:lnTo>
                  <a:pt x="6972300" y="590547"/>
                </a:lnTo>
                <a:cubicBezTo>
                  <a:pt x="6972300" y="632605"/>
                  <a:pt x="6938155" y="666750"/>
                  <a:pt x="6896097" y="666750"/>
                </a:cubicBezTo>
                <a:lnTo>
                  <a:pt x="76203" y="666750"/>
                </a:lnTo>
                <a:cubicBezTo>
                  <a:pt x="34145" y="666750"/>
                  <a:pt x="0" y="632605"/>
                  <a:pt x="0" y="590547"/>
                </a:cubicBezTo>
                <a:lnTo>
                  <a:pt x="0" y="76203"/>
                </a:lnTo>
                <a:cubicBezTo>
                  <a:pt x="0" y="34145"/>
                  <a:pt x="34145" y="0"/>
                  <a:pt x="76203" y="0"/>
                </a:cubicBezTo>
                <a:close/>
              </a:path>
            </a:pathLst>
          </a:custGeom>
          <a:solidFill>
            <a:srgbClr val="FFFFFF">
              <a:alpha val="10196"/>
            </a:srgbClr>
          </a:solidFill>
        </p:spPr>
      </p:sp>
      <p:sp>
        <p:nvSpPr>
          <p:cNvPr id="12" name="Shape 8"/>
          <p:cNvSpPr/>
          <p:nvPr/>
        </p:nvSpPr>
        <p:spPr>
          <a:xfrm>
            <a:off x="647700" y="1762125"/>
            <a:ext cx="152400" cy="152400"/>
          </a:xfrm>
          <a:custGeom>
            <a:avLst/>
            <a:gdLst/>
            <a:ahLst/>
            <a:cxnLst/>
            <a:rect l="l" t="t" r="r" b="b"/>
            <a:pathLst>
              <a:path w="152400" h="152400">
                <a:moveTo>
                  <a:pt x="133350" y="76200"/>
                </a:moveTo>
                <a:cubicBezTo>
                  <a:pt x="133350" y="44658"/>
                  <a:pt x="107742" y="19050"/>
                  <a:pt x="76200" y="19050"/>
                </a:cubicBezTo>
                <a:cubicBezTo>
                  <a:pt x="44658" y="19050"/>
                  <a:pt x="19050" y="44658"/>
                  <a:pt x="19050" y="76200"/>
                </a:cubicBezTo>
                <a:cubicBezTo>
                  <a:pt x="19050" y="107742"/>
                  <a:pt x="44658" y="133350"/>
                  <a:pt x="76200" y="133350"/>
                </a:cubicBezTo>
                <a:cubicBezTo>
                  <a:pt x="107742" y="133350"/>
                  <a:pt x="133350" y="107742"/>
                  <a:pt x="133350" y="76200"/>
                </a:cubicBezTo>
                <a:close/>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76200" y="100013"/>
                </a:moveTo>
                <a:cubicBezTo>
                  <a:pt x="89342" y="100013"/>
                  <a:pt x="100013" y="89342"/>
                  <a:pt x="100013" y="76200"/>
                </a:cubicBezTo>
                <a:cubicBezTo>
                  <a:pt x="100013" y="63058"/>
                  <a:pt x="89342" y="52388"/>
                  <a:pt x="76200" y="52388"/>
                </a:cubicBezTo>
                <a:cubicBezTo>
                  <a:pt x="63058" y="52388"/>
                  <a:pt x="52388" y="63058"/>
                  <a:pt x="52388" y="76200"/>
                </a:cubicBezTo>
                <a:cubicBezTo>
                  <a:pt x="52388" y="89342"/>
                  <a:pt x="63058" y="100013"/>
                  <a:pt x="76200" y="100013"/>
                </a:cubicBezTo>
                <a:close/>
                <a:moveTo>
                  <a:pt x="76200" y="33338"/>
                </a:moveTo>
                <a:cubicBezTo>
                  <a:pt x="99856" y="33338"/>
                  <a:pt x="119062" y="52544"/>
                  <a:pt x="119062" y="76200"/>
                </a:cubicBezTo>
                <a:cubicBezTo>
                  <a:pt x="119062" y="99856"/>
                  <a:pt x="99856" y="119062"/>
                  <a:pt x="76200" y="119062"/>
                </a:cubicBezTo>
                <a:cubicBezTo>
                  <a:pt x="52544" y="119062"/>
                  <a:pt x="33338" y="99856"/>
                  <a:pt x="33338" y="76200"/>
                </a:cubicBezTo>
                <a:cubicBezTo>
                  <a:pt x="33338" y="52544"/>
                  <a:pt x="52544" y="33338"/>
                  <a:pt x="76200" y="33338"/>
                </a:cubicBezTo>
                <a:close/>
                <a:moveTo>
                  <a:pt x="66675" y="76200"/>
                </a:moveTo>
                <a:cubicBezTo>
                  <a:pt x="66675" y="70943"/>
                  <a:pt x="70943" y="66675"/>
                  <a:pt x="76200" y="66675"/>
                </a:cubicBezTo>
                <a:cubicBezTo>
                  <a:pt x="81457" y="66675"/>
                  <a:pt x="85725" y="70943"/>
                  <a:pt x="85725" y="76200"/>
                </a:cubicBezTo>
                <a:cubicBezTo>
                  <a:pt x="85725" y="81457"/>
                  <a:pt x="81457" y="85725"/>
                  <a:pt x="76200" y="85725"/>
                </a:cubicBezTo>
                <a:cubicBezTo>
                  <a:pt x="70943" y="85725"/>
                  <a:pt x="66675" y="81457"/>
                  <a:pt x="66675" y="76200"/>
                </a:cubicBezTo>
                <a:close/>
              </a:path>
            </a:pathLst>
          </a:custGeom>
          <a:solidFill>
            <a:srgbClr val="FFFFFF"/>
          </a:solidFill>
        </p:spPr>
      </p:sp>
      <p:sp>
        <p:nvSpPr>
          <p:cNvPr id="13" name="Text 9"/>
          <p:cNvSpPr/>
          <p:nvPr/>
        </p:nvSpPr>
        <p:spPr>
          <a:xfrm>
            <a:off x="819150" y="1724025"/>
            <a:ext cx="6667500"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核心目标</a:t>
            </a:r>
            <a:endParaRPr lang="en-US" sz="1600" dirty="0"/>
          </a:p>
        </p:txBody>
      </p:sp>
      <p:sp>
        <p:nvSpPr>
          <p:cNvPr id="14" name="Text 10"/>
          <p:cNvSpPr/>
          <p:nvPr/>
        </p:nvSpPr>
        <p:spPr>
          <a:xfrm>
            <a:off x="628650" y="1990725"/>
            <a:ext cx="6858000" cy="209550"/>
          </a:xfrm>
          <a:prstGeom prst="rect">
            <a:avLst/>
          </a:prstGeom>
          <a:noFill/>
        </p:spPr>
        <p:txBody>
          <a:bodyPr wrap="square" lIns="0" tIns="0" rIns="0" bIns="0" rtlCol="0" anchor="ctr"/>
          <a:lstStyle/>
          <a:p>
            <a:pPr>
              <a:lnSpc>
                <a:spcPct val="110000"/>
              </a:lnSpc>
            </a:pPr>
            <a:r>
              <a:rPr lang="en-US" sz="1200" dirty="0">
                <a:solidFill>
                  <a:srgbClr val="FFFFFF">
                    <a:alpha val="90000"/>
                  </a:srgbClr>
                </a:solidFill>
                <a:latin typeface="MiSans" pitchFamily="34" charset="-122"/>
                <a:ea typeface="MiSans" pitchFamily="34" charset="-122"/>
                <a:cs typeface="MiSans" pitchFamily="34" charset="-120"/>
              </a:rPr>
              <a:t>设计 </a:t>
            </a:r>
            <a:r>
              <a:rPr lang="en-US" sz="1200" b="1" dirty="0">
                <a:solidFill>
                  <a:srgbClr val="FFFFFF">
                    <a:alpha val="90000"/>
                  </a:srgbClr>
                </a:solidFill>
                <a:latin typeface="MiSans" pitchFamily="34" charset="-122"/>
                <a:ea typeface="MiSans" pitchFamily="34" charset="-122"/>
                <a:cs typeface="MiSans" pitchFamily="34" charset="-120"/>
              </a:rPr>
              <a:t>统一的模型</a:t>
            </a:r>
            <a:r>
              <a:rPr lang="en-US" sz="1200" dirty="0">
                <a:solidFill>
                  <a:srgbClr val="FFFFFF">
                    <a:alpha val="90000"/>
                  </a:srgbClr>
                </a:solidFill>
                <a:latin typeface="MiSans" pitchFamily="34" charset="-122"/>
                <a:ea typeface="MiSans" pitchFamily="34" charset="-122"/>
                <a:cs typeface="MiSans" pitchFamily="34" charset="-120"/>
              </a:rPr>
              <a:t> ，能够同时且有效地检测NPM和PyPI中的恶意软件包</a:t>
            </a:r>
            <a:endParaRPr lang="en-US" sz="1600" dirty="0"/>
          </a:p>
        </p:txBody>
      </p:sp>
      <p:sp>
        <p:nvSpPr>
          <p:cNvPr id="15" name="Shape 11"/>
          <p:cNvSpPr/>
          <p:nvPr/>
        </p:nvSpPr>
        <p:spPr>
          <a:xfrm>
            <a:off x="533400" y="2371725"/>
            <a:ext cx="6972300" cy="666750"/>
          </a:xfrm>
          <a:custGeom>
            <a:avLst/>
            <a:gdLst/>
            <a:ahLst/>
            <a:cxnLst/>
            <a:rect l="l" t="t" r="r" b="b"/>
            <a:pathLst>
              <a:path w="6972300" h="666750">
                <a:moveTo>
                  <a:pt x="76203" y="0"/>
                </a:moveTo>
                <a:lnTo>
                  <a:pt x="6896097" y="0"/>
                </a:lnTo>
                <a:cubicBezTo>
                  <a:pt x="6938155" y="0"/>
                  <a:pt x="6972300" y="34145"/>
                  <a:pt x="6972300" y="76203"/>
                </a:cubicBezTo>
                <a:lnTo>
                  <a:pt x="6972300" y="590547"/>
                </a:lnTo>
                <a:cubicBezTo>
                  <a:pt x="6972300" y="632605"/>
                  <a:pt x="6938155" y="666750"/>
                  <a:pt x="6896097" y="666750"/>
                </a:cubicBezTo>
                <a:lnTo>
                  <a:pt x="76203" y="666750"/>
                </a:lnTo>
                <a:cubicBezTo>
                  <a:pt x="34145" y="666750"/>
                  <a:pt x="0" y="632605"/>
                  <a:pt x="0" y="590547"/>
                </a:cubicBezTo>
                <a:lnTo>
                  <a:pt x="0" y="76203"/>
                </a:lnTo>
                <a:cubicBezTo>
                  <a:pt x="0" y="34145"/>
                  <a:pt x="34145" y="0"/>
                  <a:pt x="76203" y="0"/>
                </a:cubicBezTo>
                <a:close/>
              </a:path>
            </a:pathLst>
          </a:custGeom>
          <a:solidFill>
            <a:srgbClr val="FFFFFF">
              <a:alpha val="10196"/>
            </a:srgbClr>
          </a:solidFill>
        </p:spPr>
      </p:sp>
      <p:sp>
        <p:nvSpPr>
          <p:cNvPr id="16" name="Shape 12"/>
          <p:cNvSpPr/>
          <p:nvPr/>
        </p:nvSpPr>
        <p:spPr>
          <a:xfrm>
            <a:off x="628650" y="2505075"/>
            <a:ext cx="190500" cy="152400"/>
          </a:xfrm>
          <a:custGeom>
            <a:avLst/>
            <a:gdLst/>
            <a:ahLst/>
            <a:cxnLst/>
            <a:rect l="l" t="t" r="r" b="b"/>
            <a:pathLst>
              <a:path w="190500" h="152400">
                <a:moveTo>
                  <a:pt x="123795" y="62657"/>
                </a:moveTo>
                <a:cubicBezTo>
                  <a:pt x="127427" y="61674"/>
                  <a:pt x="131237" y="63401"/>
                  <a:pt x="132874" y="66764"/>
                </a:cubicBezTo>
                <a:lnTo>
                  <a:pt x="138410" y="77956"/>
                </a:lnTo>
                <a:cubicBezTo>
                  <a:pt x="141476" y="78373"/>
                  <a:pt x="144482" y="79206"/>
                  <a:pt x="147310" y="80367"/>
                </a:cubicBezTo>
                <a:lnTo>
                  <a:pt x="157728" y="73432"/>
                </a:lnTo>
                <a:cubicBezTo>
                  <a:pt x="160853" y="71348"/>
                  <a:pt x="164991" y="71765"/>
                  <a:pt x="167640" y="74414"/>
                </a:cubicBezTo>
                <a:lnTo>
                  <a:pt x="173355" y="80129"/>
                </a:lnTo>
                <a:cubicBezTo>
                  <a:pt x="176004" y="82778"/>
                  <a:pt x="176421" y="86945"/>
                  <a:pt x="174337" y="90041"/>
                </a:cubicBezTo>
                <a:lnTo>
                  <a:pt x="167402" y="100429"/>
                </a:lnTo>
                <a:cubicBezTo>
                  <a:pt x="167967" y="101828"/>
                  <a:pt x="168473" y="103287"/>
                  <a:pt x="168890" y="104805"/>
                </a:cubicBezTo>
                <a:cubicBezTo>
                  <a:pt x="169307" y="106323"/>
                  <a:pt x="169575" y="107811"/>
                  <a:pt x="169783" y="109329"/>
                </a:cubicBezTo>
                <a:lnTo>
                  <a:pt x="181005" y="114866"/>
                </a:lnTo>
                <a:cubicBezTo>
                  <a:pt x="184368" y="116532"/>
                  <a:pt x="186095" y="120342"/>
                  <a:pt x="185112" y="123944"/>
                </a:cubicBezTo>
                <a:lnTo>
                  <a:pt x="183029" y="131743"/>
                </a:lnTo>
                <a:cubicBezTo>
                  <a:pt x="182047" y="135344"/>
                  <a:pt x="178683" y="137785"/>
                  <a:pt x="174933" y="137547"/>
                </a:cubicBezTo>
                <a:lnTo>
                  <a:pt x="162431" y="136743"/>
                </a:lnTo>
                <a:cubicBezTo>
                  <a:pt x="160556" y="139154"/>
                  <a:pt x="158383" y="141387"/>
                  <a:pt x="155912" y="143292"/>
                </a:cubicBezTo>
                <a:lnTo>
                  <a:pt x="156716" y="155764"/>
                </a:lnTo>
                <a:cubicBezTo>
                  <a:pt x="156954" y="159514"/>
                  <a:pt x="154513" y="162907"/>
                  <a:pt x="150912" y="163860"/>
                </a:cubicBezTo>
                <a:lnTo>
                  <a:pt x="143113" y="165943"/>
                </a:lnTo>
                <a:cubicBezTo>
                  <a:pt x="139482" y="166926"/>
                  <a:pt x="135701" y="165199"/>
                  <a:pt x="134035" y="161836"/>
                </a:cubicBezTo>
                <a:lnTo>
                  <a:pt x="128498" y="150644"/>
                </a:lnTo>
                <a:cubicBezTo>
                  <a:pt x="125432" y="150227"/>
                  <a:pt x="122426" y="149394"/>
                  <a:pt x="119598" y="148233"/>
                </a:cubicBezTo>
                <a:lnTo>
                  <a:pt x="109180" y="155168"/>
                </a:lnTo>
                <a:cubicBezTo>
                  <a:pt x="106055" y="157252"/>
                  <a:pt x="101918" y="156835"/>
                  <a:pt x="99268" y="154186"/>
                </a:cubicBezTo>
                <a:lnTo>
                  <a:pt x="93553" y="148471"/>
                </a:lnTo>
                <a:cubicBezTo>
                  <a:pt x="90904" y="145822"/>
                  <a:pt x="90488" y="141684"/>
                  <a:pt x="92571" y="138559"/>
                </a:cubicBezTo>
                <a:lnTo>
                  <a:pt x="99506" y="128141"/>
                </a:lnTo>
                <a:cubicBezTo>
                  <a:pt x="98941" y="126742"/>
                  <a:pt x="98435" y="125284"/>
                  <a:pt x="98018" y="123765"/>
                </a:cubicBezTo>
                <a:cubicBezTo>
                  <a:pt x="97601" y="122247"/>
                  <a:pt x="97334" y="120729"/>
                  <a:pt x="97125" y="119241"/>
                </a:cubicBezTo>
                <a:lnTo>
                  <a:pt x="85904" y="113705"/>
                </a:lnTo>
                <a:cubicBezTo>
                  <a:pt x="82540" y="112038"/>
                  <a:pt x="80843" y="108228"/>
                  <a:pt x="81796" y="104626"/>
                </a:cubicBezTo>
                <a:lnTo>
                  <a:pt x="83880" y="96828"/>
                </a:lnTo>
                <a:cubicBezTo>
                  <a:pt x="84862" y="93226"/>
                  <a:pt x="88225" y="90785"/>
                  <a:pt x="91976" y="91023"/>
                </a:cubicBezTo>
                <a:lnTo>
                  <a:pt x="104448" y="91827"/>
                </a:lnTo>
                <a:cubicBezTo>
                  <a:pt x="106323" y="89416"/>
                  <a:pt x="108496" y="87184"/>
                  <a:pt x="110966" y="85279"/>
                </a:cubicBezTo>
                <a:lnTo>
                  <a:pt x="110163" y="72836"/>
                </a:lnTo>
                <a:cubicBezTo>
                  <a:pt x="109924" y="69086"/>
                  <a:pt x="112365" y="65693"/>
                  <a:pt x="115967" y="64740"/>
                </a:cubicBezTo>
                <a:lnTo>
                  <a:pt x="123765" y="62657"/>
                </a:lnTo>
                <a:close/>
                <a:moveTo>
                  <a:pt x="133469" y="101203"/>
                </a:moveTo>
                <a:cubicBezTo>
                  <a:pt x="126241" y="101211"/>
                  <a:pt x="120379" y="107087"/>
                  <a:pt x="120387" y="114315"/>
                </a:cubicBezTo>
                <a:cubicBezTo>
                  <a:pt x="120395" y="121543"/>
                  <a:pt x="126270" y="127405"/>
                  <a:pt x="133499" y="127397"/>
                </a:cubicBezTo>
                <a:cubicBezTo>
                  <a:pt x="140727" y="127389"/>
                  <a:pt x="146589" y="121513"/>
                  <a:pt x="146581" y="114285"/>
                </a:cubicBezTo>
                <a:cubicBezTo>
                  <a:pt x="146573" y="107057"/>
                  <a:pt x="140697" y="101195"/>
                  <a:pt x="133469" y="101203"/>
                </a:cubicBezTo>
                <a:close/>
                <a:moveTo>
                  <a:pt x="66943" y="-13543"/>
                </a:moveTo>
                <a:lnTo>
                  <a:pt x="74741" y="-11460"/>
                </a:lnTo>
                <a:cubicBezTo>
                  <a:pt x="78343" y="-10477"/>
                  <a:pt x="80784" y="-7084"/>
                  <a:pt x="80546" y="-3364"/>
                </a:cubicBezTo>
                <a:lnTo>
                  <a:pt x="79742" y="9079"/>
                </a:lnTo>
                <a:cubicBezTo>
                  <a:pt x="82213" y="10984"/>
                  <a:pt x="84386" y="13186"/>
                  <a:pt x="86261" y="15627"/>
                </a:cubicBezTo>
                <a:lnTo>
                  <a:pt x="98762" y="14823"/>
                </a:lnTo>
                <a:cubicBezTo>
                  <a:pt x="102483" y="14585"/>
                  <a:pt x="105876" y="17026"/>
                  <a:pt x="106859" y="20628"/>
                </a:cubicBezTo>
                <a:lnTo>
                  <a:pt x="108942" y="28426"/>
                </a:lnTo>
                <a:cubicBezTo>
                  <a:pt x="109895" y="32028"/>
                  <a:pt x="108198" y="35838"/>
                  <a:pt x="104835" y="37505"/>
                </a:cubicBezTo>
                <a:lnTo>
                  <a:pt x="93613" y="43041"/>
                </a:lnTo>
                <a:cubicBezTo>
                  <a:pt x="93405" y="44559"/>
                  <a:pt x="93107" y="46077"/>
                  <a:pt x="92720" y="47565"/>
                </a:cubicBezTo>
                <a:cubicBezTo>
                  <a:pt x="92333" y="49054"/>
                  <a:pt x="91797" y="50542"/>
                  <a:pt x="91232" y="51941"/>
                </a:cubicBezTo>
                <a:lnTo>
                  <a:pt x="98167" y="62359"/>
                </a:lnTo>
                <a:cubicBezTo>
                  <a:pt x="100251" y="65484"/>
                  <a:pt x="99834" y="69622"/>
                  <a:pt x="97185" y="72271"/>
                </a:cubicBezTo>
                <a:lnTo>
                  <a:pt x="91470" y="77986"/>
                </a:lnTo>
                <a:cubicBezTo>
                  <a:pt x="88821" y="80635"/>
                  <a:pt x="84683" y="81052"/>
                  <a:pt x="81558" y="78968"/>
                </a:cubicBezTo>
                <a:lnTo>
                  <a:pt x="71140" y="72033"/>
                </a:lnTo>
                <a:cubicBezTo>
                  <a:pt x="68312" y="73194"/>
                  <a:pt x="65306" y="74027"/>
                  <a:pt x="62240" y="74444"/>
                </a:cubicBezTo>
                <a:lnTo>
                  <a:pt x="56704" y="85636"/>
                </a:lnTo>
                <a:cubicBezTo>
                  <a:pt x="55037" y="88999"/>
                  <a:pt x="51227" y="90696"/>
                  <a:pt x="47625" y="89743"/>
                </a:cubicBezTo>
                <a:lnTo>
                  <a:pt x="39826" y="87660"/>
                </a:lnTo>
                <a:cubicBezTo>
                  <a:pt x="36195" y="86678"/>
                  <a:pt x="33784" y="83284"/>
                  <a:pt x="34022" y="79564"/>
                </a:cubicBezTo>
                <a:lnTo>
                  <a:pt x="34826" y="67092"/>
                </a:lnTo>
                <a:cubicBezTo>
                  <a:pt x="32355" y="65187"/>
                  <a:pt x="30182" y="62984"/>
                  <a:pt x="28307" y="60543"/>
                </a:cubicBezTo>
                <a:lnTo>
                  <a:pt x="15806" y="61347"/>
                </a:lnTo>
                <a:cubicBezTo>
                  <a:pt x="12085" y="61585"/>
                  <a:pt x="8692" y="59144"/>
                  <a:pt x="7709" y="55543"/>
                </a:cubicBezTo>
                <a:lnTo>
                  <a:pt x="5626" y="47744"/>
                </a:lnTo>
                <a:cubicBezTo>
                  <a:pt x="4673" y="44142"/>
                  <a:pt x="6370" y="40332"/>
                  <a:pt x="9733" y="38666"/>
                </a:cubicBezTo>
                <a:lnTo>
                  <a:pt x="20955" y="33129"/>
                </a:lnTo>
                <a:cubicBezTo>
                  <a:pt x="21163" y="31611"/>
                  <a:pt x="21461" y="30123"/>
                  <a:pt x="21848" y="28605"/>
                </a:cubicBezTo>
                <a:cubicBezTo>
                  <a:pt x="22265" y="27087"/>
                  <a:pt x="22741" y="25628"/>
                  <a:pt x="23336" y="24229"/>
                </a:cubicBezTo>
                <a:lnTo>
                  <a:pt x="16401" y="13841"/>
                </a:lnTo>
                <a:cubicBezTo>
                  <a:pt x="14317" y="10716"/>
                  <a:pt x="14734" y="6578"/>
                  <a:pt x="17383" y="3929"/>
                </a:cubicBezTo>
                <a:lnTo>
                  <a:pt x="23098" y="-1786"/>
                </a:lnTo>
                <a:cubicBezTo>
                  <a:pt x="25747" y="-4435"/>
                  <a:pt x="29885" y="-4852"/>
                  <a:pt x="33010" y="-2768"/>
                </a:cubicBezTo>
                <a:lnTo>
                  <a:pt x="43428" y="4167"/>
                </a:lnTo>
                <a:cubicBezTo>
                  <a:pt x="46256" y="3006"/>
                  <a:pt x="49262" y="2173"/>
                  <a:pt x="52328" y="1756"/>
                </a:cubicBezTo>
                <a:lnTo>
                  <a:pt x="57864" y="-9436"/>
                </a:lnTo>
                <a:cubicBezTo>
                  <a:pt x="59531" y="-12799"/>
                  <a:pt x="63311" y="-14496"/>
                  <a:pt x="66943" y="-13543"/>
                </a:cubicBezTo>
                <a:close/>
                <a:moveTo>
                  <a:pt x="57269" y="25003"/>
                </a:moveTo>
                <a:cubicBezTo>
                  <a:pt x="50041" y="25003"/>
                  <a:pt x="44172" y="30872"/>
                  <a:pt x="44172" y="38100"/>
                </a:cubicBezTo>
                <a:cubicBezTo>
                  <a:pt x="44172" y="45328"/>
                  <a:pt x="50041" y="51197"/>
                  <a:pt x="57269" y="51197"/>
                </a:cubicBezTo>
                <a:cubicBezTo>
                  <a:pt x="64497" y="51197"/>
                  <a:pt x="70366" y="45328"/>
                  <a:pt x="70366" y="38100"/>
                </a:cubicBezTo>
                <a:cubicBezTo>
                  <a:pt x="70366" y="30872"/>
                  <a:pt x="64497" y="25003"/>
                  <a:pt x="57269" y="25003"/>
                </a:cubicBezTo>
                <a:close/>
              </a:path>
            </a:pathLst>
          </a:custGeom>
          <a:solidFill>
            <a:srgbClr val="FFFFFF"/>
          </a:solidFill>
        </p:spPr>
      </p:sp>
      <p:sp>
        <p:nvSpPr>
          <p:cNvPr id="17" name="Text 13"/>
          <p:cNvSpPr/>
          <p:nvPr/>
        </p:nvSpPr>
        <p:spPr>
          <a:xfrm>
            <a:off x="819150" y="2466975"/>
            <a:ext cx="6667500"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实现方式</a:t>
            </a:r>
            <a:endParaRPr lang="en-US" sz="1600" dirty="0"/>
          </a:p>
        </p:txBody>
      </p:sp>
      <p:sp>
        <p:nvSpPr>
          <p:cNvPr id="18" name="Text 14"/>
          <p:cNvSpPr/>
          <p:nvPr/>
        </p:nvSpPr>
        <p:spPr>
          <a:xfrm>
            <a:off x="628650" y="2733675"/>
            <a:ext cx="6858000" cy="209550"/>
          </a:xfrm>
          <a:prstGeom prst="rect">
            <a:avLst/>
          </a:prstGeom>
          <a:noFill/>
        </p:spPr>
        <p:txBody>
          <a:bodyPr wrap="square" lIns="0" tIns="0" rIns="0" bIns="0" rtlCol="0" anchor="ctr"/>
          <a:lstStyle/>
          <a:p>
            <a:pPr>
              <a:lnSpc>
                <a:spcPct val="110000"/>
              </a:lnSpc>
            </a:pPr>
            <a:r>
              <a:rPr lang="en-US" sz="1200" dirty="0">
                <a:solidFill>
                  <a:srgbClr val="FFFFFF">
                    <a:alpha val="90000"/>
                  </a:srgbClr>
                </a:solidFill>
                <a:latin typeface="MiSans" pitchFamily="34" charset="-122"/>
                <a:ea typeface="MiSans" pitchFamily="34" charset="-122"/>
                <a:cs typeface="MiSans" pitchFamily="34" charset="-120"/>
              </a:rPr>
              <a:t>定义与编程语言无关的高级恶意行为特征集，支持跨生态知识融合</a:t>
            </a:r>
            <a:endParaRPr lang="en-US" sz="1600" dirty="0"/>
          </a:p>
        </p:txBody>
      </p:sp>
      <p:sp>
        <p:nvSpPr>
          <p:cNvPr id="19" name="Shape 15"/>
          <p:cNvSpPr/>
          <p:nvPr/>
        </p:nvSpPr>
        <p:spPr>
          <a:xfrm>
            <a:off x="533400" y="3114675"/>
            <a:ext cx="6972300" cy="666750"/>
          </a:xfrm>
          <a:custGeom>
            <a:avLst/>
            <a:gdLst/>
            <a:ahLst/>
            <a:cxnLst/>
            <a:rect l="l" t="t" r="r" b="b"/>
            <a:pathLst>
              <a:path w="6972300" h="666750">
                <a:moveTo>
                  <a:pt x="76203" y="0"/>
                </a:moveTo>
                <a:lnTo>
                  <a:pt x="6896097" y="0"/>
                </a:lnTo>
                <a:cubicBezTo>
                  <a:pt x="6938155" y="0"/>
                  <a:pt x="6972300" y="34145"/>
                  <a:pt x="6972300" y="76203"/>
                </a:cubicBezTo>
                <a:lnTo>
                  <a:pt x="6972300" y="590547"/>
                </a:lnTo>
                <a:cubicBezTo>
                  <a:pt x="6972300" y="632605"/>
                  <a:pt x="6938155" y="666750"/>
                  <a:pt x="6896097" y="666750"/>
                </a:cubicBezTo>
                <a:lnTo>
                  <a:pt x="76203" y="666750"/>
                </a:lnTo>
                <a:cubicBezTo>
                  <a:pt x="34145" y="666750"/>
                  <a:pt x="0" y="632605"/>
                  <a:pt x="0" y="590547"/>
                </a:cubicBezTo>
                <a:lnTo>
                  <a:pt x="0" y="76203"/>
                </a:lnTo>
                <a:cubicBezTo>
                  <a:pt x="0" y="34145"/>
                  <a:pt x="34145" y="0"/>
                  <a:pt x="76203" y="0"/>
                </a:cubicBezTo>
                <a:close/>
              </a:path>
            </a:pathLst>
          </a:custGeom>
          <a:solidFill>
            <a:srgbClr val="FFFFFF">
              <a:alpha val="10196"/>
            </a:srgbClr>
          </a:solidFill>
        </p:spPr>
      </p:sp>
      <p:sp>
        <p:nvSpPr>
          <p:cNvPr id="20" name="Shape 16"/>
          <p:cNvSpPr/>
          <p:nvPr/>
        </p:nvSpPr>
        <p:spPr>
          <a:xfrm>
            <a:off x="647700" y="3248025"/>
            <a:ext cx="152400" cy="152400"/>
          </a:xfrm>
          <a:custGeom>
            <a:avLst/>
            <a:gdLst/>
            <a:ahLst/>
            <a:cxnLst/>
            <a:rect l="l" t="t" r="r" b="b"/>
            <a:pathLst>
              <a:path w="152400" h="152400">
                <a:moveTo>
                  <a:pt x="19050" y="19050"/>
                </a:moveTo>
                <a:cubicBezTo>
                  <a:pt x="19050" y="13781"/>
                  <a:pt x="14794" y="9525"/>
                  <a:pt x="9525" y="9525"/>
                </a:cubicBezTo>
                <a:cubicBezTo>
                  <a:pt x="4256" y="9525"/>
                  <a:pt x="0" y="13781"/>
                  <a:pt x="0" y="19050"/>
                </a:cubicBezTo>
                <a:lnTo>
                  <a:pt x="0" y="119062"/>
                </a:lnTo>
                <a:cubicBezTo>
                  <a:pt x="0" y="132219"/>
                  <a:pt x="10656" y="142875"/>
                  <a:pt x="23813" y="142875"/>
                </a:cubicBezTo>
                <a:lnTo>
                  <a:pt x="142875" y="142875"/>
                </a:lnTo>
                <a:cubicBezTo>
                  <a:pt x="148144" y="142875"/>
                  <a:pt x="152400" y="138619"/>
                  <a:pt x="152400" y="133350"/>
                </a:cubicBezTo>
                <a:cubicBezTo>
                  <a:pt x="152400" y="128081"/>
                  <a:pt x="148144" y="123825"/>
                  <a:pt x="142875" y="123825"/>
                </a:cubicBezTo>
                <a:lnTo>
                  <a:pt x="23813" y="123825"/>
                </a:lnTo>
                <a:cubicBezTo>
                  <a:pt x="21193" y="123825"/>
                  <a:pt x="19050" y="121682"/>
                  <a:pt x="19050" y="119062"/>
                </a:cubicBezTo>
                <a:lnTo>
                  <a:pt x="19050" y="19050"/>
                </a:lnTo>
                <a:close/>
                <a:moveTo>
                  <a:pt x="140077" y="44827"/>
                </a:moveTo>
                <a:cubicBezTo>
                  <a:pt x="143798" y="41106"/>
                  <a:pt x="143798" y="35064"/>
                  <a:pt x="140077" y="31343"/>
                </a:cubicBezTo>
                <a:cubicBezTo>
                  <a:pt x="136356" y="27622"/>
                  <a:pt x="130314" y="27622"/>
                  <a:pt x="126593" y="31343"/>
                </a:cubicBezTo>
                <a:lnTo>
                  <a:pt x="95250" y="62716"/>
                </a:lnTo>
                <a:lnTo>
                  <a:pt x="78165" y="45660"/>
                </a:lnTo>
                <a:cubicBezTo>
                  <a:pt x="74444" y="41940"/>
                  <a:pt x="68401" y="41940"/>
                  <a:pt x="64681" y="45660"/>
                </a:cubicBezTo>
                <a:lnTo>
                  <a:pt x="36106" y="74235"/>
                </a:lnTo>
                <a:cubicBezTo>
                  <a:pt x="32385" y="77956"/>
                  <a:pt x="32385" y="83999"/>
                  <a:pt x="36106" y="87719"/>
                </a:cubicBezTo>
                <a:cubicBezTo>
                  <a:pt x="39826" y="91440"/>
                  <a:pt x="45869" y="91440"/>
                  <a:pt x="49590" y="87719"/>
                </a:cubicBezTo>
                <a:lnTo>
                  <a:pt x="71438" y="65871"/>
                </a:lnTo>
                <a:lnTo>
                  <a:pt x="88523" y="82957"/>
                </a:lnTo>
                <a:cubicBezTo>
                  <a:pt x="92244" y="86678"/>
                  <a:pt x="98286" y="86678"/>
                  <a:pt x="102007" y="82957"/>
                </a:cubicBezTo>
                <a:lnTo>
                  <a:pt x="140107" y="44857"/>
                </a:lnTo>
                <a:close/>
              </a:path>
            </a:pathLst>
          </a:custGeom>
          <a:solidFill>
            <a:srgbClr val="FFFFFF"/>
          </a:solidFill>
        </p:spPr>
      </p:sp>
      <p:sp>
        <p:nvSpPr>
          <p:cNvPr id="21" name="Text 17"/>
          <p:cNvSpPr/>
          <p:nvPr/>
        </p:nvSpPr>
        <p:spPr>
          <a:xfrm>
            <a:off x="819150" y="3209925"/>
            <a:ext cx="6667500"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预期效果</a:t>
            </a:r>
            <a:endParaRPr lang="en-US" sz="1600" dirty="0"/>
          </a:p>
        </p:txBody>
      </p:sp>
      <p:sp>
        <p:nvSpPr>
          <p:cNvPr id="22" name="Text 18"/>
          <p:cNvSpPr/>
          <p:nvPr/>
        </p:nvSpPr>
        <p:spPr>
          <a:xfrm>
            <a:off x="628650" y="3476625"/>
            <a:ext cx="6858000" cy="209550"/>
          </a:xfrm>
          <a:prstGeom prst="rect">
            <a:avLst/>
          </a:prstGeom>
          <a:noFill/>
        </p:spPr>
        <p:txBody>
          <a:bodyPr wrap="square" lIns="0" tIns="0" rIns="0" bIns="0" rtlCol="0" anchor="ctr"/>
          <a:lstStyle/>
          <a:p>
            <a:pPr>
              <a:lnSpc>
                <a:spcPct val="110000"/>
              </a:lnSpc>
            </a:pPr>
            <a:r>
              <a:rPr lang="en-US" sz="1200" dirty="0">
                <a:solidFill>
                  <a:srgbClr val="FFFFFF">
                    <a:alpha val="90000"/>
                  </a:srgbClr>
                </a:solidFill>
                <a:latin typeface="MiSans" pitchFamily="34" charset="-122"/>
                <a:ea typeface="MiSans" pitchFamily="34" charset="-122"/>
                <a:cs typeface="MiSans" pitchFamily="34" charset="-120"/>
              </a:rPr>
              <a:t>实现"一石二鸟"，用一个模型解决两个生态系统的检测问题</a:t>
            </a:r>
            <a:endParaRPr lang="en-US" sz="1600" dirty="0"/>
          </a:p>
        </p:txBody>
      </p:sp>
      <p:sp>
        <p:nvSpPr>
          <p:cNvPr id="23" name="Shape 19"/>
          <p:cNvSpPr/>
          <p:nvPr/>
        </p:nvSpPr>
        <p:spPr>
          <a:xfrm>
            <a:off x="381000" y="3886200"/>
            <a:ext cx="7277100" cy="2590800"/>
          </a:xfrm>
          <a:custGeom>
            <a:avLst/>
            <a:gdLst/>
            <a:ahLst/>
            <a:cxnLst/>
            <a:rect l="l" t="t" r="r" b="b"/>
            <a:pathLst>
              <a:path w="7277100" h="2590800">
                <a:moveTo>
                  <a:pt x="76195" y="0"/>
                </a:moveTo>
                <a:lnTo>
                  <a:pt x="7200905" y="0"/>
                </a:lnTo>
                <a:cubicBezTo>
                  <a:pt x="7242958" y="0"/>
                  <a:pt x="7277100" y="34142"/>
                  <a:pt x="7277100" y="76195"/>
                </a:cubicBezTo>
                <a:lnTo>
                  <a:pt x="7277100" y="2514605"/>
                </a:lnTo>
                <a:cubicBezTo>
                  <a:pt x="7277100" y="2556686"/>
                  <a:pt x="7242986" y="2590800"/>
                  <a:pt x="7200905" y="2590800"/>
                </a:cubicBezTo>
                <a:lnTo>
                  <a:pt x="76195" y="2590800"/>
                </a:lnTo>
                <a:cubicBezTo>
                  <a:pt x="34142" y="2590800"/>
                  <a:pt x="0" y="2556658"/>
                  <a:pt x="0" y="2514605"/>
                </a:cubicBezTo>
                <a:lnTo>
                  <a:pt x="0" y="76195"/>
                </a:lnTo>
                <a:cubicBezTo>
                  <a:pt x="0" y="34142"/>
                  <a:pt x="34142" y="0"/>
                  <a:pt x="76195" y="0"/>
                </a:cubicBezTo>
                <a:close/>
              </a:path>
            </a:pathLst>
          </a:custGeom>
          <a:gradFill flip="none" rotWithShape="1">
            <a:gsLst>
              <a:gs pos="0">
                <a:srgbClr val="808080"/>
              </a:gs>
              <a:gs pos="100000">
                <a:srgbClr val="BDBDBD"/>
              </a:gs>
            </a:gsLst>
            <a:lin ang="2700000" scaled="1"/>
          </a:gradFill>
        </p:spPr>
      </p:sp>
      <p:sp>
        <p:nvSpPr>
          <p:cNvPr id="24" name="Shape 20"/>
          <p:cNvSpPr/>
          <p:nvPr/>
        </p:nvSpPr>
        <p:spPr>
          <a:xfrm>
            <a:off x="533400" y="40386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FFFFF">
              <a:alpha val="20000"/>
            </a:srgbClr>
          </a:solidFill>
        </p:spPr>
      </p:sp>
      <p:sp>
        <p:nvSpPr>
          <p:cNvPr id="25" name="Text 21"/>
          <p:cNvSpPr/>
          <p:nvPr/>
        </p:nvSpPr>
        <p:spPr>
          <a:xfrm>
            <a:off x="670322" y="4095750"/>
            <a:ext cx="200025" cy="266700"/>
          </a:xfrm>
          <a:prstGeom prst="rect">
            <a:avLst/>
          </a:prstGeom>
          <a:noFill/>
        </p:spPr>
        <p:txBody>
          <a:bodyPr wrap="square" lIns="0" tIns="0" rIns="0" bIns="0" rtlCol="0" anchor="ctr"/>
          <a:lstStyle/>
          <a:p>
            <a:pPr>
              <a:lnSpc>
                <a:spcPct val="120000"/>
              </a:lnSpc>
            </a:pPr>
            <a:r>
              <a:rPr lang="en-US" sz="1500" b="1" dirty="0">
                <a:solidFill>
                  <a:srgbClr val="FFFFFF"/>
                </a:solidFill>
                <a:latin typeface="MiSans" pitchFamily="34" charset="-122"/>
                <a:ea typeface="MiSans" pitchFamily="34" charset="-122"/>
                <a:cs typeface="MiSans" pitchFamily="34" charset="-120"/>
              </a:rPr>
              <a:t>2</a:t>
            </a:r>
            <a:endParaRPr lang="en-US" sz="1600" dirty="0"/>
          </a:p>
        </p:txBody>
      </p:sp>
      <p:sp>
        <p:nvSpPr>
          <p:cNvPr id="26" name="Text 22"/>
          <p:cNvSpPr/>
          <p:nvPr/>
        </p:nvSpPr>
        <p:spPr>
          <a:xfrm>
            <a:off x="1028700" y="4095750"/>
            <a:ext cx="1619250" cy="266700"/>
          </a:xfrm>
          <a:prstGeom prst="rect">
            <a:avLst/>
          </a:prstGeom>
          <a:noFill/>
        </p:spPr>
        <p:txBody>
          <a:bodyPr wrap="square" lIns="0" tIns="0" rIns="0" bIns="0" rtlCol="0" anchor="ctr"/>
          <a:lstStyle/>
          <a:p>
            <a:pPr>
              <a:lnSpc>
                <a:spcPct val="120000"/>
              </a:lnSpc>
            </a:pPr>
            <a:r>
              <a:rPr lang="en-US" sz="1500" b="1" dirty="0">
                <a:solidFill>
                  <a:srgbClr val="FFFFFF"/>
                </a:solidFill>
                <a:latin typeface="MiSans" pitchFamily="34" charset="-122"/>
                <a:ea typeface="MiSans" pitchFamily="34" charset="-122"/>
                <a:cs typeface="MiSans" pitchFamily="34" charset="-120"/>
              </a:rPr>
              <a:t>建模恶意行为序列</a:t>
            </a:r>
            <a:endParaRPr lang="en-US" sz="1600" dirty="0"/>
          </a:p>
        </p:txBody>
      </p:sp>
      <p:sp>
        <p:nvSpPr>
          <p:cNvPr id="27" name="Shape 23"/>
          <p:cNvSpPr/>
          <p:nvPr/>
        </p:nvSpPr>
        <p:spPr>
          <a:xfrm>
            <a:off x="533400" y="4333875"/>
            <a:ext cx="6972300" cy="666750"/>
          </a:xfrm>
          <a:custGeom>
            <a:avLst/>
            <a:gdLst/>
            <a:ahLst/>
            <a:cxnLst/>
            <a:rect l="l" t="t" r="r" b="b"/>
            <a:pathLst>
              <a:path w="6972300" h="666750">
                <a:moveTo>
                  <a:pt x="76203" y="0"/>
                </a:moveTo>
                <a:lnTo>
                  <a:pt x="6896097" y="0"/>
                </a:lnTo>
                <a:cubicBezTo>
                  <a:pt x="6938155" y="0"/>
                  <a:pt x="6972300" y="34145"/>
                  <a:pt x="6972300" y="76203"/>
                </a:cubicBezTo>
                <a:lnTo>
                  <a:pt x="6972300" y="590547"/>
                </a:lnTo>
                <a:cubicBezTo>
                  <a:pt x="6972300" y="632605"/>
                  <a:pt x="6938155" y="666750"/>
                  <a:pt x="6896097" y="666750"/>
                </a:cubicBezTo>
                <a:lnTo>
                  <a:pt x="76203" y="666750"/>
                </a:lnTo>
                <a:cubicBezTo>
                  <a:pt x="34145" y="666750"/>
                  <a:pt x="0" y="632605"/>
                  <a:pt x="0" y="590547"/>
                </a:cubicBezTo>
                <a:lnTo>
                  <a:pt x="0" y="76203"/>
                </a:lnTo>
                <a:cubicBezTo>
                  <a:pt x="0" y="34145"/>
                  <a:pt x="34145" y="0"/>
                  <a:pt x="76203" y="0"/>
                </a:cubicBezTo>
                <a:close/>
              </a:path>
            </a:pathLst>
          </a:custGeom>
          <a:solidFill>
            <a:srgbClr val="FFFFFF">
              <a:alpha val="10196"/>
            </a:srgbClr>
          </a:solidFill>
        </p:spPr>
      </p:sp>
      <p:sp>
        <p:nvSpPr>
          <p:cNvPr id="28" name="Shape 24"/>
          <p:cNvSpPr/>
          <p:nvPr/>
        </p:nvSpPr>
        <p:spPr>
          <a:xfrm>
            <a:off x="666750" y="4467225"/>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FFFFFF"/>
          </a:solidFill>
        </p:spPr>
      </p:sp>
      <p:sp>
        <p:nvSpPr>
          <p:cNvPr id="29" name="Text 25"/>
          <p:cNvSpPr/>
          <p:nvPr/>
        </p:nvSpPr>
        <p:spPr>
          <a:xfrm>
            <a:off x="819150" y="4429125"/>
            <a:ext cx="6667500"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核心洞察</a:t>
            </a:r>
            <a:endParaRPr lang="en-US" sz="1600" dirty="0"/>
          </a:p>
        </p:txBody>
      </p:sp>
      <p:sp>
        <p:nvSpPr>
          <p:cNvPr id="30" name="Text 26"/>
          <p:cNvSpPr/>
          <p:nvPr/>
        </p:nvSpPr>
        <p:spPr>
          <a:xfrm>
            <a:off x="628650" y="4695825"/>
            <a:ext cx="6858000" cy="209550"/>
          </a:xfrm>
          <a:prstGeom prst="rect">
            <a:avLst/>
          </a:prstGeom>
          <a:noFill/>
        </p:spPr>
        <p:txBody>
          <a:bodyPr wrap="square" lIns="0" tIns="0" rIns="0" bIns="0" rtlCol="0" anchor="ctr"/>
          <a:lstStyle/>
          <a:p>
            <a:pPr>
              <a:lnSpc>
                <a:spcPct val="110000"/>
              </a:lnSpc>
            </a:pPr>
            <a:r>
              <a:rPr lang="en-US" sz="1200" b="1" dirty="0">
                <a:solidFill>
                  <a:srgbClr val="FFFFFF">
                    <a:alpha val="90000"/>
                  </a:srgbClr>
                </a:solidFill>
                <a:latin typeface="MiSans" pitchFamily="34" charset="-122"/>
                <a:ea typeface="MiSans" pitchFamily="34" charset="-122"/>
                <a:cs typeface="MiSans" pitchFamily="34" charset="-120"/>
              </a:rPr>
              <a:t>首次明确提出</a:t>
            </a:r>
            <a:r>
              <a:rPr lang="en-US" sz="1200" dirty="0">
                <a:solidFill>
                  <a:srgbClr val="FFFFFF">
                    <a:alpha val="90000"/>
                  </a:srgbClr>
                </a:solidFill>
                <a:latin typeface="MiSans" pitchFamily="34" charset="-122"/>
                <a:ea typeface="MiSans" pitchFamily="34" charset="-122"/>
                <a:cs typeface="MiSans" pitchFamily="34" charset="-120"/>
              </a:rPr>
              <a:t> 并建模恶意软件的行为序列</a:t>
            </a:r>
            <a:endParaRPr lang="en-US" sz="1600" dirty="0"/>
          </a:p>
        </p:txBody>
      </p:sp>
      <p:sp>
        <p:nvSpPr>
          <p:cNvPr id="31" name="Shape 27"/>
          <p:cNvSpPr/>
          <p:nvPr/>
        </p:nvSpPr>
        <p:spPr>
          <a:xfrm>
            <a:off x="533400" y="5076825"/>
            <a:ext cx="6972300" cy="666750"/>
          </a:xfrm>
          <a:custGeom>
            <a:avLst/>
            <a:gdLst/>
            <a:ahLst/>
            <a:cxnLst/>
            <a:rect l="l" t="t" r="r" b="b"/>
            <a:pathLst>
              <a:path w="6972300" h="666750">
                <a:moveTo>
                  <a:pt x="76203" y="0"/>
                </a:moveTo>
                <a:lnTo>
                  <a:pt x="6896097" y="0"/>
                </a:lnTo>
                <a:cubicBezTo>
                  <a:pt x="6938155" y="0"/>
                  <a:pt x="6972300" y="34145"/>
                  <a:pt x="6972300" y="76203"/>
                </a:cubicBezTo>
                <a:lnTo>
                  <a:pt x="6972300" y="590547"/>
                </a:lnTo>
                <a:cubicBezTo>
                  <a:pt x="6972300" y="632605"/>
                  <a:pt x="6938155" y="666750"/>
                  <a:pt x="6896097" y="666750"/>
                </a:cubicBezTo>
                <a:lnTo>
                  <a:pt x="76203" y="666750"/>
                </a:lnTo>
                <a:cubicBezTo>
                  <a:pt x="34145" y="666750"/>
                  <a:pt x="0" y="632605"/>
                  <a:pt x="0" y="590547"/>
                </a:cubicBezTo>
                <a:lnTo>
                  <a:pt x="0" y="76203"/>
                </a:lnTo>
                <a:cubicBezTo>
                  <a:pt x="0" y="34145"/>
                  <a:pt x="34145" y="0"/>
                  <a:pt x="76203" y="0"/>
                </a:cubicBezTo>
                <a:close/>
              </a:path>
            </a:pathLst>
          </a:custGeom>
          <a:solidFill>
            <a:srgbClr val="FFFFFF">
              <a:alpha val="10196"/>
            </a:srgbClr>
          </a:solidFill>
        </p:spPr>
      </p:sp>
      <p:sp>
        <p:nvSpPr>
          <p:cNvPr id="32" name="Shape 28"/>
          <p:cNvSpPr/>
          <p:nvPr/>
        </p:nvSpPr>
        <p:spPr>
          <a:xfrm>
            <a:off x="647700" y="5210175"/>
            <a:ext cx="152400" cy="152400"/>
          </a:xfrm>
          <a:custGeom>
            <a:avLst/>
            <a:gdLst/>
            <a:ahLst/>
            <a:cxnLst/>
            <a:rect l="l" t="t" r="r" b="b"/>
            <a:pathLst>
              <a:path w="152400" h="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FFFFFF"/>
          </a:solidFill>
        </p:spPr>
      </p:sp>
      <p:sp>
        <p:nvSpPr>
          <p:cNvPr id="33" name="Text 29"/>
          <p:cNvSpPr/>
          <p:nvPr/>
        </p:nvSpPr>
        <p:spPr>
          <a:xfrm>
            <a:off x="819150" y="5172075"/>
            <a:ext cx="6667500"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攻击模式</a:t>
            </a:r>
            <a:endParaRPr lang="en-US" sz="1600" dirty="0"/>
          </a:p>
        </p:txBody>
      </p:sp>
      <p:sp>
        <p:nvSpPr>
          <p:cNvPr id="34" name="Text 30"/>
          <p:cNvSpPr/>
          <p:nvPr/>
        </p:nvSpPr>
        <p:spPr>
          <a:xfrm>
            <a:off x="628650" y="5438775"/>
            <a:ext cx="6858000" cy="209550"/>
          </a:xfrm>
          <a:prstGeom prst="rect">
            <a:avLst/>
          </a:prstGeom>
          <a:noFill/>
        </p:spPr>
        <p:txBody>
          <a:bodyPr wrap="square" lIns="0" tIns="0" rIns="0" bIns="0" rtlCol="0" anchor="ctr"/>
          <a:lstStyle/>
          <a:p>
            <a:pPr>
              <a:lnSpc>
                <a:spcPct val="110000"/>
              </a:lnSpc>
            </a:pPr>
            <a:r>
              <a:rPr lang="en-US" sz="1200" dirty="0">
                <a:solidFill>
                  <a:srgbClr val="FFFFFF">
                    <a:alpha val="90000"/>
                  </a:srgbClr>
                </a:solidFill>
                <a:latin typeface="MiSans" pitchFamily="34" charset="-122"/>
                <a:ea typeface="MiSans" pitchFamily="34" charset="-122"/>
                <a:cs typeface="MiSans" pitchFamily="34" charset="-120"/>
              </a:rPr>
              <a:t>恶意攻击通常由一系列有逻辑顺序的可疑活动构成（信息收集→数据外泄→负载执行）</a:t>
            </a:r>
            <a:endParaRPr lang="en-US" sz="1600" dirty="0"/>
          </a:p>
        </p:txBody>
      </p:sp>
      <p:sp>
        <p:nvSpPr>
          <p:cNvPr id="35" name="Shape 31"/>
          <p:cNvSpPr/>
          <p:nvPr/>
        </p:nvSpPr>
        <p:spPr>
          <a:xfrm>
            <a:off x="533400" y="5819775"/>
            <a:ext cx="6972300" cy="666750"/>
          </a:xfrm>
          <a:custGeom>
            <a:avLst/>
            <a:gdLst/>
            <a:ahLst/>
            <a:cxnLst/>
            <a:rect l="l" t="t" r="r" b="b"/>
            <a:pathLst>
              <a:path w="6972300" h="666750">
                <a:moveTo>
                  <a:pt x="76203" y="0"/>
                </a:moveTo>
                <a:lnTo>
                  <a:pt x="6896097" y="0"/>
                </a:lnTo>
                <a:cubicBezTo>
                  <a:pt x="6938155" y="0"/>
                  <a:pt x="6972300" y="34145"/>
                  <a:pt x="6972300" y="76203"/>
                </a:cubicBezTo>
                <a:lnTo>
                  <a:pt x="6972300" y="590547"/>
                </a:lnTo>
                <a:cubicBezTo>
                  <a:pt x="6972300" y="632605"/>
                  <a:pt x="6938155" y="666750"/>
                  <a:pt x="6896097" y="666750"/>
                </a:cubicBezTo>
                <a:lnTo>
                  <a:pt x="76203" y="666750"/>
                </a:lnTo>
                <a:cubicBezTo>
                  <a:pt x="34145" y="666750"/>
                  <a:pt x="0" y="632605"/>
                  <a:pt x="0" y="590547"/>
                </a:cubicBezTo>
                <a:lnTo>
                  <a:pt x="0" y="76203"/>
                </a:lnTo>
                <a:cubicBezTo>
                  <a:pt x="0" y="34145"/>
                  <a:pt x="34145" y="0"/>
                  <a:pt x="76203" y="0"/>
                </a:cubicBezTo>
                <a:close/>
              </a:path>
            </a:pathLst>
          </a:custGeom>
          <a:solidFill>
            <a:srgbClr val="FFFFFF">
              <a:alpha val="10196"/>
            </a:srgbClr>
          </a:solidFill>
        </p:spPr>
      </p:sp>
      <p:sp>
        <p:nvSpPr>
          <p:cNvPr id="36" name="Shape 32"/>
          <p:cNvSpPr/>
          <p:nvPr/>
        </p:nvSpPr>
        <p:spPr>
          <a:xfrm>
            <a:off x="647700" y="5953125"/>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FFFFFF"/>
          </a:solidFill>
        </p:spPr>
      </p:sp>
      <p:sp>
        <p:nvSpPr>
          <p:cNvPr id="37" name="Text 33"/>
          <p:cNvSpPr/>
          <p:nvPr/>
        </p:nvSpPr>
        <p:spPr>
          <a:xfrm>
            <a:off x="819150" y="5915025"/>
            <a:ext cx="6667500"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技术方案</a:t>
            </a:r>
            <a:endParaRPr lang="en-US" sz="1600" dirty="0"/>
          </a:p>
        </p:txBody>
      </p:sp>
      <p:sp>
        <p:nvSpPr>
          <p:cNvPr id="38" name="Text 34"/>
          <p:cNvSpPr/>
          <p:nvPr/>
        </p:nvSpPr>
        <p:spPr>
          <a:xfrm>
            <a:off x="628650" y="6181725"/>
            <a:ext cx="6858000" cy="209550"/>
          </a:xfrm>
          <a:prstGeom prst="rect">
            <a:avLst/>
          </a:prstGeom>
          <a:noFill/>
        </p:spPr>
        <p:txBody>
          <a:bodyPr wrap="square" lIns="0" tIns="0" rIns="0" bIns="0" rtlCol="0" anchor="ctr"/>
          <a:lstStyle/>
          <a:p>
            <a:pPr>
              <a:lnSpc>
                <a:spcPct val="110000"/>
              </a:lnSpc>
            </a:pPr>
            <a:r>
              <a:rPr lang="en-US" sz="1200" dirty="0">
                <a:solidFill>
                  <a:srgbClr val="FFFFFF">
                    <a:alpha val="90000"/>
                  </a:srgbClr>
                </a:solidFill>
                <a:latin typeface="MiSans" pitchFamily="34" charset="-122"/>
                <a:ea typeface="MiSans" pitchFamily="34" charset="-122"/>
                <a:cs typeface="MiSans" pitchFamily="34" charset="-120"/>
              </a:rPr>
              <a:t>通过分析代码调用图，将行为特征组织成执行序列，利用预训练语言模型理解序列语义</a:t>
            </a:r>
            <a:endParaRPr lang="en-US" sz="1600" dirty="0"/>
          </a:p>
        </p:txBody>
      </p:sp>
      <p:sp>
        <p:nvSpPr>
          <p:cNvPr id="39" name="Shape 35"/>
          <p:cNvSpPr/>
          <p:nvPr/>
        </p:nvSpPr>
        <p:spPr>
          <a:xfrm>
            <a:off x="7829550" y="1181100"/>
            <a:ext cx="3981450" cy="2609850"/>
          </a:xfrm>
          <a:custGeom>
            <a:avLst/>
            <a:gdLst/>
            <a:ahLst/>
            <a:cxnLst/>
            <a:rect l="l" t="t" r="r" b="b"/>
            <a:pathLst>
              <a:path w="3981450" h="2609850">
                <a:moveTo>
                  <a:pt x="38100" y="0"/>
                </a:moveTo>
                <a:lnTo>
                  <a:pt x="3905242" y="0"/>
                </a:lnTo>
                <a:cubicBezTo>
                  <a:pt x="3947331" y="0"/>
                  <a:pt x="3981450" y="34119"/>
                  <a:pt x="3981450" y="76208"/>
                </a:cubicBezTo>
                <a:lnTo>
                  <a:pt x="3981450" y="2533642"/>
                </a:lnTo>
                <a:cubicBezTo>
                  <a:pt x="3981450" y="2575731"/>
                  <a:pt x="3947331" y="2609850"/>
                  <a:pt x="3905242" y="2609850"/>
                </a:cubicBezTo>
                <a:lnTo>
                  <a:pt x="38100" y="2609850"/>
                </a:lnTo>
                <a:cubicBezTo>
                  <a:pt x="17072" y="2609850"/>
                  <a:pt x="0" y="2592778"/>
                  <a:pt x="0" y="2571750"/>
                </a:cubicBezTo>
                <a:lnTo>
                  <a:pt x="0" y="38100"/>
                </a:lnTo>
                <a:cubicBezTo>
                  <a:pt x="0" y="17072"/>
                  <a:pt x="17072" y="0"/>
                  <a:pt x="38100" y="0"/>
                </a:cubicBezTo>
                <a:close/>
              </a:path>
            </a:pathLst>
          </a:custGeom>
          <a:solidFill>
            <a:srgbClr val="4A4A4A">
              <a:alpha val="5098"/>
            </a:srgbClr>
          </a:solidFill>
        </p:spPr>
      </p:sp>
      <p:sp>
        <p:nvSpPr>
          <p:cNvPr id="40" name="Shape 36"/>
          <p:cNvSpPr/>
          <p:nvPr/>
        </p:nvSpPr>
        <p:spPr>
          <a:xfrm>
            <a:off x="7829550" y="1181100"/>
            <a:ext cx="38100" cy="2609850"/>
          </a:xfrm>
          <a:custGeom>
            <a:avLst/>
            <a:gdLst/>
            <a:ahLst/>
            <a:cxnLst/>
            <a:rect l="l" t="t" r="r" b="b"/>
            <a:pathLst>
              <a:path w="38100" h="2609850">
                <a:moveTo>
                  <a:pt x="38100" y="0"/>
                </a:moveTo>
                <a:lnTo>
                  <a:pt x="38100" y="0"/>
                </a:lnTo>
                <a:lnTo>
                  <a:pt x="38100" y="2609850"/>
                </a:lnTo>
                <a:lnTo>
                  <a:pt x="38100" y="2609850"/>
                </a:lnTo>
                <a:cubicBezTo>
                  <a:pt x="17072" y="2609850"/>
                  <a:pt x="0" y="2592778"/>
                  <a:pt x="0" y="2571750"/>
                </a:cubicBezTo>
                <a:lnTo>
                  <a:pt x="0" y="38100"/>
                </a:lnTo>
                <a:cubicBezTo>
                  <a:pt x="0" y="17072"/>
                  <a:pt x="17072" y="0"/>
                  <a:pt x="38100" y="0"/>
                </a:cubicBezTo>
                <a:close/>
              </a:path>
            </a:pathLst>
          </a:custGeom>
          <a:solidFill>
            <a:srgbClr val="4A4A4A"/>
          </a:solidFill>
        </p:spPr>
      </p:sp>
      <p:sp>
        <p:nvSpPr>
          <p:cNvPr id="41" name="Shape 37"/>
          <p:cNvSpPr/>
          <p:nvPr/>
        </p:nvSpPr>
        <p:spPr>
          <a:xfrm>
            <a:off x="7997428" y="1343025"/>
            <a:ext cx="150019" cy="171450"/>
          </a:xfrm>
          <a:custGeom>
            <a:avLst/>
            <a:gdLst/>
            <a:ahLst/>
            <a:cxnLst/>
            <a:rect l="l" t="t" r="r" b="b"/>
            <a:pathLst>
              <a:path w="150019" h="171450">
                <a:moveTo>
                  <a:pt x="96441" y="0"/>
                </a:moveTo>
                <a:lnTo>
                  <a:pt x="42863" y="0"/>
                </a:lnTo>
                <a:cubicBezTo>
                  <a:pt x="36935" y="0"/>
                  <a:pt x="32147" y="4789"/>
                  <a:pt x="32147" y="10716"/>
                </a:cubicBezTo>
                <a:cubicBezTo>
                  <a:pt x="32147" y="16643"/>
                  <a:pt x="36935" y="21431"/>
                  <a:pt x="42863" y="21431"/>
                </a:cubicBezTo>
                <a:lnTo>
                  <a:pt x="42863" y="72163"/>
                </a:lnTo>
                <a:lnTo>
                  <a:pt x="2511" y="142752"/>
                </a:lnTo>
                <a:cubicBezTo>
                  <a:pt x="871" y="145666"/>
                  <a:pt x="0" y="148914"/>
                  <a:pt x="0" y="152262"/>
                </a:cubicBezTo>
                <a:cubicBezTo>
                  <a:pt x="0" y="162878"/>
                  <a:pt x="8573" y="171450"/>
                  <a:pt x="19188" y="171450"/>
                </a:cubicBezTo>
                <a:lnTo>
                  <a:pt x="130831" y="171450"/>
                </a:lnTo>
                <a:cubicBezTo>
                  <a:pt x="141413" y="171450"/>
                  <a:pt x="150019" y="162878"/>
                  <a:pt x="150019" y="152262"/>
                </a:cubicBezTo>
                <a:cubicBezTo>
                  <a:pt x="150019" y="148914"/>
                  <a:pt x="149148" y="145632"/>
                  <a:pt x="147507" y="142752"/>
                </a:cubicBezTo>
                <a:lnTo>
                  <a:pt x="107156" y="72163"/>
                </a:lnTo>
                <a:lnTo>
                  <a:pt x="107156" y="21431"/>
                </a:lnTo>
                <a:cubicBezTo>
                  <a:pt x="113083" y="21431"/>
                  <a:pt x="117872" y="16643"/>
                  <a:pt x="117872" y="10716"/>
                </a:cubicBezTo>
                <a:cubicBezTo>
                  <a:pt x="117872" y="4789"/>
                  <a:pt x="113083" y="0"/>
                  <a:pt x="107156" y="0"/>
                </a:cubicBezTo>
                <a:lnTo>
                  <a:pt x="96441" y="0"/>
                </a:lnTo>
                <a:close/>
                <a:moveTo>
                  <a:pt x="64294" y="72163"/>
                </a:moveTo>
                <a:lnTo>
                  <a:pt x="64294" y="21431"/>
                </a:lnTo>
                <a:lnTo>
                  <a:pt x="85725" y="21431"/>
                </a:lnTo>
                <a:lnTo>
                  <a:pt x="85725" y="72163"/>
                </a:lnTo>
                <a:cubicBezTo>
                  <a:pt x="85725" y="75880"/>
                  <a:pt x="86696" y="79564"/>
                  <a:pt x="88538" y="82812"/>
                </a:cubicBezTo>
                <a:lnTo>
                  <a:pt x="102468" y="107156"/>
                </a:lnTo>
                <a:lnTo>
                  <a:pt x="47551" y="107156"/>
                </a:lnTo>
                <a:lnTo>
                  <a:pt x="61481" y="82812"/>
                </a:lnTo>
                <a:cubicBezTo>
                  <a:pt x="63323" y="79564"/>
                  <a:pt x="64294" y="75914"/>
                  <a:pt x="64294" y="72163"/>
                </a:cubicBezTo>
                <a:close/>
              </a:path>
            </a:pathLst>
          </a:custGeom>
          <a:solidFill>
            <a:srgbClr val="4A4A4A"/>
          </a:solidFill>
        </p:spPr>
      </p:sp>
      <p:sp>
        <p:nvSpPr>
          <p:cNvPr id="42" name="Text 38"/>
          <p:cNvSpPr/>
          <p:nvPr/>
        </p:nvSpPr>
        <p:spPr>
          <a:xfrm>
            <a:off x="8181975" y="1295400"/>
            <a:ext cx="3600450"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动机案例1</a:t>
            </a:r>
            <a:endParaRPr lang="en-US" sz="1600" dirty="0"/>
          </a:p>
        </p:txBody>
      </p:sp>
      <p:sp>
        <p:nvSpPr>
          <p:cNvPr id="43" name="Shape 39"/>
          <p:cNvSpPr/>
          <p:nvPr/>
        </p:nvSpPr>
        <p:spPr>
          <a:xfrm>
            <a:off x="7962900" y="1638300"/>
            <a:ext cx="3733800" cy="2038350"/>
          </a:xfrm>
          <a:custGeom>
            <a:avLst/>
            <a:gdLst/>
            <a:ahLst/>
            <a:cxnLst/>
            <a:rect l="l" t="t" r="r" b="b"/>
            <a:pathLst>
              <a:path w="3733800" h="2038350">
                <a:moveTo>
                  <a:pt x="76194" y="0"/>
                </a:moveTo>
                <a:lnTo>
                  <a:pt x="3657606" y="0"/>
                </a:lnTo>
                <a:cubicBezTo>
                  <a:pt x="3699687" y="0"/>
                  <a:pt x="3733800" y="34113"/>
                  <a:pt x="3733800" y="76194"/>
                </a:cubicBezTo>
                <a:lnTo>
                  <a:pt x="3733800" y="1962156"/>
                </a:lnTo>
                <a:cubicBezTo>
                  <a:pt x="3733800" y="2004237"/>
                  <a:pt x="3699687" y="2038350"/>
                  <a:pt x="3657606" y="2038350"/>
                </a:cubicBezTo>
                <a:lnTo>
                  <a:pt x="76194" y="2038350"/>
                </a:lnTo>
                <a:cubicBezTo>
                  <a:pt x="34113" y="2038350"/>
                  <a:pt x="0" y="2004237"/>
                  <a:pt x="0" y="1962156"/>
                </a:cubicBezTo>
                <a:lnTo>
                  <a:pt x="0" y="76194"/>
                </a:lnTo>
                <a:cubicBezTo>
                  <a:pt x="0" y="34113"/>
                  <a:pt x="34113" y="0"/>
                  <a:pt x="76194" y="0"/>
                </a:cubicBezTo>
                <a:close/>
              </a:path>
            </a:pathLst>
          </a:custGeom>
          <a:solidFill>
            <a:srgbClr val="FFFFFF"/>
          </a:solidFill>
          <a:effectLst>
            <a:outerShdw blurRad="28575" dist="9525" dir="5400000" algn="bl" rotWithShape="0">
              <a:srgbClr val="000000">
                <a:alpha val="10196"/>
              </a:srgbClr>
            </a:outerShdw>
          </a:effectLst>
        </p:spPr>
      </p:sp>
      <p:sp>
        <p:nvSpPr>
          <p:cNvPr id="44" name="Text 40"/>
          <p:cNvSpPr/>
          <p:nvPr/>
        </p:nvSpPr>
        <p:spPr>
          <a:xfrm>
            <a:off x="8077200" y="1943100"/>
            <a:ext cx="35814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跨生态系统恶意行为相似性</a:t>
            </a:r>
            <a:endParaRPr lang="en-US" sz="1600" dirty="0"/>
          </a:p>
        </p:txBody>
      </p:sp>
      <p:sp>
        <p:nvSpPr>
          <p:cNvPr id="45" name="Text 41"/>
          <p:cNvSpPr/>
          <p:nvPr/>
        </p:nvSpPr>
        <p:spPr>
          <a:xfrm>
            <a:off x="8077200" y="2209800"/>
            <a:ext cx="3581400" cy="2095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分析PyPI包dpp_client-1.0.3和NPM包botbait-1.0.0</a:t>
            </a:r>
            <a:endParaRPr lang="en-US" sz="1600" dirty="0"/>
          </a:p>
        </p:txBody>
      </p:sp>
      <p:sp>
        <p:nvSpPr>
          <p:cNvPr id="46" name="Shape 42"/>
          <p:cNvSpPr/>
          <p:nvPr/>
        </p:nvSpPr>
        <p:spPr>
          <a:xfrm>
            <a:off x="8096250" y="253365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4A4A4A"/>
          </a:solidFill>
        </p:spPr>
      </p:sp>
      <p:sp>
        <p:nvSpPr>
          <p:cNvPr id="47" name="Text 43"/>
          <p:cNvSpPr/>
          <p:nvPr/>
        </p:nvSpPr>
        <p:spPr>
          <a:xfrm>
            <a:off x="8343900" y="2495550"/>
            <a:ext cx="2867025"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信息读取：</a:t>
            </a:r>
            <a:r>
              <a:rPr lang="en-US" sz="1200" dirty="0">
                <a:solidFill>
                  <a:srgbClr val="808080"/>
                </a:solidFill>
                <a:latin typeface="MiSans" pitchFamily="34" charset="-122"/>
                <a:ea typeface="MiSans" pitchFamily="34" charset="-122"/>
                <a:cs typeface="MiSans" pitchFamily="34" charset="-120"/>
              </a:rPr>
              <a:t> 都执行命令收集敏感系统信息</a:t>
            </a:r>
            <a:endParaRPr lang="en-US" sz="1600" dirty="0"/>
          </a:p>
        </p:txBody>
      </p:sp>
      <p:sp>
        <p:nvSpPr>
          <p:cNvPr id="48" name="Shape 44"/>
          <p:cNvSpPr/>
          <p:nvPr/>
        </p:nvSpPr>
        <p:spPr>
          <a:xfrm>
            <a:off x="8096250" y="280035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4A4A4A"/>
          </a:solidFill>
        </p:spPr>
      </p:sp>
      <p:sp>
        <p:nvSpPr>
          <p:cNvPr id="49" name="Text 45"/>
          <p:cNvSpPr/>
          <p:nvPr/>
        </p:nvSpPr>
        <p:spPr>
          <a:xfrm>
            <a:off x="8343900" y="2762250"/>
            <a:ext cx="3019425"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数据传输：</a:t>
            </a:r>
            <a:r>
              <a:rPr lang="en-US" sz="1200" dirty="0">
                <a:solidFill>
                  <a:srgbClr val="808080"/>
                </a:solidFill>
                <a:latin typeface="MiSans" pitchFamily="34" charset="-122"/>
                <a:ea typeface="MiSans" pitchFamily="34" charset="-122"/>
                <a:cs typeface="MiSans" pitchFamily="34" charset="-120"/>
              </a:rPr>
              <a:t> 都将窃取信息发送到远程服务器</a:t>
            </a:r>
            <a:endParaRPr lang="en-US" sz="1600" dirty="0"/>
          </a:p>
        </p:txBody>
      </p:sp>
      <p:sp>
        <p:nvSpPr>
          <p:cNvPr id="50" name="Shape 46"/>
          <p:cNvSpPr/>
          <p:nvPr/>
        </p:nvSpPr>
        <p:spPr>
          <a:xfrm>
            <a:off x="8077200" y="3048000"/>
            <a:ext cx="3505200" cy="323850"/>
          </a:xfrm>
          <a:custGeom>
            <a:avLst/>
            <a:gdLst/>
            <a:ahLst/>
            <a:cxnLst/>
            <a:rect l="l" t="t" r="r" b="b"/>
            <a:pathLst>
              <a:path w="3505200" h="323850">
                <a:moveTo>
                  <a:pt x="38101" y="0"/>
                </a:moveTo>
                <a:lnTo>
                  <a:pt x="3467099" y="0"/>
                </a:lnTo>
                <a:cubicBezTo>
                  <a:pt x="3488142" y="0"/>
                  <a:pt x="3505200" y="17058"/>
                  <a:pt x="3505200" y="38101"/>
                </a:cubicBezTo>
                <a:lnTo>
                  <a:pt x="3505200" y="285749"/>
                </a:lnTo>
                <a:cubicBezTo>
                  <a:pt x="3505200" y="306792"/>
                  <a:pt x="3488142" y="323850"/>
                  <a:pt x="3467099" y="323850"/>
                </a:cubicBezTo>
                <a:lnTo>
                  <a:pt x="38101" y="323850"/>
                </a:lnTo>
                <a:cubicBezTo>
                  <a:pt x="17058" y="323850"/>
                  <a:pt x="0" y="306792"/>
                  <a:pt x="0" y="285749"/>
                </a:cubicBezTo>
                <a:lnTo>
                  <a:pt x="0" y="38101"/>
                </a:lnTo>
                <a:cubicBezTo>
                  <a:pt x="0" y="17058"/>
                  <a:pt x="17058" y="0"/>
                  <a:pt x="38101" y="0"/>
                </a:cubicBezTo>
                <a:close/>
              </a:path>
            </a:pathLst>
          </a:custGeom>
          <a:solidFill>
            <a:srgbClr val="4A4A4A">
              <a:alpha val="10196"/>
            </a:srgbClr>
          </a:solidFill>
        </p:spPr>
      </p:sp>
      <p:sp>
        <p:nvSpPr>
          <p:cNvPr id="51" name="Text 47"/>
          <p:cNvSpPr/>
          <p:nvPr/>
        </p:nvSpPr>
        <p:spPr>
          <a:xfrm>
            <a:off x="8077200" y="3048000"/>
            <a:ext cx="3581400" cy="323850"/>
          </a:xfrm>
          <a:prstGeom prst="rect">
            <a:avLst/>
          </a:prstGeom>
          <a:noFill/>
        </p:spPr>
        <p:txBody>
          <a:bodyPr wrap="square" lIns="57150" tIns="57150" rIns="57150" bIns="5715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启示：</a:t>
            </a:r>
            <a:r>
              <a:rPr lang="en-US" sz="1200" dirty="0">
                <a:solidFill>
                  <a:srgbClr val="4A4A4A"/>
                </a:solidFill>
                <a:latin typeface="MiSans" pitchFamily="34" charset="-122"/>
                <a:ea typeface="MiSans" pitchFamily="34" charset="-122"/>
                <a:cs typeface="MiSans" pitchFamily="34" charset="-120"/>
              </a:rPr>
              <a:t> 跨生态恶意包在行为模式上存在共性</a:t>
            </a:r>
            <a:endParaRPr lang="en-US" sz="1600" dirty="0"/>
          </a:p>
        </p:txBody>
      </p:sp>
      <p:sp>
        <p:nvSpPr>
          <p:cNvPr id="52" name="Shape 48"/>
          <p:cNvSpPr/>
          <p:nvPr/>
        </p:nvSpPr>
        <p:spPr>
          <a:xfrm>
            <a:off x="7829550" y="3867150"/>
            <a:ext cx="3981450" cy="2609850"/>
          </a:xfrm>
          <a:custGeom>
            <a:avLst/>
            <a:gdLst/>
            <a:ahLst/>
            <a:cxnLst/>
            <a:rect l="l" t="t" r="r" b="b"/>
            <a:pathLst>
              <a:path w="3981450" h="2609850">
                <a:moveTo>
                  <a:pt x="38100" y="0"/>
                </a:moveTo>
                <a:lnTo>
                  <a:pt x="3905242" y="0"/>
                </a:lnTo>
                <a:cubicBezTo>
                  <a:pt x="3947331" y="0"/>
                  <a:pt x="3981450" y="34119"/>
                  <a:pt x="3981450" y="76208"/>
                </a:cubicBezTo>
                <a:lnTo>
                  <a:pt x="3981450" y="2533642"/>
                </a:lnTo>
                <a:cubicBezTo>
                  <a:pt x="3981450" y="2575731"/>
                  <a:pt x="3947331" y="2609850"/>
                  <a:pt x="3905242" y="2609850"/>
                </a:cubicBezTo>
                <a:lnTo>
                  <a:pt x="38100" y="2609850"/>
                </a:lnTo>
                <a:cubicBezTo>
                  <a:pt x="17072" y="2609850"/>
                  <a:pt x="0" y="2592778"/>
                  <a:pt x="0" y="2571750"/>
                </a:cubicBezTo>
                <a:lnTo>
                  <a:pt x="0" y="38100"/>
                </a:lnTo>
                <a:cubicBezTo>
                  <a:pt x="0" y="17072"/>
                  <a:pt x="17072" y="0"/>
                  <a:pt x="38100" y="0"/>
                </a:cubicBezTo>
                <a:close/>
              </a:path>
            </a:pathLst>
          </a:custGeom>
          <a:solidFill>
            <a:srgbClr val="808080">
              <a:alpha val="10196"/>
            </a:srgbClr>
          </a:solidFill>
        </p:spPr>
      </p:sp>
      <p:sp>
        <p:nvSpPr>
          <p:cNvPr id="53" name="Shape 49"/>
          <p:cNvSpPr/>
          <p:nvPr/>
        </p:nvSpPr>
        <p:spPr>
          <a:xfrm>
            <a:off x="7829550" y="3867150"/>
            <a:ext cx="38100" cy="2609850"/>
          </a:xfrm>
          <a:custGeom>
            <a:avLst/>
            <a:gdLst/>
            <a:ahLst/>
            <a:cxnLst/>
            <a:rect l="l" t="t" r="r" b="b"/>
            <a:pathLst>
              <a:path w="38100" h="2609850">
                <a:moveTo>
                  <a:pt x="38100" y="0"/>
                </a:moveTo>
                <a:lnTo>
                  <a:pt x="38100" y="0"/>
                </a:lnTo>
                <a:lnTo>
                  <a:pt x="38100" y="2609850"/>
                </a:lnTo>
                <a:lnTo>
                  <a:pt x="38100" y="2609850"/>
                </a:lnTo>
                <a:cubicBezTo>
                  <a:pt x="17072" y="2609850"/>
                  <a:pt x="0" y="2592778"/>
                  <a:pt x="0" y="2571750"/>
                </a:cubicBezTo>
                <a:lnTo>
                  <a:pt x="0" y="38100"/>
                </a:lnTo>
                <a:cubicBezTo>
                  <a:pt x="0" y="17072"/>
                  <a:pt x="17072" y="0"/>
                  <a:pt x="38100" y="0"/>
                </a:cubicBezTo>
                <a:close/>
              </a:path>
            </a:pathLst>
          </a:custGeom>
          <a:solidFill>
            <a:srgbClr val="808080"/>
          </a:solidFill>
        </p:spPr>
      </p:sp>
      <p:sp>
        <p:nvSpPr>
          <p:cNvPr id="54" name="Shape 50"/>
          <p:cNvSpPr/>
          <p:nvPr/>
        </p:nvSpPr>
        <p:spPr>
          <a:xfrm>
            <a:off x="7997428" y="4029075"/>
            <a:ext cx="150019" cy="171450"/>
          </a:xfrm>
          <a:custGeom>
            <a:avLst/>
            <a:gdLst/>
            <a:ahLst/>
            <a:cxnLst/>
            <a:rect l="l" t="t" r="r" b="b"/>
            <a:pathLst>
              <a:path w="150019" h="171450">
                <a:moveTo>
                  <a:pt x="96441" y="0"/>
                </a:moveTo>
                <a:lnTo>
                  <a:pt x="42863" y="0"/>
                </a:lnTo>
                <a:cubicBezTo>
                  <a:pt x="36935" y="0"/>
                  <a:pt x="32147" y="4789"/>
                  <a:pt x="32147" y="10716"/>
                </a:cubicBezTo>
                <a:cubicBezTo>
                  <a:pt x="32147" y="16643"/>
                  <a:pt x="36935" y="21431"/>
                  <a:pt x="42863" y="21431"/>
                </a:cubicBezTo>
                <a:lnTo>
                  <a:pt x="42863" y="72163"/>
                </a:lnTo>
                <a:lnTo>
                  <a:pt x="2511" y="142752"/>
                </a:lnTo>
                <a:cubicBezTo>
                  <a:pt x="871" y="145666"/>
                  <a:pt x="0" y="148914"/>
                  <a:pt x="0" y="152262"/>
                </a:cubicBezTo>
                <a:cubicBezTo>
                  <a:pt x="0" y="162878"/>
                  <a:pt x="8573" y="171450"/>
                  <a:pt x="19188" y="171450"/>
                </a:cubicBezTo>
                <a:lnTo>
                  <a:pt x="130831" y="171450"/>
                </a:lnTo>
                <a:cubicBezTo>
                  <a:pt x="141413" y="171450"/>
                  <a:pt x="150019" y="162878"/>
                  <a:pt x="150019" y="152262"/>
                </a:cubicBezTo>
                <a:cubicBezTo>
                  <a:pt x="150019" y="148914"/>
                  <a:pt x="149148" y="145632"/>
                  <a:pt x="147507" y="142752"/>
                </a:cubicBezTo>
                <a:lnTo>
                  <a:pt x="107156" y="72163"/>
                </a:lnTo>
                <a:lnTo>
                  <a:pt x="107156" y="21431"/>
                </a:lnTo>
                <a:cubicBezTo>
                  <a:pt x="113083" y="21431"/>
                  <a:pt x="117872" y="16643"/>
                  <a:pt x="117872" y="10716"/>
                </a:cubicBezTo>
                <a:cubicBezTo>
                  <a:pt x="117872" y="4789"/>
                  <a:pt x="113083" y="0"/>
                  <a:pt x="107156" y="0"/>
                </a:cubicBezTo>
                <a:lnTo>
                  <a:pt x="96441" y="0"/>
                </a:lnTo>
                <a:close/>
                <a:moveTo>
                  <a:pt x="64294" y="72163"/>
                </a:moveTo>
                <a:lnTo>
                  <a:pt x="64294" y="21431"/>
                </a:lnTo>
                <a:lnTo>
                  <a:pt x="85725" y="21431"/>
                </a:lnTo>
                <a:lnTo>
                  <a:pt x="85725" y="72163"/>
                </a:lnTo>
                <a:cubicBezTo>
                  <a:pt x="85725" y="75880"/>
                  <a:pt x="86696" y="79564"/>
                  <a:pt x="88538" y="82812"/>
                </a:cubicBezTo>
                <a:lnTo>
                  <a:pt x="102468" y="107156"/>
                </a:lnTo>
                <a:lnTo>
                  <a:pt x="47551" y="107156"/>
                </a:lnTo>
                <a:lnTo>
                  <a:pt x="61481" y="82812"/>
                </a:lnTo>
                <a:cubicBezTo>
                  <a:pt x="63323" y="79564"/>
                  <a:pt x="64294" y="75914"/>
                  <a:pt x="64294" y="72163"/>
                </a:cubicBezTo>
                <a:close/>
              </a:path>
            </a:pathLst>
          </a:custGeom>
          <a:solidFill>
            <a:srgbClr val="808080"/>
          </a:solidFill>
        </p:spPr>
      </p:sp>
      <p:sp>
        <p:nvSpPr>
          <p:cNvPr id="55" name="Text 51"/>
          <p:cNvSpPr/>
          <p:nvPr/>
        </p:nvSpPr>
        <p:spPr>
          <a:xfrm>
            <a:off x="8181975" y="3981450"/>
            <a:ext cx="3600450"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动机案例2</a:t>
            </a:r>
            <a:endParaRPr lang="en-US" sz="1600" dirty="0"/>
          </a:p>
        </p:txBody>
      </p:sp>
      <p:sp>
        <p:nvSpPr>
          <p:cNvPr id="56" name="Shape 52"/>
          <p:cNvSpPr/>
          <p:nvPr/>
        </p:nvSpPr>
        <p:spPr>
          <a:xfrm>
            <a:off x="7962900" y="4324350"/>
            <a:ext cx="3733800" cy="2419350"/>
          </a:xfrm>
          <a:custGeom>
            <a:avLst/>
            <a:gdLst/>
            <a:ahLst/>
            <a:cxnLst/>
            <a:rect l="l" t="t" r="r" b="b"/>
            <a:pathLst>
              <a:path w="3733800" h="2419350">
                <a:moveTo>
                  <a:pt x="76210" y="0"/>
                </a:moveTo>
                <a:lnTo>
                  <a:pt x="3657590" y="0"/>
                </a:lnTo>
                <a:cubicBezTo>
                  <a:pt x="3699680" y="0"/>
                  <a:pt x="3733800" y="34120"/>
                  <a:pt x="3733800" y="76210"/>
                </a:cubicBezTo>
                <a:lnTo>
                  <a:pt x="3733800" y="2343140"/>
                </a:lnTo>
                <a:cubicBezTo>
                  <a:pt x="3733800" y="2385230"/>
                  <a:pt x="3699680" y="2419350"/>
                  <a:pt x="3657590" y="2419350"/>
                </a:cubicBezTo>
                <a:lnTo>
                  <a:pt x="76210" y="2419350"/>
                </a:lnTo>
                <a:cubicBezTo>
                  <a:pt x="34120" y="2419350"/>
                  <a:pt x="0" y="2385230"/>
                  <a:pt x="0" y="2343140"/>
                </a:cubicBezTo>
                <a:lnTo>
                  <a:pt x="0" y="76210"/>
                </a:lnTo>
                <a:cubicBezTo>
                  <a:pt x="0" y="34148"/>
                  <a:pt x="34148" y="0"/>
                  <a:pt x="76210" y="0"/>
                </a:cubicBezTo>
                <a:close/>
              </a:path>
            </a:pathLst>
          </a:custGeom>
          <a:solidFill>
            <a:srgbClr val="FFFFFF"/>
          </a:solidFill>
          <a:effectLst>
            <a:outerShdw blurRad="28575" dist="9525" dir="5400000" algn="bl" rotWithShape="0">
              <a:srgbClr val="000000">
                <a:alpha val="10196"/>
              </a:srgbClr>
            </a:outerShdw>
          </a:effectLst>
        </p:spPr>
      </p:sp>
      <p:sp>
        <p:nvSpPr>
          <p:cNvPr id="57" name="Text 53"/>
          <p:cNvSpPr/>
          <p:nvPr/>
        </p:nvSpPr>
        <p:spPr>
          <a:xfrm>
            <a:off x="8077200" y="4438650"/>
            <a:ext cx="35814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恶意行为具有顺序性</a:t>
            </a:r>
            <a:endParaRPr lang="en-US" sz="1600" dirty="0"/>
          </a:p>
        </p:txBody>
      </p:sp>
      <p:sp>
        <p:nvSpPr>
          <p:cNvPr id="58" name="Text 54"/>
          <p:cNvSpPr/>
          <p:nvPr/>
        </p:nvSpPr>
        <p:spPr>
          <a:xfrm>
            <a:off x="8077200" y="4705350"/>
            <a:ext cx="3581400" cy="2095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分析PyPI恶意包superoptimzer-1.0.0</a:t>
            </a:r>
            <a:endParaRPr lang="en-US" sz="1600" dirty="0"/>
          </a:p>
        </p:txBody>
      </p:sp>
      <p:sp>
        <p:nvSpPr>
          <p:cNvPr id="59" name="Text 55"/>
          <p:cNvSpPr/>
          <p:nvPr/>
        </p:nvSpPr>
        <p:spPr>
          <a:xfrm>
            <a:off x="8077200" y="5029200"/>
            <a:ext cx="133350" cy="228600"/>
          </a:xfrm>
          <a:prstGeom prst="rect">
            <a:avLst/>
          </a:prstGeom>
          <a:noFill/>
        </p:spPr>
        <p:txBody>
          <a:bodyPr wrap="square" lIns="0" tIns="0" rIns="0" bIns="0" rtlCol="0" anchor="ctr"/>
          <a:lstStyle/>
          <a:p>
            <a:pPr>
              <a:lnSpc>
                <a:spcPct val="130000"/>
              </a:lnSpc>
            </a:pPr>
            <a:r>
              <a:rPr lang="en-US" sz="1200" b="1" dirty="0">
                <a:solidFill>
                  <a:srgbClr val="808080"/>
                </a:solidFill>
                <a:latin typeface="MiSans" pitchFamily="34" charset="-122"/>
                <a:ea typeface="MiSans" pitchFamily="34" charset="-122"/>
                <a:cs typeface="MiSans" pitchFamily="34" charset="-120"/>
              </a:rPr>
              <a:t>1</a:t>
            </a:r>
            <a:endParaRPr lang="en-US" sz="1600" dirty="0"/>
          </a:p>
        </p:txBody>
      </p:sp>
      <p:sp>
        <p:nvSpPr>
          <p:cNvPr id="60" name="Text 56"/>
          <p:cNvSpPr/>
          <p:nvPr/>
        </p:nvSpPr>
        <p:spPr>
          <a:xfrm>
            <a:off x="8213407" y="4991100"/>
            <a:ext cx="2143125" cy="2095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从远程服务器下载payload配置</a:t>
            </a:r>
            <a:endParaRPr lang="en-US" sz="1600" dirty="0"/>
          </a:p>
        </p:txBody>
      </p:sp>
      <p:sp>
        <p:nvSpPr>
          <p:cNvPr id="61" name="Text 57"/>
          <p:cNvSpPr/>
          <p:nvPr/>
        </p:nvSpPr>
        <p:spPr>
          <a:xfrm>
            <a:off x="8077200" y="5353050"/>
            <a:ext cx="161925" cy="228600"/>
          </a:xfrm>
          <a:prstGeom prst="rect">
            <a:avLst/>
          </a:prstGeom>
          <a:noFill/>
        </p:spPr>
        <p:txBody>
          <a:bodyPr wrap="square" lIns="0" tIns="0" rIns="0" bIns="0" rtlCol="0" anchor="ctr"/>
          <a:lstStyle/>
          <a:p>
            <a:pPr>
              <a:lnSpc>
                <a:spcPct val="130000"/>
              </a:lnSpc>
            </a:pPr>
            <a:r>
              <a:rPr lang="en-US" sz="1200" b="1" dirty="0">
                <a:solidFill>
                  <a:srgbClr val="808080"/>
                </a:solidFill>
                <a:latin typeface="MiSans" pitchFamily="34" charset="-122"/>
                <a:ea typeface="MiSans" pitchFamily="34" charset="-122"/>
                <a:cs typeface="MiSans" pitchFamily="34" charset="-120"/>
              </a:rPr>
              <a:t>2</a:t>
            </a:r>
            <a:endParaRPr lang="en-US" sz="1600" dirty="0"/>
          </a:p>
        </p:txBody>
      </p:sp>
      <p:sp>
        <p:nvSpPr>
          <p:cNvPr id="62" name="Text 58"/>
          <p:cNvSpPr/>
          <p:nvPr/>
        </p:nvSpPr>
        <p:spPr>
          <a:xfrm>
            <a:off x="8239125" y="5314950"/>
            <a:ext cx="1657350" cy="2095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读取系统OS和架构信息</a:t>
            </a:r>
            <a:endParaRPr lang="en-US" sz="1600" dirty="0"/>
          </a:p>
        </p:txBody>
      </p:sp>
      <p:sp>
        <p:nvSpPr>
          <p:cNvPr id="63" name="Text 59"/>
          <p:cNvSpPr/>
          <p:nvPr/>
        </p:nvSpPr>
        <p:spPr>
          <a:xfrm>
            <a:off x="8077200" y="5676900"/>
            <a:ext cx="161925" cy="228600"/>
          </a:xfrm>
          <a:prstGeom prst="rect">
            <a:avLst/>
          </a:prstGeom>
          <a:noFill/>
        </p:spPr>
        <p:txBody>
          <a:bodyPr wrap="square" lIns="0" tIns="0" rIns="0" bIns="0" rtlCol="0" anchor="ctr"/>
          <a:lstStyle/>
          <a:p>
            <a:pPr>
              <a:lnSpc>
                <a:spcPct val="130000"/>
              </a:lnSpc>
            </a:pPr>
            <a:r>
              <a:rPr lang="en-US" sz="1200" b="1" dirty="0">
                <a:solidFill>
                  <a:srgbClr val="808080"/>
                </a:solidFill>
                <a:latin typeface="MiSans" pitchFamily="34" charset="-122"/>
                <a:ea typeface="MiSans" pitchFamily="34" charset="-122"/>
                <a:cs typeface="MiSans" pitchFamily="34" charset="-120"/>
              </a:rPr>
              <a:t>3</a:t>
            </a:r>
            <a:endParaRPr lang="en-US" sz="1600" dirty="0"/>
          </a:p>
        </p:txBody>
      </p:sp>
      <p:sp>
        <p:nvSpPr>
          <p:cNvPr id="64" name="Text 60"/>
          <p:cNvSpPr/>
          <p:nvPr/>
        </p:nvSpPr>
        <p:spPr>
          <a:xfrm>
            <a:off x="8243054" y="5638800"/>
            <a:ext cx="2038350" cy="2095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根据配置和信息构建目标URL</a:t>
            </a:r>
            <a:endParaRPr lang="en-US" sz="1600" dirty="0"/>
          </a:p>
        </p:txBody>
      </p:sp>
      <p:sp>
        <p:nvSpPr>
          <p:cNvPr id="65" name="Text 61"/>
          <p:cNvSpPr/>
          <p:nvPr/>
        </p:nvSpPr>
        <p:spPr>
          <a:xfrm>
            <a:off x="8077200" y="6000750"/>
            <a:ext cx="161925" cy="228600"/>
          </a:xfrm>
          <a:prstGeom prst="rect">
            <a:avLst/>
          </a:prstGeom>
          <a:noFill/>
        </p:spPr>
        <p:txBody>
          <a:bodyPr wrap="square" lIns="0" tIns="0" rIns="0" bIns="0" rtlCol="0" anchor="ctr"/>
          <a:lstStyle/>
          <a:p>
            <a:pPr>
              <a:lnSpc>
                <a:spcPct val="130000"/>
              </a:lnSpc>
            </a:pPr>
            <a:r>
              <a:rPr lang="en-US" sz="1200" b="1" dirty="0">
                <a:solidFill>
                  <a:srgbClr val="808080"/>
                </a:solidFill>
                <a:latin typeface="MiSans" pitchFamily="34" charset="-122"/>
                <a:ea typeface="MiSans" pitchFamily="34" charset="-122"/>
                <a:cs typeface="MiSans" pitchFamily="34" charset="-120"/>
              </a:rPr>
              <a:t>4</a:t>
            </a:r>
            <a:endParaRPr lang="en-US" sz="1600" dirty="0"/>
          </a:p>
        </p:txBody>
      </p:sp>
      <p:sp>
        <p:nvSpPr>
          <p:cNvPr id="66" name="Text 62"/>
          <p:cNvSpPr/>
          <p:nvPr/>
        </p:nvSpPr>
        <p:spPr>
          <a:xfrm>
            <a:off x="8242816" y="5962650"/>
            <a:ext cx="1905000" cy="2095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下载并执行最终的恶意负载</a:t>
            </a:r>
            <a:endParaRPr lang="en-US" sz="1600" dirty="0"/>
          </a:p>
        </p:txBody>
      </p:sp>
      <p:sp>
        <p:nvSpPr>
          <p:cNvPr id="67" name="Shape 63"/>
          <p:cNvSpPr/>
          <p:nvPr/>
        </p:nvSpPr>
        <p:spPr>
          <a:xfrm>
            <a:off x="8077200" y="6305550"/>
            <a:ext cx="3505200" cy="323850"/>
          </a:xfrm>
          <a:custGeom>
            <a:avLst/>
            <a:gdLst/>
            <a:ahLst/>
            <a:cxnLst/>
            <a:rect l="l" t="t" r="r" b="b"/>
            <a:pathLst>
              <a:path w="3505200" h="323850">
                <a:moveTo>
                  <a:pt x="38101" y="0"/>
                </a:moveTo>
                <a:lnTo>
                  <a:pt x="3467099" y="0"/>
                </a:lnTo>
                <a:cubicBezTo>
                  <a:pt x="3488142" y="0"/>
                  <a:pt x="3505200" y="17058"/>
                  <a:pt x="3505200" y="38101"/>
                </a:cubicBezTo>
                <a:lnTo>
                  <a:pt x="3505200" y="285749"/>
                </a:lnTo>
                <a:cubicBezTo>
                  <a:pt x="3505200" y="306792"/>
                  <a:pt x="3488142" y="323850"/>
                  <a:pt x="3467099" y="323850"/>
                </a:cubicBezTo>
                <a:lnTo>
                  <a:pt x="38101" y="323850"/>
                </a:lnTo>
                <a:cubicBezTo>
                  <a:pt x="17058" y="323850"/>
                  <a:pt x="0" y="306792"/>
                  <a:pt x="0" y="285749"/>
                </a:cubicBezTo>
                <a:lnTo>
                  <a:pt x="0" y="38101"/>
                </a:lnTo>
                <a:cubicBezTo>
                  <a:pt x="0" y="17058"/>
                  <a:pt x="17058" y="0"/>
                  <a:pt x="38101" y="0"/>
                </a:cubicBezTo>
                <a:close/>
              </a:path>
            </a:pathLst>
          </a:custGeom>
          <a:solidFill>
            <a:srgbClr val="808080">
              <a:alpha val="20000"/>
            </a:srgbClr>
          </a:solidFill>
        </p:spPr>
      </p:sp>
      <p:sp>
        <p:nvSpPr>
          <p:cNvPr id="68" name="Text 64"/>
          <p:cNvSpPr/>
          <p:nvPr/>
        </p:nvSpPr>
        <p:spPr>
          <a:xfrm>
            <a:off x="8077200" y="6305550"/>
            <a:ext cx="3581400" cy="323850"/>
          </a:xfrm>
          <a:prstGeom prst="rect">
            <a:avLst/>
          </a:prstGeom>
          <a:noFill/>
        </p:spPr>
        <p:txBody>
          <a:bodyPr wrap="square" lIns="57150" tIns="57150" rIns="57150" bIns="5715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启示：</a:t>
            </a:r>
            <a:r>
              <a:rPr lang="en-US" sz="1200" dirty="0">
                <a:solidFill>
                  <a:srgbClr val="4A4A4A"/>
                </a:solidFill>
                <a:latin typeface="MiSans" pitchFamily="34" charset="-122"/>
                <a:ea typeface="MiSans" pitchFamily="34" charset="-122"/>
                <a:cs typeface="MiSans" pitchFamily="34" charset="-120"/>
              </a:rPr>
              <a:t> 显式建模行为序列能更精确捕捉攻击意图</a:t>
            </a:r>
            <a:endParaRPr lang="en-US" sz="1600" dirty="0"/>
          </a:p>
        </p:txBody>
      </p:sp>
      <p:pic>
        <p:nvPicPr>
          <p:cNvPr id="69" name="图片 68" descr="ad97dbedda0cf055baca3e7681e59c1f-image"/>
          <p:cNvPicPr>
            <a:picLocks noChangeAspect="1"/>
          </p:cNvPicPr>
          <p:nvPr/>
        </p:nvPicPr>
        <p:blipFill>
          <a:blip r:embed="rId3"/>
          <a:stretch>
            <a:fillRect/>
          </a:stretch>
        </p:blipFill>
        <p:spPr>
          <a:xfrm>
            <a:off x="247650" y="228600"/>
            <a:ext cx="7581900" cy="2886075"/>
          </a:xfrm>
          <a:prstGeom prst="rect">
            <a:avLst/>
          </a:prstGeom>
        </p:spPr>
      </p:pic>
      <p:pic>
        <p:nvPicPr>
          <p:cNvPr id="70" name="图片 69" descr="b2baa6e7b966d7ffd577a70e51f89312-image"/>
          <p:cNvPicPr>
            <a:picLocks noChangeAspect="1"/>
          </p:cNvPicPr>
          <p:nvPr/>
        </p:nvPicPr>
        <p:blipFill>
          <a:blip r:embed="rId4"/>
          <a:stretch>
            <a:fillRect/>
          </a:stretch>
        </p:blipFill>
        <p:spPr>
          <a:xfrm>
            <a:off x="257175" y="2286000"/>
            <a:ext cx="7572375" cy="362902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box(in)">
                                      <p:cBhvr>
                                        <p:cTn id="7" dur="20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0"/>
                                        </p:tgtEl>
                                        <p:attrNameLst>
                                          <p:attrName>style.visibility</p:attrName>
                                        </p:attrNameLst>
                                      </p:cBhvr>
                                      <p:to>
                                        <p:strVal val="visible"/>
                                      </p:to>
                                    </p:set>
                                    <p:anim calcmode="lin" valueType="num">
                                      <p:cBhvr additive="base">
                                        <p:cTn id="12" dur="500" fill="hold"/>
                                        <p:tgtEl>
                                          <p:spTgt spid="70"/>
                                        </p:tgtEl>
                                        <p:attrNameLst>
                                          <p:attrName>ppt_x</p:attrName>
                                        </p:attrNameLst>
                                      </p:cBhvr>
                                      <p:tavLst>
                                        <p:tav tm="0">
                                          <p:val>
                                            <p:strVal val="#ppt_x"/>
                                          </p:val>
                                        </p:tav>
                                        <p:tav tm="100000">
                                          <p:val>
                                            <p:strVal val="#ppt_x"/>
                                          </p:val>
                                        </p:tav>
                                      </p:tavLst>
                                    </p:anim>
                                    <p:anim calcmode="lin" valueType="num">
                                      <p:cBhvr additive="base">
                                        <p:cTn id="13"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29:05-d3l4r48s8jdo4os5eol0.jpg"/>
          <p:cNvPicPr>
            <a:picLocks noChangeAspect="1"/>
          </p:cNvPicPr>
          <p:nvPr/>
        </p:nvPicPr>
        <p:blipFill>
          <a:blip r:embed="rId2"/>
          <a:stretch>
            <a:fillRect/>
          </a:stretch>
        </p:blipFill>
        <p:spPr>
          <a:xfrm>
            <a:off x="10160" y="0"/>
            <a:ext cx="12171680" cy="6858000"/>
          </a:xfrm>
          <a:prstGeom prst="rect">
            <a:avLst/>
          </a:prstGeom>
        </p:spPr>
      </p:pic>
      <p:pic>
        <p:nvPicPr>
          <p:cNvPr id="3" name="Image 1" descr="https://kimi-img.moonshot.cn/pub/slides/slides_tmpl/image/25-10-11-20:29:15-d3l4r6os8jdo4os5eom0.jpeg"/>
          <p:cNvPicPr>
            <a:picLocks noChangeAspect="1"/>
          </p:cNvPicPr>
          <p:nvPr/>
        </p:nvPicPr>
        <p:blipFill>
          <a:blip r:embed="rId1"/>
          <a:srcRect t="31248" b="31248"/>
          <a:stretch>
            <a:fillRect/>
          </a:stretch>
        </p:blipFill>
        <p:spPr>
          <a:xfrm>
            <a:off x="0" y="0"/>
            <a:ext cx="12191365" cy="6858635"/>
          </a:xfrm>
          <a:prstGeom prst="rect">
            <a:avLst/>
          </a:prstGeom>
        </p:spPr>
      </p:pic>
      <p:pic>
        <p:nvPicPr>
          <p:cNvPr id="4" name="Image 2" descr="https://kimi-img.moonshot.cn/pub/slides/slides_tmpl/image/25-10-11-20:29:04-d3l4r40s8jdo4os5eok0.jpeg"/>
          <p:cNvPicPr>
            <a:picLocks noChangeAspect="1"/>
          </p:cNvPicPr>
          <p:nvPr/>
        </p:nvPicPr>
        <p:blipFill>
          <a:blip r:embed="rId3">
            <a:alphaModFix amt="10000"/>
          </a:blip>
          <a:srcRect t="37244" b="24949"/>
          <a:stretch>
            <a:fillRect/>
          </a:stretch>
        </p:blipFill>
        <p:spPr>
          <a:xfrm>
            <a:off x="635" y="1621155"/>
            <a:ext cx="12191365" cy="3456305"/>
          </a:xfrm>
          <a:prstGeom prst="rect">
            <a:avLst/>
          </a:prstGeom>
        </p:spPr>
      </p:pic>
      <p:sp>
        <p:nvSpPr>
          <p:cNvPr id="5" name="Text 0"/>
          <p:cNvSpPr/>
          <p:nvPr/>
        </p:nvSpPr>
        <p:spPr>
          <a:xfrm>
            <a:off x="1357630" y="3708400"/>
            <a:ext cx="9475470" cy="819150"/>
          </a:xfrm>
          <a:prstGeom prst="rect">
            <a:avLst/>
          </a:prstGeom>
          <a:noFill/>
        </p:spPr>
        <p:txBody>
          <a:bodyPr wrap="square" lIns="91440" tIns="45720" rIns="91440" bIns="45720" rtlCol="0" anchor="t"/>
          <a:lstStyle/>
          <a:p>
            <a:pPr algn="ctr">
              <a:lnSpc>
                <a:spcPct val="110000"/>
              </a:lnSpc>
            </a:pPr>
            <a:r>
              <a:rPr lang="en-US" sz="3600" dirty="0">
                <a:solidFill>
                  <a:srgbClr val="000000"/>
                </a:solidFill>
                <a:latin typeface="MiSans" pitchFamily="34" charset="-122"/>
                <a:ea typeface="MiSans" pitchFamily="34" charset="-122"/>
                <a:cs typeface="MiSans" pitchFamily="34" charset="-120"/>
              </a:rPr>
              <a:t>02 方法论设计</a:t>
            </a:r>
            <a:endParaRPr lang="en-US" sz="1600" dirty="0"/>
          </a:p>
        </p:txBody>
      </p:sp>
      <p:sp>
        <p:nvSpPr>
          <p:cNvPr id="6" name="Text 1"/>
          <p:cNvSpPr/>
          <p:nvPr/>
        </p:nvSpPr>
        <p:spPr>
          <a:xfrm>
            <a:off x="4683125" y="2274570"/>
            <a:ext cx="2824480" cy="1433830"/>
          </a:xfrm>
          <a:prstGeom prst="rect">
            <a:avLst/>
          </a:prstGeom>
          <a:noFill/>
        </p:spPr>
        <p:txBody>
          <a:bodyPr wrap="square" lIns="91440" tIns="45720" rIns="91440" bIns="45720" rtlCol="0" anchor="t"/>
          <a:lstStyle/>
          <a:p>
            <a:pPr algn="ctr">
              <a:lnSpc>
                <a:spcPct val="100000"/>
              </a:lnSpc>
            </a:pPr>
            <a:r>
              <a:rPr lang="en-US" sz="9600" dirty="0">
                <a:solidFill>
                  <a:srgbClr val="000000"/>
                </a:solidFill>
                <a:latin typeface="MiSans" pitchFamily="34" charset="-122"/>
                <a:ea typeface="MiSans" pitchFamily="34" charset="-122"/>
                <a:cs typeface="MiSans" pitchFamily="34" charset="-120"/>
              </a:rPr>
              <a:t>02</a:t>
            </a:r>
            <a:endParaRPr lang="en-US" sz="1600" dirty="0"/>
          </a:p>
        </p:txBody>
      </p:sp>
      <p:pic>
        <p:nvPicPr>
          <p:cNvPr id="7" name="图片 6" descr="8b9cce94a4fcbd9cfc82face93877e19-image"/>
          <p:cNvPicPr>
            <a:picLocks noChangeAspect="1"/>
          </p:cNvPicPr>
          <p:nvPr/>
        </p:nvPicPr>
        <p:blipFill>
          <a:blip r:embed="rId4"/>
          <a:stretch>
            <a:fillRect/>
          </a:stretch>
        </p:blipFill>
        <p:spPr>
          <a:xfrm>
            <a:off x="2309495" y="2609850"/>
            <a:ext cx="7572375" cy="163830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10-11-20:29:04-d3l4r40s8jdo4os5eok0.jpeg"/>
          <p:cNvPicPr>
            <a:picLocks noChangeAspect="1"/>
          </p:cNvPicPr>
          <p:nvPr/>
        </p:nvPicPr>
        <p:blipFill>
          <a:blip r:embed="rId1">
            <a:alphaModFix amt="34000"/>
          </a:blip>
          <a:srcRect t="46513" b="46513"/>
          <a:stretch>
            <a:fillRect/>
          </a:stretch>
        </p:blipFill>
        <p:spPr>
          <a:xfrm>
            <a:off x="799465" y="6010275"/>
            <a:ext cx="10638155" cy="215265"/>
          </a:xfrm>
          <a:prstGeom prst="rect">
            <a:avLst/>
          </a:prstGeom>
        </p:spPr>
      </p:pic>
      <p:pic>
        <p:nvPicPr>
          <p:cNvPr id="3" name="Image 1" descr="https://kimi-img.moonshot.cn/pub/slides/slides_tmpl/image/25-10-11-20:29:20-d3l4r80s8jdo4os5eomg.jpg"/>
          <p:cNvPicPr>
            <a:picLocks noChangeAspect="1"/>
          </p:cNvPicPr>
          <p:nvPr/>
        </p:nvPicPr>
        <p:blipFill>
          <a:blip r:embed="rId2"/>
          <a:stretch>
            <a:fillRect/>
          </a:stretch>
        </p:blipFill>
        <p:spPr>
          <a:xfrm>
            <a:off x="1270" y="0"/>
            <a:ext cx="12190730" cy="6858000"/>
          </a:xfrm>
          <a:prstGeom prst="rect">
            <a:avLst/>
          </a:prstGeom>
        </p:spPr>
      </p:pic>
      <p:sp>
        <p:nvSpPr>
          <p:cNvPr id="4"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08080"/>
                </a:solidFill>
                <a:latin typeface="MiSans" pitchFamily="34" charset="-122"/>
                <a:ea typeface="MiSans" pitchFamily="34" charset="-122"/>
                <a:cs typeface="MiSans" pitchFamily="34" charset="-120"/>
              </a:rPr>
              <a:t>METHODOLOGY</a:t>
            </a:r>
            <a:endParaRPr lang="en-US" sz="1600" dirty="0"/>
          </a:p>
        </p:txBody>
      </p:sp>
      <p:sp>
        <p:nvSpPr>
          <p:cNvPr id="5" name="Text 1"/>
          <p:cNvSpPr/>
          <p:nvPr/>
        </p:nvSpPr>
        <p:spPr>
          <a:xfrm>
            <a:off x="381000" y="647700"/>
            <a:ext cx="11601450" cy="381000"/>
          </a:xfrm>
          <a:prstGeom prst="rect">
            <a:avLst/>
          </a:prstGeom>
          <a:noFill/>
        </p:spPr>
        <p:txBody>
          <a:bodyPr wrap="square" lIns="0" tIns="0" rIns="0" bIns="0" rtlCol="0" anchor="ctr"/>
          <a:lstStyle/>
          <a:p>
            <a:pPr>
              <a:lnSpc>
                <a:spcPct val="90000"/>
              </a:lnSpc>
            </a:pPr>
            <a:r>
              <a:rPr lang="en-US" sz="2700" b="1" dirty="0">
                <a:solidFill>
                  <a:srgbClr val="4A4A4A"/>
                </a:solidFill>
                <a:latin typeface="MiSans" pitchFamily="34" charset="-122"/>
                <a:ea typeface="MiSans" pitchFamily="34" charset="-122"/>
                <a:cs typeface="MiSans" pitchFamily="34" charset="-120"/>
              </a:rPr>
              <a:t>特征提取与行为序列生成</a:t>
            </a:r>
            <a:endParaRPr lang="en-US" sz="1600" dirty="0"/>
          </a:p>
        </p:txBody>
      </p:sp>
      <p:sp>
        <p:nvSpPr>
          <p:cNvPr id="6" name="Shape 2"/>
          <p:cNvSpPr/>
          <p:nvPr/>
        </p:nvSpPr>
        <p:spPr>
          <a:xfrm>
            <a:off x="381000" y="1104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4A4A4A"/>
          </a:solidFill>
        </p:spPr>
      </p:sp>
      <p:sp>
        <p:nvSpPr>
          <p:cNvPr id="7" name="Shape 3"/>
          <p:cNvSpPr/>
          <p:nvPr/>
        </p:nvSpPr>
        <p:spPr>
          <a:xfrm>
            <a:off x="400050" y="1219200"/>
            <a:ext cx="5619750" cy="4248150"/>
          </a:xfrm>
          <a:custGeom>
            <a:avLst/>
            <a:gdLst/>
            <a:ahLst/>
            <a:cxnLst/>
            <a:rect l="l" t="t" r="r" b="b"/>
            <a:pathLst>
              <a:path w="5619750" h="4248150">
                <a:moveTo>
                  <a:pt x="38100" y="0"/>
                </a:moveTo>
                <a:lnTo>
                  <a:pt x="5543538" y="0"/>
                </a:lnTo>
                <a:cubicBezTo>
                  <a:pt x="5585629" y="0"/>
                  <a:pt x="5619750" y="34121"/>
                  <a:pt x="5619750" y="76212"/>
                </a:cubicBezTo>
                <a:lnTo>
                  <a:pt x="5619750" y="4171938"/>
                </a:lnTo>
                <a:cubicBezTo>
                  <a:pt x="5619750" y="4214029"/>
                  <a:pt x="5585629" y="4248150"/>
                  <a:pt x="5543538" y="4248150"/>
                </a:cubicBezTo>
                <a:lnTo>
                  <a:pt x="38100" y="4248150"/>
                </a:lnTo>
                <a:cubicBezTo>
                  <a:pt x="17072" y="4248150"/>
                  <a:pt x="0" y="4231078"/>
                  <a:pt x="0" y="4210050"/>
                </a:cubicBezTo>
                <a:lnTo>
                  <a:pt x="0" y="38100"/>
                </a:lnTo>
                <a:cubicBezTo>
                  <a:pt x="0" y="17072"/>
                  <a:pt x="17072" y="0"/>
                  <a:pt x="38100" y="0"/>
                </a:cubicBezTo>
                <a:close/>
              </a:path>
            </a:pathLst>
          </a:custGeom>
          <a:solidFill>
            <a:srgbClr val="4A4A4A">
              <a:alpha val="5098"/>
            </a:srgbClr>
          </a:solidFill>
        </p:spPr>
      </p:sp>
      <p:sp>
        <p:nvSpPr>
          <p:cNvPr id="8" name="Shape 4"/>
          <p:cNvSpPr/>
          <p:nvPr/>
        </p:nvSpPr>
        <p:spPr>
          <a:xfrm>
            <a:off x="400050" y="1219200"/>
            <a:ext cx="38100" cy="4248150"/>
          </a:xfrm>
          <a:custGeom>
            <a:avLst/>
            <a:gdLst/>
            <a:ahLst/>
            <a:cxnLst/>
            <a:rect l="l" t="t" r="r" b="b"/>
            <a:pathLst>
              <a:path w="38100" h="4248150">
                <a:moveTo>
                  <a:pt x="38100" y="0"/>
                </a:moveTo>
                <a:lnTo>
                  <a:pt x="38100" y="0"/>
                </a:lnTo>
                <a:lnTo>
                  <a:pt x="38100" y="4248150"/>
                </a:lnTo>
                <a:lnTo>
                  <a:pt x="38100" y="4248150"/>
                </a:lnTo>
                <a:cubicBezTo>
                  <a:pt x="17072" y="4248150"/>
                  <a:pt x="0" y="4231078"/>
                  <a:pt x="0" y="4210050"/>
                </a:cubicBezTo>
                <a:lnTo>
                  <a:pt x="0" y="38100"/>
                </a:lnTo>
                <a:cubicBezTo>
                  <a:pt x="0" y="17072"/>
                  <a:pt x="17072" y="0"/>
                  <a:pt x="38100" y="0"/>
                </a:cubicBezTo>
                <a:close/>
              </a:path>
            </a:pathLst>
          </a:custGeom>
          <a:solidFill>
            <a:srgbClr val="4A4A4A"/>
          </a:solidFill>
        </p:spPr>
      </p:sp>
      <p:sp>
        <p:nvSpPr>
          <p:cNvPr id="9" name="Shape 5"/>
          <p:cNvSpPr/>
          <p:nvPr/>
        </p:nvSpPr>
        <p:spPr>
          <a:xfrm>
            <a:off x="595313" y="1409700"/>
            <a:ext cx="190500" cy="190500"/>
          </a:xfrm>
          <a:custGeom>
            <a:avLst/>
            <a:gdLst/>
            <a:ahLst/>
            <a:cxnLst/>
            <a:rect l="l" t="t" r="r" b="b"/>
            <a:pathLst>
              <a:path w="190500" h="190500">
                <a:moveTo>
                  <a:pt x="154781" y="77391"/>
                </a:moveTo>
                <a:cubicBezTo>
                  <a:pt x="154781" y="94469"/>
                  <a:pt x="149237" y="110244"/>
                  <a:pt x="139898" y="123044"/>
                </a:cubicBezTo>
                <a:lnTo>
                  <a:pt x="187003" y="170185"/>
                </a:lnTo>
                <a:cubicBezTo>
                  <a:pt x="191653" y="174836"/>
                  <a:pt x="191653" y="182389"/>
                  <a:pt x="187003" y="187040"/>
                </a:cubicBezTo>
                <a:cubicBezTo>
                  <a:pt x="182352" y="191691"/>
                  <a:pt x="174799" y="191691"/>
                  <a:pt x="170148" y="187040"/>
                </a:cubicBezTo>
                <a:lnTo>
                  <a:pt x="123044" y="139898"/>
                </a:lnTo>
                <a:cubicBezTo>
                  <a:pt x="110244" y="149237"/>
                  <a:pt x="94469" y="154781"/>
                  <a:pt x="77391" y="154781"/>
                </a:cubicBezTo>
                <a:cubicBezTo>
                  <a:pt x="34640" y="154781"/>
                  <a:pt x="0" y="120142"/>
                  <a:pt x="0" y="77391"/>
                </a:cubicBezTo>
                <a:cubicBezTo>
                  <a:pt x="0" y="34640"/>
                  <a:pt x="34640" y="0"/>
                  <a:pt x="77391" y="0"/>
                </a:cubicBezTo>
                <a:cubicBezTo>
                  <a:pt x="120142" y="0"/>
                  <a:pt x="154781" y="34640"/>
                  <a:pt x="154781" y="77391"/>
                </a:cubicBezTo>
                <a:close/>
                <a:moveTo>
                  <a:pt x="77391" y="130969"/>
                </a:moveTo>
                <a:cubicBezTo>
                  <a:pt x="106961" y="130969"/>
                  <a:pt x="130969" y="106961"/>
                  <a:pt x="130969" y="77391"/>
                </a:cubicBezTo>
                <a:cubicBezTo>
                  <a:pt x="130969" y="47820"/>
                  <a:pt x="106961" y="23812"/>
                  <a:pt x="77391" y="23812"/>
                </a:cubicBezTo>
                <a:cubicBezTo>
                  <a:pt x="47820" y="23812"/>
                  <a:pt x="23813" y="47820"/>
                  <a:pt x="23812" y="77391"/>
                </a:cubicBezTo>
                <a:cubicBezTo>
                  <a:pt x="23812" y="106961"/>
                  <a:pt x="47820" y="130969"/>
                  <a:pt x="77391" y="130969"/>
                </a:cubicBezTo>
                <a:close/>
              </a:path>
            </a:pathLst>
          </a:custGeom>
          <a:solidFill>
            <a:srgbClr val="4A4A4A"/>
          </a:solidFill>
        </p:spPr>
      </p:sp>
      <p:sp>
        <p:nvSpPr>
          <p:cNvPr id="10" name="Text 6"/>
          <p:cNvSpPr/>
          <p:nvPr/>
        </p:nvSpPr>
        <p:spPr>
          <a:xfrm>
            <a:off x="809625" y="1371600"/>
            <a:ext cx="5153025" cy="266700"/>
          </a:xfrm>
          <a:prstGeom prst="rect">
            <a:avLst/>
          </a:prstGeom>
          <a:noFill/>
        </p:spPr>
        <p:txBody>
          <a:bodyPr wrap="square" lIns="0" tIns="0" rIns="0" bIns="0" rtlCol="0" anchor="ctr"/>
          <a:lstStyle/>
          <a:p>
            <a:pPr>
              <a:lnSpc>
                <a:spcPct val="120000"/>
              </a:lnSpc>
            </a:pPr>
            <a:r>
              <a:rPr lang="en-US" sz="1500" b="1" dirty="0">
                <a:solidFill>
                  <a:srgbClr val="4A4A4A"/>
                </a:solidFill>
                <a:latin typeface="MiSans" pitchFamily="34" charset="-122"/>
                <a:ea typeface="MiSans" pitchFamily="34" charset="-122"/>
                <a:cs typeface="MiSans" pitchFamily="34" charset="-120"/>
              </a:rPr>
              <a:t>特征提取器</a:t>
            </a:r>
            <a:endParaRPr lang="en-US" sz="1600" dirty="0"/>
          </a:p>
        </p:txBody>
      </p:sp>
      <p:sp>
        <p:nvSpPr>
          <p:cNvPr id="11" name="Shape 7"/>
          <p:cNvSpPr/>
          <p:nvPr/>
        </p:nvSpPr>
        <p:spPr>
          <a:xfrm>
            <a:off x="571500" y="1714500"/>
            <a:ext cx="5295900" cy="666750"/>
          </a:xfrm>
          <a:custGeom>
            <a:avLst/>
            <a:gdLst/>
            <a:ahLst/>
            <a:cxnLst/>
            <a:rect l="l" t="t" r="r" b="b"/>
            <a:pathLst>
              <a:path w="5295900" h="666750">
                <a:moveTo>
                  <a:pt x="76203" y="0"/>
                </a:moveTo>
                <a:lnTo>
                  <a:pt x="5219697" y="0"/>
                </a:lnTo>
                <a:cubicBezTo>
                  <a:pt x="5261755" y="0"/>
                  <a:pt x="5295900" y="34145"/>
                  <a:pt x="5295900" y="76203"/>
                </a:cubicBezTo>
                <a:lnTo>
                  <a:pt x="5295900" y="590547"/>
                </a:lnTo>
                <a:cubicBezTo>
                  <a:pt x="5295900" y="632605"/>
                  <a:pt x="5261755" y="666750"/>
                  <a:pt x="5219697" y="666750"/>
                </a:cubicBezTo>
                <a:lnTo>
                  <a:pt x="76203" y="666750"/>
                </a:lnTo>
                <a:cubicBezTo>
                  <a:pt x="34145" y="666750"/>
                  <a:pt x="0" y="632605"/>
                  <a:pt x="0" y="590547"/>
                </a:cubicBezTo>
                <a:lnTo>
                  <a:pt x="0" y="76203"/>
                </a:lnTo>
                <a:cubicBezTo>
                  <a:pt x="0" y="34145"/>
                  <a:pt x="34145" y="0"/>
                  <a:pt x="76203" y="0"/>
                </a:cubicBezTo>
                <a:close/>
              </a:path>
            </a:pathLst>
          </a:custGeom>
          <a:solidFill>
            <a:srgbClr val="FFFFFF"/>
          </a:solidFill>
          <a:effectLst>
            <a:outerShdw blurRad="28575" dist="9525" dir="5400000" algn="bl" rotWithShape="0">
              <a:srgbClr val="000000">
                <a:alpha val="10196"/>
              </a:srgbClr>
            </a:outerShdw>
          </a:effectLst>
        </p:spPr>
      </p:sp>
      <p:sp>
        <p:nvSpPr>
          <p:cNvPr id="12" name="Text 8"/>
          <p:cNvSpPr/>
          <p:nvPr/>
        </p:nvSpPr>
        <p:spPr>
          <a:xfrm>
            <a:off x="666750" y="1809750"/>
            <a:ext cx="51816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核心目标</a:t>
            </a:r>
            <a:endParaRPr lang="en-US" sz="1600" dirty="0"/>
          </a:p>
        </p:txBody>
      </p:sp>
      <p:sp>
        <p:nvSpPr>
          <p:cNvPr id="13" name="Text 9"/>
          <p:cNvSpPr/>
          <p:nvPr/>
        </p:nvSpPr>
        <p:spPr>
          <a:xfrm>
            <a:off x="666750" y="2076450"/>
            <a:ext cx="5181600" cy="2095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通过静态分析从源代码中提取与恶意行为相关的特征</a:t>
            </a:r>
            <a:endParaRPr lang="en-US" sz="1600" dirty="0"/>
          </a:p>
        </p:txBody>
      </p:sp>
      <p:sp>
        <p:nvSpPr>
          <p:cNvPr id="14" name="Shape 10"/>
          <p:cNvSpPr/>
          <p:nvPr/>
        </p:nvSpPr>
        <p:spPr>
          <a:xfrm>
            <a:off x="571500" y="2457450"/>
            <a:ext cx="5295900" cy="1657350"/>
          </a:xfrm>
          <a:custGeom>
            <a:avLst/>
            <a:gdLst/>
            <a:ahLst/>
            <a:cxnLst/>
            <a:rect l="l" t="t" r="r" b="b"/>
            <a:pathLst>
              <a:path w="5295900" h="1657350">
                <a:moveTo>
                  <a:pt x="76205" y="0"/>
                </a:moveTo>
                <a:lnTo>
                  <a:pt x="5219695" y="0"/>
                </a:lnTo>
                <a:cubicBezTo>
                  <a:pt x="5261782" y="0"/>
                  <a:pt x="5295900" y="34118"/>
                  <a:pt x="5295900" y="76205"/>
                </a:cubicBezTo>
                <a:lnTo>
                  <a:pt x="5295900" y="1581145"/>
                </a:lnTo>
                <a:cubicBezTo>
                  <a:pt x="5295900" y="1623232"/>
                  <a:pt x="5261782" y="1657350"/>
                  <a:pt x="5219695" y="1657350"/>
                </a:cubicBezTo>
                <a:lnTo>
                  <a:pt x="76205" y="1657350"/>
                </a:lnTo>
                <a:cubicBezTo>
                  <a:pt x="34118" y="1657350"/>
                  <a:pt x="0" y="1623232"/>
                  <a:pt x="0" y="1581145"/>
                </a:cubicBezTo>
                <a:lnTo>
                  <a:pt x="0" y="76205"/>
                </a:lnTo>
                <a:cubicBezTo>
                  <a:pt x="0" y="34146"/>
                  <a:pt x="34146" y="0"/>
                  <a:pt x="76205" y="0"/>
                </a:cubicBezTo>
                <a:close/>
              </a:path>
            </a:pathLst>
          </a:custGeom>
          <a:solidFill>
            <a:srgbClr val="FFFFFF"/>
          </a:solidFill>
          <a:effectLst>
            <a:outerShdw blurRad="28575" dist="9525" dir="5400000" algn="bl" rotWithShape="0">
              <a:srgbClr val="000000">
                <a:alpha val="10196"/>
              </a:srgbClr>
            </a:outerShdw>
          </a:effectLst>
        </p:spPr>
      </p:sp>
      <p:sp>
        <p:nvSpPr>
          <p:cNvPr id="15" name="Text 11"/>
          <p:cNvSpPr/>
          <p:nvPr/>
        </p:nvSpPr>
        <p:spPr>
          <a:xfrm>
            <a:off x="666750" y="2552700"/>
            <a:ext cx="51816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6维度16特征</a:t>
            </a:r>
            <a:endParaRPr lang="en-US" sz="1600" dirty="0"/>
          </a:p>
        </p:txBody>
      </p:sp>
      <p:sp>
        <p:nvSpPr>
          <p:cNvPr id="16" name="Shape 12"/>
          <p:cNvSpPr/>
          <p:nvPr/>
        </p:nvSpPr>
        <p:spPr>
          <a:xfrm>
            <a:off x="666750" y="3057525"/>
            <a:ext cx="190500" cy="190500"/>
          </a:xfrm>
          <a:custGeom>
            <a:avLst/>
            <a:gdLst/>
            <a:ahLst/>
            <a:cxnLst/>
            <a:rect l="l" t="t" r="r" b="b"/>
            <a:pathLst>
              <a:path w="190500" h="190500">
                <a:moveTo>
                  <a:pt x="38100" y="0"/>
                </a:moveTo>
                <a:lnTo>
                  <a:pt x="152400" y="0"/>
                </a:lnTo>
                <a:cubicBezTo>
                  <a:pt x="173428" y="0"/>
                  <a:pt x="190500" y="17072"/>
                  <a:pt x="190500" y="38100"/>
                </a:cubicBezTo>
                <a:lnTo>
                  <a:pt x="190500" y="152400"/>
                </a:lnTo>
                <a:cubicBezTo>
                  <a:pt x="190500" y="173428"/>
                  <a:pt x="173428" y="190500"/>
                  <a:pt x="152400" y="190500"/>
                </a:cubicBezTo>
                <a:lnTo>
                  <a:pt x="38100" y="190500"/>
                </a:lnTo>
                <a:cubicBezTo>
                  <a:pt x="17072" y="190500"/>
                  <a:pt x="0" y="173428"/>
                  <a:pt x="0" y="152400"/>
                </a:cubicBezTo>
                <a:lnTo>
                  <a:pt x="0" y="38100"/>
                </a:lnTo>
                <a:cubicBezTo>
                  <a:pt x="0" y="17072"/>
                  <a:pt x="17072" y="0"/>
                  <a:pt x="38100" y="0"/>
                </a:cubicBezTo>
                <a:close/>
              </a:path>
            </a:pathLst>
          </a:custGeom>
          <a:solidFill>
            <a:srgbClr val="4A4A4A"/>
          </a:solidFill>
        </p:spPr>
      </p:sp>
      <p:sp>
        <p:nvSpPr>
          <p:cNvPr id="17" name="Text 13"/>
          <p:cNvSpPr/>
          <p:nvPr/>
        </p:nvSpPr>
        <p:spPr>
          <a:xfrm>
            <a:off x="638175" y="3057525"/>
            <a:ext cx="247650" cy="190500"/>
          </a:xfrm>
          <a:prstGeom prst="rect">
            <a:avLst/>
          </a:prstGeom>
          <a:noFill/>
        </p:spPr>
        <p:txBody>
          <a:bodyPr wrap="square" lIns="0" tIns="0" rIns="0" bIns="0" rtlCol="0" anchor="ctr"/>
          <a:lstStyle/>
          <a:p>
            <a:pPr algn="ctr">
              <a:lnSpc>
                <a:spcPct val="110000"/>
              </a:lnSpc>
            </a:pPr>
            <a:r>
              <a:rPr lang="en-US" sz="900" dirty="0">
                <a:solidFill>
                  <a:srgbClr val="FFFFFF"/>
                </a:solidFill>
                <a:latin typeface="MiSans" pitchFamily="34" charset="-122"/>
                <a:ea typeface="MiSans" pitchFamily="34" charset="-122"/>
                <a:cs typeface="MiSans" pitchFamily="34" charset="-120"/>
              </a:rPr>
              <a:t>R</a:t>
            </a:r>
            <a:endParaRPr lang="en-US" sz="1600" dirty="0"/>
          </a:p>
        </p:txBody>
      </p:sp>
      <p:sp>
        <p:nvSpPr>
          <p:cNvPr id="18" name="Text 14"/>
          <p:cNvSpPr/>
          <p:nvPr/>
        </p:nvSpPr>
        <p:spPr>
          <a:xfrm>
            <a:off x="914400" y="3038475"/>
            <a:ext cx="91440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信息读取 (3)</a:t>
            </a:r>
            <a:endParaRPr lang="en-US" sz="1600" dirty="0"/>
          </a:p>
        </p:txBody>
      </p:sp>
      <p:sp>
        <p:nvSpPr>
          <p:cNvPr id="19" name="Shape 15"/>
          <p:cNvSpPr/>
          <p:nvPr/>
        </p:nvSpPr>
        <p:spPr>
          <a:xfrm>
            <a:off x="3257550" y="3057525"/>
            <a:ext cx="190500" cy="190500"/>
          </a:xfrm>
          <a:custGeom>
            <a:avLst/>
            <a:gdLst/>
            <a:ahLst/>
            <a:cxnLst/>
            <a:rect l="l" t="t" r="r" b="b"/>
            <a:pathLst>
              <a:path w="190500" h="190500">
                <a:moveTo>
                  <a:pt x="38100" y="0"/>
                </a:moveTo>
                <a:lnTo>
                  <a:pt x="152400" y="0"/>
                </a:lnTo>
                <a:cubicBezTo>
                  <a:pt x="173428" y="0"/>
                  <a:pt x="190500" y="17072"/>
                  <a:pt x="190500" y="38100"/>
                </a:cubicBezTo>
                <a:lnTo>
                  <a:pt x="190500" y="152400"/>
                </a:lnTo>
                <a:cubicBezTo>
                  <a:pt x="190500" y="173428"/>
                  <a:pt x="173428" y="190500"/>
                  <a:pt x="152400" y="190500"/>
                </a:cubicBezTo>
                <a:lnTo>
                  <a:pt x="38100" y="190500"/>
                </a:lnTo>
                <a:cubicBezTo>
                  <a:pt x="17072" y="190500"/>
                  <a:pt x="0" y="173428"/>
                  <a:pt x="0" y="152400"/>
                </a:cubicBezTo>
                <a:lnTo>
                  <a:pt x="0" y="38100"/>
                </a:lnTo>
                <a:cubicBezTo>
                  <a:pt x="0" y="17072"/>
                  <a:pt x="17072" y="0"/>
                  <a:pt x="38100" y="0"/>
                </a:cubicBezTo>
                <a:close/>
              </a:path>
            </a:pathLst>
          </a:custGeom>
          <a:solidFill>
            <a:srgbClr val="808080"/>
          </a:solidFill>
        </p:spPr>
      </p:sp>
      <p:sp>
        <p:nvSpPr>
          <p:cNvPr id="20" name="Text 16"/>
          <p:cNvSpPr/>
          <p:nvPr/>
        </p:nvSpPr>
        <p:spPr>
          <a:xfrm>
            <a:off x="3228975" y="3057525"/>
            <a:ext cx="247650" cy="190500"/>
          </a:xfrm>
          <a:prstGeom prst="rect">
            <a:avLst/>
          </a:prstGeom>
          <a:noFill/>
        </p:spPr>
        <p:txBody>
          <a:bodyPr wrap="square" lIns="0" tIns="0" rIns="0" bIns="0" rtlCol="0" anchor="ctr"/>
          <a:lstStyle/>
          <a:p>
            <a:pPr algn="ctr">
              <a:lnSpc>
                <a:spcPct val="110000"/>
              </a:lnSpc>
            </a:pPr>
            <a:r>
              <a:rPr lang="en-US" sz="900" dirty="0">
                <a:solidFill>
                  <a:srgbClr val="FFFFFF"/>
                </a:solidFill>
                <a:latin typeface="MiSans" pitchFamily="34" charset="-122"/>
                <a:ea typeface="MiSans" pitchFamily="34" charset="-122"/>
                <a:cs typeface="MiSans" pitchFamily="34" charset="-120"/>
              </a:rPr>
              <a:t>D</a:t>
            </a:r>
            <a:endParaRPr lang="en-US" sz="1600" dirty="0"/>
          </a:p>
        </p:txBody>
      </p:sp>
      <p:sp>
        <p:nvSpPr>
          <p:cNvPr id="21" name="Text 17"/>
          <p:cNvSpPr/>
          <p:nvPr/>
        </p:nvSpPr>
        <p:spPr>
          <a:xfrm>
            <a:off x="3505200" y="3038475"/>
            <a:ext cx="91440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数据传输 (3)</a:t>
            </a:r>
            <a:endParaRPr lang="en-US" sz="1600" dirty="0"/>
          </a:p>
        </p:txBody>
      </p:sp>
      <p:sp>
        <p:nvSpPr>
          <p:cNvPr id="22" name="Shape 18"/>
          <p:cNvSpPr/>
          <p:nvPr/>
        </p:nvSpPr>
        <p:spPr>
          <a:xfrm>
            <a:off x="666750" y="3324225"/>
            <a:ext cx="190500" cy="190500"/>
          </a:xfrm>
          <a:custGeom>
            <a:avLst/>
            <a:gdLst/>
            <a:ahLst/>
            <a:cxnLst/>
            <a:rect l="l" t="t" r="r" b="b"/>
            <a:pathLst>
              <a:path w="190500" h="190500">
                <a:moveTo>
                  <a:pt x="38100" y="0"/>
                </a:moveTo>
                <a:lnTo>
                  <a:pt x="152400" y="0"/>
                </a:lnTo>
                <a:cubicBezTo>
                  <a:pt x="173428" y="0"/>
                  <a:pt x="190500" y="17072"/>
                  <a:pt x="190500" y="38100"/>
                </a:cubicBezTo>
                <a:lnTo>
                  <a:pt x="190500" y="152400"/>
                </a:lnTo>
                <a:cubicBezTo>
                  <a:pt x="190500" y="173428"/>
                  <a:pt x="173428" y="190500"/>
                  <a:pt x="152400" y="190500"/>
                </a:cubicBezTo>
                <a:lnTo>
                  <a:pt x="38100" y="190500"/>
                </a:lnTo>
                <a:cubicBezTo>
                  <a:pt x="17072" y="190500"/>
                  <a:pt x="0" y="173428"/>
                  <a:pt x="0" y="152400"/>
                </a:cubicBezTo>
                <a:lnTo>
                  <a:pt x="0" y="38100"/>
                </a:lnTo>
                <a:cubicBezTo>
                  <a:pt x="0" y="17072"/>
                  <a:pt x="17072" y="0"/>
                  <a:pt x="38100" y="0"/>
                </a:cubicBezTo>
                <a:close/>
              </a:path>
            </a:pathLst>
          </a:custGeom>
          <a:solidFill>
            <a:srgbClr val="BDBDBD"/>
          </a:solidFill>
        </p:spPr>
      </p:sp>
      <p:sp>
        <p:nvSpPr>
          <p:cNvPr id="23" name="Text 19"/>
          <p:cNvSpPr/>
          <p:nvPr/>
        </p:nvSpPr>
        <p:spPr>
          <a:xfrm>
            <a:off x="638175" y="3324225"/>
            <a:ext cx="247650" cy="190500"/>
          </a:xfrm>
          <a:prstGeom prst="rect">
            <a:avLst/>
          </a:prstGeom>
          <a:noFill/>
        </p:spPr>
        <p:txBody>
          <a:bodyPr wrap="square" lIns="0" tIns="0" rIns="0" bIns="0" rtlCol="0" anchor="ctr"/>
          <a:lstStyle/>
          <a:p>
            <a:pPr algn="ctr">
              <a:lnSpc>
                <a:spcPct val="110000"/>
              </a:lnSpc>
            </a:pPr>
            <a:r>
              <a:rPr lang="en-US" sz="900" dirty="0">
                <a:solidFill>
                  <a:srgbClr val="1A1A1A"/>
                </a:solidFill>
                <a:latin typeface="MiSans" pitchFamily="34" charset="-122"/>
                <a:ea typeface="MiSans" pitchFamily="34" charset="-122"/>
                <a:cs typeface="MiSans" pitchFamily="34" charset="-120"/>
              </a:rPr>
              <a:t>E</a:t>
            </a:r>
            <a:endParaRPr lang="en-US" sz="1600" dirty="0"/>
          </a:p>
        </p:txBody>
      </p:sp>
      <p:sp>
        <p:nvSpPr>
          <p:cNvPr id="24" name="Text 20"/>
          <p:cNvSpPr/>
          <p:nvPr/>
        </p:nvSpPr>
        <p:spPr>
          <a:xfrm>
            <a:off x="914400" y="3305175"/>
            <a:ext cx="60960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编码 (3)</a:t>
            </a:r>
            <a:endParaRPr lang="en-US" sz="1600" dirty="0"/>
          </a:p>
        </p:txBody>
      </p:sp>
      <p:sp>
        <p:nvSpPr>
          <p:cNvPr id="25" name="Shape 21"/>
          <p:cNvSpPr/>
          <p:nvPr/>
        </p:nvSpPr>
        <p:spPr>
          <a:xfrm>
            <a:off x="3257550" y="3324225"/>
            <a:ext cx="190500" cy="190500"/>
          </a:xfrm>
          <a:custGeom>
            <a:avLst/>
            <a:gdLst/>
            <a:ahLst/>
            <a:cxnLst/>
            <a:rect l="l" t="t" r="r" b="b"/>
            <a:pathLst>
              <a:path w="190500" h="190500">
                <a:moveTo>
                  <a:pt x="38100" y="0"/>
                </a:moveTo>
                <a:lnTo>
                  <a:pt x="152400" y="0"/>
                </a:lnTo>
                <a:cubicBezTo>
                  <a:pt x="173428" y="0"/>
                  <a:pt x="190500" y="17072"/>
                  <a:pt x="190500" y="38100"/>
                </a:cubicBezTo>
                <a:lnTo>
                  <a:pt x="190500" y="152400"/>
                </a:lnTo>
                <a:cubicBezTo>
                  <a:pt x="190500" y="173428"/>
                  <a:pt x="173428" y="190500"/>
                  <a:pt x="152400" y="190500"/>
                </a:cubicBezTo>
                <a:lnTo>
                  <a:pt x="38100" y="190500"/>
                </a:lnTo>
                <a:cubicBezTo>
                  <a:pt x="17072" y="190500"/>
                  <a:pt x="0" y="173428"/>
                  <a:pt x="0" y="152400"/>
                </a:cubicBezTo>
                <a:lnTo>
                  <a:pt x="0" y="38100"/>
                </a:lnTo>
                <a:cubicBezTo>
                  <a:pt x="0" y="17072"/>
                  <a:pt x="17072" y="0"/>
                  <a:pt x="38100" y="0"/>
                </a:cubicBezTo>
                <a:close/>
              </a:path>
            </a:pathLst>
          </a:custGeom>
          <a:solidFill>
            <a:srgbClr val="4A4A4A"/>
          </a:solidFill>
        </p:spPr>
      </p:sp>
      <p:sp>
        <p:nvSpPr>
          <p:cNvPr id="26" name="Text 22"/>
          <p:cNvSpPr/>
          <p:nvPr/>
        </p:nvSpPr>
        <p:spPr>
          <a:xfrm>
            <a:off x="3228975" y="3324225"/>
            <a:ext cx="247650" cy="190500"/>
          </a:xfrm>
          <a:prstGeom prst="rect">
            <a:avLst/>
          </a:prstGeom>
          <a:noFill/>
        </p:spPr>
        <p:txBody>
          <a:bodyPr wrap="square" lIns="0" tIns="0" rIns="0" bIns="0" rtlCol="0" anchor="ctr"/>
          <a:lstStyle/>
          <a:p>
            <a:pPr algn="ctr">
              <a:lnSpc>
                <a:spcPct val="110000"/>
              </a:lnSpc>
            </a:pPr>
            <a:r>
              <a:rPr lang="en-US" sz="900" dirty="0">
                <a:solidFill>
                  <a:srgbClr val="FFFFFF"/>
                </a:solidFill>
                <a:latin typeface="MiSans" pitchFamily="34" charset="-122"/>
                <a:ea typeface="MiSans" pitchFamily="34" charset="-122"/>
                <a:cs typeface="MiSans" pitchFamily="34" charset="-120"/>
              </a:rPr>
              <a:t>P</a:t>
            </a:r>
            <a:endParaRPr lang="en-US" sz="1600" dirty="0"/>
          </a:p>
        </p:txBody>
      </p:sp>
      <p:sp>
        <p:nvSpPr>
          <p:cNvPr id="27" name="Text 23"/>
          <p:cNvSpPr/>
          <p:nvPr/>
        </p:nvSpPr>
        <p:spPr>
          <a:xfrm>
            <a:off x="3505200" y="3305175"/>
            <a:ext cx="91440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负载执行 (3)</a:t>
            </a:r>
            <a:endParaRPr lang="en-US" sz="1600" dirty="0"/>
          </a:p>
        </p:txBody>
      </p:sp>
      <p:sp>
        <p:nvSpPr>
          <p:cNvPr id="28" name="Shape 24"/>
          <p:cNvSpPr/>
          <p:nvPr/>
        </p:nvSpPr>
        <p:spPr>
          <a:xfrm>
            <a:off x="666750" y="3590925"/>
            <a:ext cx="190500" cy="190500"/>
          </a:xfrm>
          <a:custGeom>
            <a:avLst/>
            <a:gdLst/>
            <a:ahLst/>
            <a:cxnLst/>
            <a:rect l="l" t="t" r="r" b="b"/>
            <a:pathLst>
              <a:path w="190500" h="190500">
                <a:moveTo>
                  <a:pt x="38100" y="0"/>
                </a:moveTo>
                <a:lnTo>
                  <a:pt x="152400" y="0"/>
                </a:lnTo>
                <a:cubicBezTo>
                  <a:pt x="173428" y="0"/>
                  <a:pt x="190500" y="17072"/>
                  <a:pt x="190500" y="38100"/>
                </a:cubicBezTo>
                <a:lnTo>
                  <a:pt x="190500" y="152400"/>
                </a:lnTo>
                <a:cubicBezTo>
                  <a:pt x="190500" y="173428"/>
                  <a:pt x="173428" y="190500"/>
                  <a:pt x="152400" y="190500"/>
                </a:cubicBezTo>
                <a:lnTo>
                  <a:pt x="38100" y="190500"/>
                </a:lnTo>
                <a:cubicBezTo>
                  <a:pt x="17072" y="190500"/>
                  <a:pt x="0" y="173428"/>
                  <a:pt x="0" y="152400"/>
                </a:cubicBezTo>
                <a:lnTo>
                  <a:pt x="0" y="38100"/>
                </a:lnTo>
                <a:cubicBezTo>
                  <a:pt x="0" y="17072"/>
                  <a:pt x="17072" y="0"/>
                  <a:pt x="38100" y="0"/>
                </a:cubicBezTo>
                <a:close/>
              </a:path>
            </a:pathLst>
          </a:custGeom>
          <a:solidFill>
            <a:srgbClr val="808080"/>
          </a:solidFill>
        </p:spPr>
      </p:sp>
      <p:sp>
        <p:nvSpPr>
          <p:cNvPr id="29" name="Text 25"/>
          <p:cNvSpPr/>
          <p:nvPr/>
        </p:nvSpPr>
        <p:spPr>
          <a:xfrm>
            <a:off x="638175" y="3590925"/>
            <a:ext cx="247650" cy="190500"/>
          </a:xfrm>
          <a:prstGeom prst="rect">
            <a:avLst/>
          </a:prstGeom>
          <a:noFill/>
        </p:spPr>
        <p:txBody>
          <a:bodyPr wrap="square" lIns="0" tIns="0" rIns="0" bIns="0" rtlCol="0" anchor="ctr"/>
          <a:lstStyle/>
          <a:p>
            <a:pPr algn="ctr">
              <a:lnSpc>
                <a:spcPct val="110000"/>
              </a:lnSpc>
            </a:pPr>
            <a:r>
              <a:rPr lang="en-US" sz="900" dirty="0">
                <a:solidFill>
                  <a:srgbClr val="FFFFFF"/>
                </a:solidFill>
                <a:latin typeface="MiSans" pitchFamily="34" charset="-122"/>
                <a:ea typeface="MiSans" pitchFamily="34" charset="-122"/>
                <a:cs typeface="MiSans" pitchFamily="34" charset="-120"/>
              </a:rPr>
              <a:t>M</a:t>
            </a:r>
            <a:endParaRPr lang="en-US" sz="1600" dirty="0"/>
          </a:p>
        </p:txBody>
      </p:sp>
      <p:sp>
        <p:nvSpPr>
          <p:cNvPr id="30" name="Text 26"/>
          <p:cNvSpPr/>
          <p:nvPr/>
        </p:nvSpPr>
        <p:spPr>
          <a:xfrm>
            <a:off x="914400" y="3571875"/>
            <a:ext cx="53340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元数据</a:t>
            </a:r>
            <a:endParaRPr lang="en-US" sz="1600" dirty="0"/>
          </a:p>
        </p:txBody>
      </p:sp>
      <p:sp>
        <p:nvSpPr>
          <p:cNvPr id="31" name="Shape 27"/>
          <p:cNvSpPr/>
          <p:nvPr/>
        </p:nvSpPr>
        <p:spPr>
          <a:xfrm>
            <a:off x="3257550" y="3590925"/>
            <a:ext cx="190500" cy="190500"/>
          </a:xfrm>
          <a:custGeom>
            <a:avLst/>
            <a:gdLst/>
            <a:ahLst/>
            <a:cxnLst/>
            <a:rect l="l" t="t" r="r" b="b"/>
            <a:pathLst>
              <a:path w="190500" h="190500">
                <a:moveTo>
                  <a:pt x="38100" y="0"/>
                </a:moveTo>
                <a:lnTo>
                  <a:pt x="152400" y="0"/>
                </a:lnTo>
                <a:cubicBezTo>
                  <a:pt x="173428" y="0"/>
                  <a:pt x="190500" y="17072"/>
                  <a:pt x="190500" y="38100"/>
                </a:cubicBezTo>
                <a:lnTo>
                  <a:pt x="190500" y="152400"/>
                </a:lnTo>
                <a:cubicBezTo>
                  <a:pt x="190500" y="173428"/>
                  <a:pt x="173428" y="190500"/>
                  <a:pt x="152400" y="190500"/>
                </a:cubicBezTo>
                <a:lnTo>
                  <a:pt x="38100" y="190500"/>
                </a:lnTo>
                <a:cubicBezTo>
                  <a:pt x="17072" y="190500"/>
                  <a:pt x="0" y="173428"/>
                  <a:pt x="0" y="152400"/>
                </a:cubicBezTo>
                <a:lnTo>
                  <a:pt x="0" y="38100"/>
                </a:lnTo>
                <a:cubicBezTo>
                  <a:pt x="0" y="17072"/>
                  <a:pt x="17072" y="0"/>
                  <a:pt x="38100" y="0"/>
                </a:cubicBezTo>
                <a:close/>
              </a:path>
            </a:pathLst>
          </a:custGeom>
          <a:solidFill>
            <a:srgbClr val="BDBDBD"/>
          </a:solidFill>
        </p:spPr>
      </p:sp>
      <p:sp>
        <p:nvSpPr>
          <p:cNvPr id="32" name="Text 28"/>
          <p:cNvSpPr/>
          <p:nvPr/>
        </p:nvSpPr>
        <p:spPr>
          <a:xfrm>
            <a:off x="3228975" y="3590925"/>
            <a:ext cx="247650" cy="190500"/>
          </a:xfrm>
          <a:prstGeom prst="rect">
            <a:avLst/>
          </a:prstGeom>
          <a:noFill/>
        </p:spPr>
        <p:txBody>
          <a:bodyPr wrap="square" lIns="0" tIns="0" rIns="0" bIns="0" rtlCol="0" anchor="ctr"/>
          <a:lstStyle/>
          <a:p>
            <a:pPr algn="ctr">
              <a:lnSpc>
                <a:spcPct val="110000"/>
              </a:lnSpc>
            </a:pPr>
            <a:r>
              <a:rPr lang="en-US" sz="900" dirty="0">
                <a:solidFill>
                  <a:srgbClr val="1A1A1A"/>
                </a:solidFill>
                <a:latin typeface="MiSans" pitchFamily="34" charset="-122"/>
                <a:ea typeface="MiSans" pitchFamily="34" charset="-122"/>
                <a:cs typeface="MiSans" pitchFamily="34" charset="-120"/>
              </a:rPr>
              <a:t>Dyn</a:t>
            </a:r>
            <a:endParaRPr lang="en-US" sz="1600" dirty="0"/>
          </a:p>
        </p:txBody>
      </p:sp>
      <p:sp>
        <p:nvSpPr>
          <p:cNvPr id="33" name="Text 29"/>
          <p:cNvSpPr/>
          <p:nvPr/>
        </p:nvSpPr>
        <p:spPr>
          <a:xfrm>
            <a:off x="3505200" y="3571875"/>
            <a:ext cx="68580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动态特征</a:t>
            </a:r>
            <a:endParaRPr lang="en-US" sz="1600" dirty="0"/>
          </a:p>
        </p:txBody>
      </p:sp>
      <p:sp>
        <p:nvSpPr>
          <p:cNvPr id="34" name="Shape 30"/>
          <p:cNvSpPr/>
          <p:nvPr/>
        </p:nvSpPr>
        <p:spPr>
          <a:xfrm>
            <a:off x="571500" y="4191000"/>
            <a:ext cx="5295900" cy="1123950"/>
          </a:xfrm>
          <a:custGeom>
            <a:avLst/>
            <a:gdLst/>
            <a:ahLst/>
            <a:cxnLst/>
            <a:rect l="l" t="t" r="r" b="b"/>
            <a:pathLst>
              <a:path w="5295900" h="1123950">
                <a:moveTo>
                  <a:pt x="76204" y="0"/>
                </a:moveTo>
                <a:lnTo>
                  <a:pt x="5219696" y="0"/>
                </a:lnTo>
                <a:cubicBezTo>
                  <a:pt x="5261782" y="0"/>
                  <a:pt x="5295900" y="34118"/>
                  <a:pt x="5295900" y="76204"/>
                </a:cubicBezTo>
                <a:lnTo>
                  <a:pt x="5295900" y="1047746"/>
                </a:lnTo>
                <a:cubicBezTo>
                  <a:pt x="5295900" y="1089832"/>
                  <a:pt x="5261782" y="1123950"/>
                  <a:pt x="5219696" y="1123950"/>
                </a:cubicBezTo>
                <a:lnTo>
                  <a:pt x="76204" y="1123950"/>
                </a:lnTo>
                <a:cubicBezTo>
                  <a:pt x="34118" y="1123950"/>
                  <a:pt x="0" y="1089832"/>
                  <a:pt x="0" y="1047746"/>
                </a:cubicBezTo>
                <a:lnTo>
                  <a:pt x="0" y="76204"/>
                </a:lnTo>
                <a:cubicBezTo>
                  <a:pt x="0" y="34146"/>
                  <a:pt x="34146" y="0"/>
                  <a:pt x="76204" y="0"/>
                </a:cubicBezTo>
                <a:close/>
              </a:path>
            </a:pathLst>
          </a:custGeom>
          <a:solidFill>
            <a:srgbClr val="4A4A4A">
              <a:alpha val="10196"/>
            </a:srgbClr>
          </a:solidFill>
        </p:spPr>
      </p:sp>
      <p:sp>
        <p:nvSpPr>
          <p:cNvPr id="35" name="Text 31"/>
          <p:cNvSpPr/>
          <p:nvPr/>
        </p:nvSpPr>
        <p:spPr>
          <a:xfrm>
            <a:off x="666750" y="4286250"/>
            <a:ext cx="51816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特征提取流程</a:t>
            </a:r>
            <a:endParaRPr lang="en-US" sz="1600" dirty="0"/>
          </a:p>
        </p:txBody>
      </p:sp>
      <p:sp>
        <p:nvSpPr>
          <p:cNvPr id="36" name="Text 32"/>
          <p:cNvSpPr/>
          <p:nvPr/>
        </p:nvSpPr>
        <p:spPr>
          <a:xfrm>
            <a:off x="666750" y="4552950"/>
            <a:ext cx="5181600"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1. 静态分析：</a:t>
            </a:r>
            <a:r>
              <a:rPr lang="en-US" sz="1200" dirty="0">
                <a:solidFill>
                  <a:srgbClr val="808080"/>
                </a:solidFill>
                <a:latin typeface="MiSans" pitchFamily="34" charset="-122"/>
                <a:ea typeface="MiSans" pitchFamily="34" charset="-122"/>
                <a:cs typeface="MiSans" pitchFamily="34" charset="-120"/>
              </a:rPr>
              <a:t> 使用tree-sitter解析AST</a:t>
            </a:r>
            <a:endParaRPr lang="en-US" sz="1600" dirty="0"/>
          </a:p>
        </p:txBody>
      </p:sp>
      <p:sp>
        <p:nvSpPr>
          <p:cNvPr id="37" name="Text 33"/>
          <p:cNvSpPr/>
          <p:nvPr/>
        </p:nvSpPr>
        <p:spPr>
          <a:xfrm>
            <a:off x="666750" y="4781550"/>
            <a:ext cx="5181600"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2. 模式匹配：</a:t>
            </a:r>
            <a:r>
              <a:rPr lang="en-US" sz="1200" dirty="0">
                <a:solidFill>
                  <a:srgbClr val="808080"/>
                </a:solidFill>
                <a:latin typeface="MiSans" pitchFamily="34" charset="-122"/>
                <a:ea typeface="MiSans" pitchFamily="34" charset="-122"/>
                <a:cs typeface="MiSans" pitchFamily="34" charset="-120"/>
              </a:rPr>
              <a:t> 匹配预定义特征模式</a:t>
            </a:r>
            <a:endParaRPr lang="en-US" sz="1600" dirty="0"/>
          </a:p>
        </p:txBody>
      </p:sp>
      <p:sp>
        <p:nvSpPr>
          <p:cNvPr id="38" name="Text 34"/>
          <p:cNvSpPr/>
          <p:nvPr/>
        </p:nvSpPr>
        <p:spPr>
          <a:xfrm>
            <a:off x="666750" y="5010150"/>
            <a:ext cx="5181600"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3. 输出格式：</a:t>
            </a:r>
            <a:r>
              <a:rPr lang="en-US" sz="1200" dirty="0">
                <a:solidFill>
                  <a:srgbClr val="808080"/>
                </a:solidFill>
                <a:latin typeface="MiSans" pitchFamily="34" charset="-122"/>
                <a:ea typeface="MiSans" pitchFamily="34" charset="-122"/>
                <a:cs typeface="MiSans" pitchFamily="34" charset="-120"/>
              </a:rPr>
              <a:t> 三元组〈方法名,行号,特征ID〉</a:t>
            </a:r>
            <a:endParaRPr lang="en-US" sz="1600" dirty="0"/>
          </a:p>
        </p:txBody>
      </p:sp>
      <p:sp>
        <p:nvSpPr>
          <p:cNvPr id="39" name="Shape 35"/>
          <p:cNvSpPr/>
          <p:nvPr/>
        </p:nvSpPr>
        <p:spPr>
          <a:xfrm>
            <a:off x="381000" y="5581650"/>
            <a:ext cx="5638800" cy="438150"/>
          </a:xfrm>
          <a:custGeom>
            <a:avLst/>
            <a:gdLst/>
            <a:ahLst/>
            <a:cxnLst/>
            <a:rect l="l" t="t" r="r" b="b"/>
            <a:pathLst>
              <a:path w="5638800" h="438150">
                <a:moveTo>
                  <a:pt x="76199" y="0"/>
                </a:moveTo>
                <a:lnTo>
                  <a:pt x="5562601" y="0"/>
                </a:lnTo>
                <a:cubicBezTo>
                  <a:pt x="5604685" y="0"/>
                  <a:pt x="5638800" y="34115"/>
                  <a:pt x="5638800" y="76199"/>
                </a:cubicBezTo>
                <a:lnTo>
                  <a:pt x="5638800" y="361951"/>
                </a:lnTo>
                <a:cubicBezTo>
                  <a:pt x="5638800" y="404035"/>
                  <a:pt x="5604685" y="438150"/>
                  <a:pt x="5562601" y="438150"/>
                </a:cubicBezTo>
                <a:lnTo>
                  <a:pt x="76199" y="438150"/>
                </a:lnTo>
                <a:cubicBezTo>
                  <a:pt x="34115" y="438150"/>
                  <a:pt x="0" y="404035"/>
                  <a:pt x="0" y="361951"/>
                </a:cubicBezTo>
                <a:lnTo>
                  <a:pt x="0" y="76199"/>
                </a:lnTo>
                <a:cubicBezTo>
                  <a:pt x="0" y="34143"/>
                  <a:pt x="34143" y="0"/>
                  <a:pt x="76199" y="0"/>
                </a:cubicBezTo>
                <a:close/>
              </a:path>
            </a:pathLst>
          </a:custGeom>
          <a:gradFill flip="none" rotWithShape="1">
            <a:gsLst>
              <a:gs pos="0">
                <a:srgbClr val="4A4A4A"/>
              </a:gs>
              <a:gs pos="100000">
                <a:srgbClr val="808080"/>
              </a:gs>
            </a:gsLst>
            <a:lin ang="0" scaled="1"/>
          </a:gradFill>
        </p:spPr>
      </p:sp>
      <p:sp>
        <p:nvSpPr>
          <p:cNvPr id="40" name="Shape 36"/>
          <p:cNvSpPr/>
          <p:nvPr/>
        </p:nvSpPr>
        <p:spPr>
          <a:xfrm>
            <a:off x="504825" y="5718809"/>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FFFFFF"/>
          </a:solidFill>
        </p:spPr>
      </p:sp>
      <p:sp>
        <p:nvSpPr>
          <p:cNvPr id="41" name="Text 37"/>
          <p:cNvSpPr/>
          <p:nvPr/>
        </p:nvSpPr>
        <p:spPr>
          <a:xfrm>
            <a:off x="742950" y="5695950"/>
            <a:ext cx="5238750" cy="209550"/>
          </a:xfrm>
          <a:prstGeom prst="rect">
            <a:avLst/>
          </a:prstGeom>
          <a:noFill/>
        </p:spPr>
        <p:txBody>
          <a:bodyPr wrap="square" lIns="0" tIns="0" rIns="0" bIns="0" rtlCol="0" anchor="ctr"/>
          <a:lstStyle/>
          <a:p>
            <a:pPr>
              <a:lnSpc>
                <a:spcPct val="110000"/>
              </a:lnSpc>
            </a:pPr>
            <a:r>
              <a:rPr lang="en-US" sz="1200" b="1" dirty="0">
                <a:solidFill>
                  <a:srgbClr val="FFFFFF"/>
                </a:solidFill>
                <a:latin typeface="MiSans" pitchFamily="34" charset="-122"/>
                <a:ea typeface="MiSans" pitchFamily="34" charset="-122"/>
                <a:cs typeface="MiSans" pitchFamily="34" charset="-120"/>
              </a:rPr>
              <a:t>关键创新：</a:t>
            </a:r>
            <a:r>
              <a:rPr lang="en-US" sz="1200" dirty="0">
                <a:solidFill>
                  <a:srgbClr val="FFFFFF"/>
                </a:solidFill>
                <a:latin typeface="MiSans" pitchFamily="34" charset="-122"/>
                <a:ea typeface="MiSans" pitchFamily="34" charset="-122"/>
                <a:cs typeface="MiSans" pitchFamily="34" charset="-120"/>
              </a:rPr>
              <a:t> 语言无关性特征集，支持跨生态知识融合</a:t>
            </a:r>
            <a:endParaRPr lang="en-US" sz="1600" dirty="0"/>
          </a:p>
        </p:txBody>
      </p:sp>
      <p:sp>
        <p:nvSpPr>
          <p:cNvPr id="42" name="Shape 38"/>
          <p:cNvSpPr/>
          <p:nvPr/>
        </p:nvSpPr>
        <p:spPr>
          <a:xfrm>
            <a:off x="6191250" y="1219200"/>
            <a:ext cx="5619750" cy="4248150"/>
          </a:xfrm>
          <a:custGeom>
            <a:avLst/>
            <a:gdLst/>
            <a:ahLst/>
            <a:cxnLst/>
            <a:rect l="l" t="t" r="r" b="b"/>
            <a:pathLst>
              <a:path w="5619750" h="4248150">
                <a:moveTo>
                  <a:pt x="38100" y="0"/>
                </a:moveTo>
                <a:lnTo>
                  <a:pt x="5543538" y="0"/>
                </a:lnTo>
                <a:cubicBezTo>
                  <a:pt x="5585629" y="0"/>
                  <a:pt x="5619750" y="34121"/>
                  <a:pt x="5619750" y="76212"/>
                </a:cubicBezTo>
                <a:lnTo>
                  <a:pt x="5619750" y="4171938"/>
                </a:lnTo>
                <a:cubicBezTo>
                  <a:pt x="5619750" y="4214029"/>
                  <a:pt x="5585629" y="4248150"/>
                  <a:pt x="5543538" y="4248150"/>
                </a:cubicBezTo>
                <a:lnTo>
                  <a:pt x="38100" y="4248150"/>
                </a:lnTo>
                <a:cubicBezTo>
                  <a:pt x="17072" y="4248150"/>
                  <a:pt x="0" y="4231078"/>
                  <a:pt x="0" y="4210050"/>
                </a:cubicBezTo>
                <a:lnTo>
                  <a:pt x="0" y="38100"/>
                </a:lnTo>
                <a:cubicBezTo>
                  <a:pt x="0" y="17072"/>
                  <a:pt x="17072" y="0"/>
                  <a:pt x="38100" y="0"/>
                </a:cubicBezTo>
                <a:close/>
              </a:path>
            </a:pathLst>
          </a:custGeom>
          <a:solidFill>
            <a:srgbClr val="808080">
              <a:alpha val="10196"/>
            </a:srgbClr>
          </a:solidFill>
        </p:spPr>
      </p:sp>
      <p:sp>
        <p:nvSpPr>
          <p:cNvPr id="43" name="Shape 39"/>
          <p:cNvSpPr/>
          <p:nvPr/>
        </p:nvSpPr>
        <p:spPr>
          <a:xfrm>
            <a:off x="6191250" y="1219200"/>
            <a:ext cx="38100" cy="4248150"/>
          </a:xfrm>
          <a:custGeom>
            <a:avLst/>
            <a:gdLst/>
            <a:ahLst/>
            <a:cxnLst/>
            <a:rect l="l" t="t" r="r" b="b"/>
            <a:pathLst>
              <a:path w="38100" h="4248150">
                <a:moveTo>
                  <a:pt x="38100" y="0"/>
                </a:moveTo>
                <a:lnTo>
                  <a:pt x="38100" y="0"/>
                </a:lnTo>
                <a:lnTo>
                  <a:pt x="38100" y="4248150"/>
                </a:lnTo>
                <a:lnTo>
                  <a:pt x="38100" y="4248150"/>
                </a:lnTo>
                <a:cubicBezTo>
                  <a:pt x="17072" y="4248150"/>
                  <a:pt x="0" y="4231078"/>
                  <a:pt x="0" y="4210050"/>
                </a:cubicBezTo>
                <a:lnTo>
                  <a:pt x="0" y="38100"/>
                </a:lnTo>
                <a:cubicBezTo>
                  <a:pt x="0" y="17072"/>
                  <a:pt x="17072" y="0"/>
                  <a:pt x="38100" y="0"/>
                </a:cubicBezTo>
                <a:close/>
              </a:path>
            </a:pathLst>
          </a:custGeom>
          <a:solidFill>
            <a:srgbClr val="808080"/>
          </a:solidFill>
        </p:spPr>
      </p:sp>
      <p:sp>
        <p:nvSpPr>
          <p:cNvPr id="44" name="Shape 40"/>
          <p:cNvSpPr/>
          <p:nvPr/>
        </p:nvSpPr>
        <p:spPr>
          <a:xfrm>
            <a:off x="6386513" y="1409700"/>
            <a:ext cx="190500" cy="190500"/>
          </a:xfrm>
          <a:custGeom>
            <a:avLst/>
            <a:gdLst/>
            <a:ahLst/>
            <a:cxnLst/>
            <a:rect l="l" t="t" r="r" b="b"/>
            <a:pathLst>
              <a:path w="190500" h="190500">
                <a:moveTo>
                  <a:pt x="0" y="35719"/>
                </a:moveTo>
                <a:cubicBezTo>
                  <a:pt x="0" y="29133"/>
                  <a:pt x="5321" y="23812"/>
                  <a:pt x="11906" y="23812"/>
                </a:cubicBezTo>
                <a:lnTo>
                  <a:pt x="154781" y="23812"/>
                </a:lnTo>
                <a:cubicBezTo>
                  <a:pt x="161367" y="23812"/>
                  <a:pt x="166688" y="29133"/>
                  <a:pt x="166688" y="35719"/>
                </a:cubicBezTo>
                <a:cubicBezTo>
                  <a:pt x="166688" y="42304"/>
                  <a:pt x="161367" y="47625"/>
                  <a:pt x="154781" y="47625"/>
                </a:cubicBezTo>
                <a:lnTo>
                  <a:pt x="11906" y="47625"/>
                </a:lnTo>
                <a:cubicBezTo>
                  <a:pt x="5321" y="47625"/>
                  <a:pt x="0" y="42304"/>
                  <a:pt x="0" y="35719"/>
                </a:cubicBezTo>
                <a:close/>
                <a:moveTo>
                  <a:pt x="23812" y="95250"/>
                </a:moveTo>
                <a:cubicBezTo>
                  <a:pt x="23812" y="88664"/>
                  <a:pt x="29133" y="83344"/>
                  <a:pt x="35719" y="83344"/>
                </a:cubicBezTo>
                <a:lnTo>
                  <a:pt x="178594" y="83344"/>
                </a:lnTo>
                <a:cubicBezTo>
                  <a:pt x="185179" y="83344"/>
                  <a:pt x="190500" y="88664"/>
                  <a:pt x="190500" y="95250"/>
                </a:cubicBezTo>
                <a:cubicBezTo>
                  <a:pt x="190500" y="101836"/>
                  <a:pt x="185179" y="107156"/>
                  <a:pt x="178594" y="107156"/>
                </a:cubicBezTo>
                <a:lnTo>
                  <a:pt x="35719" y="107156"/>
                </a:lnTo>
                <a:cubicBezTo>
                  <a:pt x="29133" y="107156"/>
                  <a:pt x="23812" y="101836"/>
                  <a:pt x="23812" y="95250"/>
                </a:cubicBezTo>
                <a:close/>
                <a:moveTo>
                  <a:pt x="166688" y="154781"/>
                </a:moveTo>
                <a:cubicBezTo>
                  <a:pt x="166688" y="161367"/>
                  <a:pt x="161367" y="166688"/>
                  <a:pt x="154781" y="166688"/>
                </a:cubicBezTo>
                <a:lnTo>
                  <a:pt x="11906" y="166688"/>
                </a:lnTo>
                <a:cubicBezTo>
                  <a:pt x="5321" y="166688"/>
                  <a:pt x="0" y="161367"/>
                  <a:pt x="0" y="154781"/>
                </a:cubicBezTo>
                <a:cubicBezTo>
                  <a:pt x="0" y="148196"/>
                  <a:pt x="5321" y="142875"/>
                  <a:pt x="11906" y="142875"/>
                </a:cubicBezTo>
                <a:lnTo>
                  <a:pt x="154781" y="142875"/>
                </a:lnTo>
                <a:cubicBezTo>
                  <a:pt x="161367" y="142875"/>
                  <a:pt x="166688" y="148196"/>
                  <a:pt x="166688" y="154781"/>
                </a:cubicBezTo>
                <a:close/>
              </a:path>
            </a:pathLst>
          </a:custGeom>
          <a:solidFill>
            <a:srgbClr val="808080"/>
          </a:solidFill>
        </p:spPr>
      </p:sp>
      <p:sp>
        <p:nvSpPr>
          <p:cNvPr id="45" name="Text 41"/>
          <p:cNvSpPr/>
          <p:nvPr/>
        </p:nvSpPr>
        <p:spPr>
          <a:xfrm>
            <a:off x="6600825" y="1371600"/>
            <a:ext cx="5153025" cy="266700"/>
          </a:xfrm>
          <a:prstGeom prst="rect">
            <a:avLst/>
          </a:prstGeom>
          <a:noFill/>
        </p:spPr>
        <p:txBody>
          <a:bodyPr wrap="square" lIns="0" tIns="0" rIns="0" bIns="0" rtlCol="0" anchor="ctr"/>
          <a:lstStyle/>
          <a:p>
            <a:pPr>
              <a:lnSpc>
                <a:spcPct val="120000"/>
              </a:lnSpc>
            </a:pPr>
            <a:r>
              <a:rPr lang="en-US" sz="1500" b="1" dirty="0">
                <a:solidFill>
                  <a:srgbClr val="4A4A4A"/>
                </a:solidFill>
                <a:latin typeface="MiSans" pitchFamily="34" charset="-122"/>
                <a:ea typeface="MiSans" pitchFamily="34" charset="-122"/>
                <a:cs typeface="MiSans" pitchFamily="34" charset="-120"/>
              </a:rPr>
              <a:t>行为序列生成器</a:t>
            </a:r>
            <a:endParaRPr lang="en-US" sz="1600" dirty="0"/>
          </a:p>
        </p:txBody>
      </p:sp>
      <p:sp>
        <p:nvSpPr>
          <p:cNvPr id="46" name="Shape 42"/>
          <p:cNvSpPr/>
          <p:nvPr/>
        </p:nvSpPr>
        <p:spPr>
          <a:xfrm>
            <a:off x="6362700" y="1714500"/>
            <a:ext cx="5295900" cy="1123950"/>
          </a:xfrm>
          <a:custGeom>
            <a:avLst/>
            <a:gdLst/>
            <a:ahLst/>
            <a:cxnLst/>
            <a:rect l="l" t="t" r="r" b="b"/>
            <a:pathLst>
              <a:path w="5295900" h="1123950">
                <a:moveTo>
                  <a:pt x="76204" y="0"/>
                </a:moveTo>
                <a:lnTo>
                  <a:pt x="5219696" y="0"/>
                </a:lnTo>
                <a:cubicBezTo>
                  <a:pt x="5261782" y="0"/>
                  <a:pt x="5295900" y="34118"/>
                  <a:pt x="5295900" y="76204"/>
                </a:cubicBezTo>
                <a:lnTo>
                  <a:pt x="5295900" y="1047746"/>
                </a:lnTo>
                <a:cubicBezTo>
                  <a:pt x="5295900" y="1089832"/>
                  <a:pt x="5261782" y="1123950"/>
                  <a:pt x="5219696" y="1123950"/>
                </a:cubicBezTo>
                <a:lnTo>
                  <a:pt x="76204" y="1123950"/>
                </a:lnTo>
                <a:cubicBezTo>
                  <a:pt x="34118" y="1123950"/>
                  <a:pt x="0" y="1089832"/>
                  <a:pt x="0" y="1047746"/>
                </a:cubicBezTo>
                <a:lnTo>
                  <a:pt x="0" y="76204"/>
                </a:lnTo>
                <a:cubicBezTo>
                  <a:pt x="0" y="34146"/>
                  <a:pt x="34146" y="0"/>
                  <a:pt x="76204" y="0"/>
                </a:cubicBezTo>
                <a:close/>
              </a:path>
            </a:pathLst>
          </a:custGeom>
          <a:solidFill>
            <a:srgbClr val="FFFFFF"/>
          </a:solidFill>
          <a:effectLst>
            <a:outerShdw blurRad="28575" dist="9525" dir="5400000" algn="bl" rotWithShape="0">
              <a:srgbClr val="000000">
                <a:alpha val="10196"/>
              </a:srgbClr>
            </a:outerShdw>
          </a:effectLst>
        </p:spPr>
      </p:sp>
      <p:sp>
        <p:nvSpPr>
          <p:cNvPr id="47" name="Text 43"/>
          <p:cNvSpPr/>
          <p:nvPr/>
        </p:nvSpPr>
        <p:spPr>
          <a:xfrm>
            <a:off x="6457950" y="1809750"/>
            <a:ext cx="51816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方法优先级排序</a:t>
            </a:r>
            <a:endParaRPr lang="en-US" sz="1600" dirty="0"/>
          </a:p>
        </p:txBody>
      </p:sp>
      <p:sp>
        <p:nvSpPr>
          <p:cNvPr id="48" name="Shape 44"/>
          <p:cNvSpPr/>
          <p:nvPr/>
        </p:nvSpPr>
        <p:spPr>
          <a:xfrm>
            <a:off x="6457950" y="214312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4A4A4A"/>
          </a:solidFill>
        </p:spPr>
      </p:sp>
      <p:sp>
        <p:nvSpPr>
          <p:cNvPr id="49" name="Text 45"/>
          <p:cNvSpPr/>
          <p:nvPr/>
        </p:nvSpPr>
        <p:spPr>
          <a:xfrm>
            <a:off x="6610350" y="2076450"/>
            <a:ext cx="1647825"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高优先级：</a:t>
            </a:r>
            <a:r>
              <a:rPr lang="en-US" sz="1200" dirty="0">
                <a:solidFill>
                  <a:srgbClr val="808080"/>
                </a:solidFill>
                <a:latin typeface="MiSans" pitchFamily="34" charset="-122"/>
                <a:ea typeface="MiSans" pitchFamily="34" charset="-122"/>
                <a:cs typeface="MiSans" pitchFamily="34" charset="-120"/>
              </a:rPr>
              <a:t> 安装时执行</a:t>
            </a:r>
            <a:endParaRPr lang="en-US" sz="1600" dirty="0"/>
          </a:p>
        </p:txBody>
      </p:sp>
      <p:sp>
        <p:nvSpPr>
          <p:cNvPr id="50" name="Shape 46"/>
          <p:cNvSpPr/>
          <p:nvPr/>
        </p:nvSpPr>
        <p:spPr>
          <a:xfrm>
            <a:off x="6457950" y="237172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808080"/>
          </a:solidFill>
        </p:spPr>
      </p:sp>
      <p:sp>
        <p:nvSpPr>
          <p:cNvPr id="51" name="Text 47"/>
          <p:cNvSpPr/>
          <p:nvPr/>
        </p:nvSpPr>
        <p:spPr>
          <a:xfrm>
            <a:off x="6610350" y="2305050"/>
            <a:ext cx="1647825"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中优先级：</a:t>
            </a:r>
            <a:r>
              <a:rPr lang="en-US" sz="1200" dirty="0">
                <a:solidFill>
                  <a:srgbClr val="808080"/>
                </a:solidFill>
                <a:latin typeface="MiSans" pitchFamily="34" charset="-122"/>
                <a:ea typeface="MiSans" pitchFamily="34" charset="-122"/>
                <a:cs typeface="MiSans" pitchFamily="34" charset="-120"/>
              </a:rPr>
              <a:t> 导入时执行</a:t>
            </a:r>
            <a:endParaRPr lang="en-US" sz="1600" dirty="0"/>
          </a:p>
        </p:txBody>
      </p:sp>
      <p:sp>
        <p:nvSpPr>
          <p:cNvPr id="52" name="Shape 48"/>
          <p:cNvSpPr/>
          <p:nvPr/>
        </p:nvSpPr>
        <p:spPr>
          <a:xfrm>
            <a:off x="6457950" y="260032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BDBDBD"/>
          </a:solidFill>
        </p:spPr>
      </p:sp>
      <p:sp>
        <p:nvSpPr>
          <p:cNvPr id="53" name="Text 49"/>
          <p:cNvSpPr/>
          <p:nvPr/>
        </p:nvSpPr>
        <p:spPr>
          <a:xfrm>
            <a:off x="6610350" y="2533650"/>
            <a:ext cx="1647825"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低优先级：</a:t>
            </a:r>
            <a:r>
              <a:rPr lang="en-US" sz="1200" dirty="0">
                <a:solidFill>
                  <a:srgbClr val="808080"/>
                </a:solidFill>
                <a:latin typeface="MiSans" pitchFamily="34" charset="-122"/>
                <a:ea typeface="MiSans" pitchFamily="34" charset="-122"/>
                <a:cs typeface="MiSans" pitchFamily="34" charset="-120"/>
              </a:rPr>
              <a:t> 运行时执行</a:t>
            </a:r>
            <a:endParaRPr lang="en-US" sz="1600" dirty="0"/>
          </a:p>
        </p:txBody>
      </p:sp>
      <p:sp>
        <p:nvSpPr>
          <p:cNvPr id="54" name="Shape 50"/>
          <p:cNvSpPr/>
          <p:nvPr/>
        </p:nvSpPr>
        <p:spPr>
          <a:xfrm>
            <a:off x="6362700" y="2914650"/>
            <a:ext cx="5295900" cy="1200150"/>
          </a:xfrm>
          <a:custGeom>
            <a:avLst/>
            <a:gdLst/>
            <a:ahLst/>
            <a:cxnLst/>
            <a:rect l="l" t="t" r="r" b="b"/>
            <a:pathLst>
              <a:path w="5295900" h="1200150">
                <a:moveTo>
                  <a:pt x="76198" y="0"/>
                </a:moveTo>
                <a:lnTo>
                  <a:pt x="5219702" y="0"/>
                </a:lnTo>
                <a:cubicBezTo>
                  <a:pt x="5261785" y="0"/>
                  <a:pt x="5295900" y="34115"/>
                  <a:pt x="5295900" y="76198"/>
                </a:cubicBezTo>
                <a:lnTo>
                  <a:pt x="5295900" y="1123952"/>
                </a:lnTo>
                <a:cubicBezTo>
                  <a:pt x="5295900" y="1166035"/>
                  <a:pt x="5261785" y="1200150"/>
                  <a:pt x="5219702" y="1200150"/>
                </a:cubicBezTo>
                <a:lnTo>
                  <a:pt x="76198" y="1200150"/>
                </a:lnTo>
                <a:cubicBezTo>
                  <a:pt x="34115" y="1200150"/>
                  <a:pt x="0" y="1166035"/>
                  <a:pt x="0" y="1123952"/>
                </a:cubicBezTo>
                <a:lnTo>
                  <a:pt x="0" y="76198"/>
                </a:lnTo>
                <a:cubicBezTo>
                  <a:pt x="0" y="34115"/>
                  <a:pt x="34115" y="0"/>
                  <a:pt x="76198" y="0"/>
                </a:cubicBezTo>
                <a:close/>
              </a:path>
            </a:pathLst>
          </a:custGeom>
          <a:solidFill>
            <a:srgbClr val="FFFFFF"/>
          </a:solidFill>
          <a:effectLst>
            <a:outerShdw blurRad="28575" dist="9525" dir="5400000" algn="bl" rotWithShape="0">
              <a:srgbClr val="000000">
                <a:alpha val="10196"/>
              </a:srgbClr>
            </a:outerShdw>
          </a:effectLst>
        </p:spPr>
      </p:sp>
      <p:sp>
        <p:nvSpPr>
          <p:cNvPr id="55" name="Text 51"/>
          <p:cNvSpPr/>
          <p:nvPr/>
        </p:nvSpPr>
        <p:spPr>
          <a:xfrm>
            <a:off x="6457950" y="3009900"/>
            <a:ext cx="51816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构建调用图</a:t>
            </a:r>
            <a:endParaRPr lang="en-US" sz="1600" dirty="0"/>
          </a:p>
        </p:txBody>
      </p:sp>
      <p:sp>
        <p:nvSpPr>
          <p:cNvPr id="56" name="Shape 52"/>
          <p:cNvSpPr/>
          <p:nvPr/>
        </p:nvSpPr>
        <p:spPr>
          <a:xfrm>
            <a:off x="6457950" y="3276600"/>
            <a:ext cx="5105400" cy="876300"/>
          </a:xfrm>
          <a:custGeom>
            <a:avLst/>
            <a:gdLst/>
            <a:ahLst/>
            <a:cxnLst/>
            <a:rect l="l" t="t" r="r" b="b"/>
            <a:pathLst>
              <a:path w="5105400" h="876300">
                <a:moveTo>
                  <a:pt x="38102" y="0"/>
                </a:moveTo>
                <a:lnTo>
                  <a:pt x="5067298" y="0"/>
                </a:lnTo>
                <a:cubicBezTo>
                  <a:pt x="5088341" y="0"/>
                  <a:pt x="5105400" y="17059"/>
                  <a:pt x="5105400" y="38102"/>
                </a:cubicBezTo>
                <a:lnTo>
                  <a:pt x="5105400" y="838198"/>
                </a:lnTo>
                <a:cubicBezTo>
                  <a:pt x="5105400" y="859241"/>
                  <a:pt x="5088341" y="876300"/>
                  <a:pt x="5067298" y="876300"/>
                </a:cubicBezTo>
                <a:lnTo>
                  <a:pt x="38102" y="876300"/>
                </a:lnTo>
                <a:cubicBezTo>
                  <a:pt x="17059" y="876300"/>
                  <a:pt x="0" y="859241"/>
                  <a:pt x="0" y="838198"/>
                </a:cubicBezTo>
                <a:lnTo>
                  <a:pt x="0" y="38102"/>
                </a:lnTo>
                <a:cubicBezTo>
                  <a:pt x="0" y="17073"/>
                  <a:pt x="17073" y="0"/>
                  <a:pt x="38102" y="0"/>
                </a:cubicBezTo>
                <a:close/>
              </a:path>
            </a:pathLst>
          </a:custGeom>
          <a:solidFill>
            <a:srgbClr val="808080">
              <a:alpha val="10196"/>
            </a:srgbClr>
          </a:solidFill>
        </p:spPr>
      </p:sp>
      <p:sp>
        <p:nvSpPr>
          <p:cNvPr id="57" name="Text 53"/>
          <p:cNvSpPr/>
          <p:nvPr/>
        </p:nvSpPr>
        <p:spPr>
          <a:xfrm>
            <a:off x="6534150" y="3352800"/>
            <a:ext cx="5029200" cy="228600"/>
          </a:xfrm>
          <a:prstGeom prst="rect">
            <a:avLst/>
          </a:prstGeom>
          <a:noFill/>
        </p:spPr>
        <p:txBody>
          <a:bodyPr wrap="square" lIns="0" tIns="0" rIns="0" bIns="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G = ⟨M, E⟩</a:t>
            </a:r>
            <a:endParaRPr lang="en-US" sz="1600" dirty="0"/>
          </a:p>
        </p:txBody>
      </p:sp>
      <p:sp>
        <p:nvSpPr>
          <p:cNvPr id="58" name="Text 54"/>
          <p:cNvSpPr/>
          <p:nvPr/>
        </p:nvSpPr>
        <p:spPr>
          <a:xfrm>
            <a:off x="6534150" y="3619500"/>
            <a:ext cx="5029200" cy="228600"/>
          </a:xfrm>
          <a:prstGeom prst="rect">
            <a:avLst/>
          </a:prstGeom>
          <a:noFill/>
        </p:spPr>
        <p:txBody>
          <a:bodyPr wrap="square" lIns="0" tIns="0" rIns="0" bIns="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M: 优先级方法列表</a:t>
            </a:r>
            <a:endParaRPr lang="en-US" sz="1600" dirty="0"/>
          </a:p>
        </p:txBody>
      </p:sp>
      <p:sp>
        <p:nvSpPr>
          <p:cNvPr id="59" name="Text 55"/>
          <p:cNvSpPr/>
          <p:nvPr/>
        </p:nvSpPr>
        <p:spPr>
          <a:xfrm>
            <a:off x="6534150" y="3848100"/>
            <a:ext cx="5029200" cy="228600"/>
          </a:xfrm>
          <a:prstGeom prst="rect">
            <a:avLst/>
          </a:prstGeom>
          <a:noFill/>
        </p:spPr>
        <p:txBody>
          <a:bodyPr wrap="square" lIns="0" tIns="0" rIns="0" bIns="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E: 调用边集合 ⟨ma, l, mb⟩</a:t>
            </a:r>
            <a:endParaRPr lang="en-US" sz="1600" dirty="0"/>
          </a:p>
        </p:txBody>
      </p:sp>
      <p:sp>
        <p:nvSpPr>
          <p:cNvPr id="60" name="Shape 56"/>
          <p:cNvSpPr/>
          <p:nvPr/>
        </p:nvSpPr>
        <p:spPr>
          <a:xfrm>
            <a:off x="6362700" y="4191000"/>
            <a:ext cx="5295900" cy="1123950"/>
          </a:xfrm>
          <a:custGeom>
            <a:avLst/>
            <a:gdLst/>
            <a:ahLst/>
            <a:cxnLst/>
            <a:rect l="l" t="t" r="r" b="b"/>
            <a:pathLst>
              <a:path w="5295900" h="1123950">
                <a:moveTo>
                  <a:pt x="76204" y="0"/>
                </a:moveTo>
                <a:lnTo>
                  <a:pt x="5219696" y="0"/>
                </a:lnTo>
                <a:cubicBezTo>
                  <a:pt x="5261782" y="0"/>
                  <a:pt x="5295900" y="34118"/>
                  <a:pt x="5295900" y="76204"/>
                </a:cubicBezTo>
                <a:lnTo>
                  <a:pt x="5295900" y="1047746"/>
                </a:lnTo>
                <a:cubicBezTo>
                  <a:pt x="5295900" y="1089832"/>
                  <a:pt x="5261782" y="1123950"/>
                  <a:pt x="5219696" y="1123950"/>
                </a:cubicBezTo>
                <a:lnTo>
                  <a:pt x="76204" y="1123950"/>
                </a:lnTo>
                <a:cubicBezTo>
                  <a:pt x="34118" y="1123950"/>
                  <a:pt x="0" y="1089832"/>
                  <a:pt x="0" y="1047746"/>
                </a:cubicBezTo>
                <a:lnTo>
                  <a:pt x="0" y="76204"/>
                </a:lnTo>
                <a:cubicBezTo>
                  <a:pt x="0" y="34146"/>
                  <a:pt x="34146" y="0"/>
                  <a:pt x="76204" y="0"/>
                </a:cubicBezTo>
                <a:close/>
              </a:path>
            </a:pathLst>
          </a:custGeom>
          <a:solidFill>
            <a:srgbClr val="808080">
              <a:alpha val="20000"/>
            </a:srgbClr>
          </a:solidFill>
        </p:spPr>
      </p:sp>
      <p:sp>
        <p:nvSpPr>
          <p:cNvPr id="61" name="Text 57"/>
          <p:cNvSpPr/>
          <p:nvPr/>
        </p:nvSpPr>
        <p:spPr>
          <a:xfrm>
            <a:off x="6457950" y="4286250"/>
            <a:ext cx="51816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生成行为序列</a:t>
            </a:r>
            <a:endParaRPr lang="en-US" sz="1600" dirty="0"/>
          </a:p>
        </p:txBody>
      </p:sp>
      <p:sp>
        <p:nvSpPr>
          <p:cNvPr id="62" name="Text 58"/>
          <p:cNvSpPr/>
          <p:nvPr/>
        </p:nvSpPr>
        <p:spPr>
          <a:xfrm>
            <a:off x="6457950" y="4552950"/>
            <a:ext cx="5181600"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1.</a:t>
            </a:r>
            <a:r>
              <a:rPr lang="en-US" sz="1200" dirty="0">
                <a:solidFill>
                  <a:srgbClr val="808080"/>
                </a:solidFill>
                <a:latin typeface="MiSans" pitchFamily="34" charset="-122"/>
                <a:ea typeface="MiSans" pitchFamily="34" charset="-122"/>
                <a:cs typeface="MiSans" pitchFamily="34" charset="-120"/>
              </a:rPr>
              <a:t> 按优先级遍历方法</a:t>
            </a:r>
            <a:endParaRPr lang="en-US" sz="1600" dirty="0"/>
          </a:p>
        </p:txBody>
      </p:sp>
      <p:sp>
        <p:nvSpPr>
          <p:cNvPr id="63" name="Text 59"/>
          <p:cNvSpPr/>
          <p:nvPr/>
        </p:nvSpPr>
        <p:spPr>
          <a:xfrm>
            <a:off x="6457950" y="4781550"/>
            <a:ext cx="5181600"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2.</a:t>
            </a:r>
            <a:r>
              <a:rPr lang="en-US" sz="1200" dirty="0">
                <a:solidFill>
                  <a:srgbClr val="808080"/>
                </a:solidFill>
                <a:latin typeface="MiSans" pitchFamily="34" charset="-122"/>
                <a:ea typeface="MiSans" pitchFamily="34" charset="-122"/>
                <a:cs typeface="MiSans" pitchFamily="34" charset="-120"/>
              </a:rPr>
              <a:t> 查询子调用图</a:t>
            </a:r>
            <a:endParaRPr lang="en-US" sz="1600" dirty="0"/>
          </a:p>
        </p:txBody>
      </p:sp>
      <p:sp>
        <p:nvSpPr>
          <p:cNvPr id="64" name="Text 60"/>
          <p:cNvSpPr/>
          <p:nvPr/>
        </p:nvSpPr>
        <p:spPr>
          <a:xfrm>
            <a:off x="6457950" y="5010150"/>
            <a:ext cx="5181600"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3.</a:t>
            </a:r>
            <a:r>
              <a:rPr lang="en-US" sz="1200" dirty="0">
                <a:solidFill>
                  <a:srgbClr val="808080"/>
                </a:solidFill>
                <a:latin typeface="MiSans" pitchFamily="34" charset="-122"/>
                <a:ea typeface="MiSans" pitchFamily="34" charset="-122"/>
                <a:cs typeface="MiSans" pitchFamily="34" charset="-120"/>
              </a:rPr>
              <a:t> 按行号排序组织序列</a:t>
            </a:r>
            <a:endParaRPr lang="en-US" sz="1600" dirty="0"/>
          </a:p>
        </p:txBody>
      </p:sp>
      <p:sp>
        <p:nvSpPr>
          <p:cNvPr id="65" name="Shape 61"/>
          <p:cNvSpPr/>
          <p:nvPr/>
        </p:nvSpPr>
        <p:spPr>
          <a:xfrm>
            <a:off x="6172200" y="5581650"/>
            <a:ext cx="5638800" cy="438150"/>
          </a:xfrm>
          <a:custGeom>
            <a:avLst/>
            <a:gdLst/>
            <a:ahLst/>
            <a:cxnLst/>
            <a:rect l="l" t="t" r="r" b="b"/>
            <a:pathLst>
              <a:path w="5638800" h="438150">
                <a:moveTo>
                  <a:pt x="76199" y="0"/>
                </a:moveTo>
                <a:lnTo>
                  <a:pt x="5562601" y="0"/>
                </a:lnTo>
                <a:cubicBezTo>
                  <a:pt x="5604685" y="0"/>
                  <a:pt x="5638800" y="34115"/>
                  <a:pt x="5638800" y="76199"/>
                </a:cubicBezTo>
                <a:lnTo>
                  <a:pt x="5638800" y="361951"/>
                </a:lnTo>
                <a:cubicBezTo>
                  <a:pt x="5638800" y="404035"/>
                  <a:pt x="5604685" y="438150"/>
                  <a:pt x="5562601" y="438150"/>
                </a:cubicBezTo>
                <a:lnTo>
                  <a:pt x="76199" y="438150"/>
                </a:lnTo>
                <a:cubicBezTo>
                  <a:pt x="34115" y="438150"/>
                  <a:pt x="0" y="404035"/>
                  <a:pt x="0" y="361951"/>
                </a:cubicBezTo>
                <a:lnTo>
                  <a:pt x="0" y="76199"/>
                </a:lnTo>
                <a:cubicBezTo>
                  <a:pt x="0" y="34143"/>
                  <a:pt x="34143" y="0"/>
                  <a:pt x="76199" y="0"/>
                </a:cubicBezTo>
                <a:close/>
              </a:path>
            </a:pathLst>
          </a:custGeom>
          <a:gradFill flip="none" rotWithShape="1">
            <a:gsLst>
              <a:gs pos="0">
                <a:srgbClr val="808080"/>
              </a:gs>
              <a:gs pos="100000">
                <a:srgbClr val="BDBDBD"/>
              </a:gs>
            </a:gsLst>
            <a:lin ang="0" scaled="1"/>
          </a:gradFill>
        </p:spPr>
      </p:sp>
      <p:sp>
        <p:nvSpPr>
          <p:cNvPr id="66" name="Shape 62"/>
          <p:cNvSpPr/>
          <p:nvPr/>
        </p:nvSpPr>
        <p:spPr>
          <a:xfrm>
            <a:off x="6296025" y="5718809"/>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FFFFFF"/>
          </a:solidFill>
        </p:spPr>
      </p:sp>
      <p:sp>
        <p:nvSpPr>
          <p:cNvPr id="67" name="Text 63"/>
          <p:cNvSpPr/>
          <p:nvPr/>
        </p:nvSpPr>
        <p:spPr>
          <a:xfrm>
            <a:off x="6534150" y="5695950"/>
            <a:ext cx="5238750" cy="209550"/>
          </a:xfrm>
          <a:prstGeom prst="rect">
            <a:avLst/>
          </a:prstGeom>
          <a:noFill/>
        </p:spPr>
        <p:txBody>
          <a:bodyPr wrap="square" lIns="0" tIns="0" rIns="0" bIns="0" rtlCol="0" anchor="ctr"/>
          <a:lstStyle/>
          <a:p>
            <a:pPr>
              <a:lnSpc>
                <a:spcPct val="110000"/>
              </a:lnSpc>
            </a:pPr>
            <a:r>
              <a:rPr lang="en-US" sz="1200" b="1" dirty="0">
                <a:solidFill>
                  <a:srgbClr val="FFFFFF"/>
                </a:solidFill>
                <a:latin typeface="MiSans" pitchFamily="34" charset="-122"/>
                <a:ea typeface="MiSans" pitchFamily="34" charset="-122"/>
                <a:cs typeface="MiSans" pitchFamily="34" charset="-120"/>
              </a:rPr>
              <a:t>核心价值：</a:t>
            </a:r>
            <a:r>
              <a:rPr lang="en-US" sz="1200" dirty="0">
                <a:solidFill>
                  <a:srgbClr val="FFFFFF"/>
                </a:solidFill>
                <a:latin typeface="MiSans" pitchFamily="34" charset="-122"/>
                <a:ea typeface="MiSans" pitchFamily="34" charset="-122"/>
                <a:cs typeface="MiSans" pitchFamily="34" charset="-120"/>
              </a:rPr>
              <a:t> 将无序特征转化为反映执行逻辑的序列</a:t>
            </a:r>
            <a:endParaRPr lang="en-US" sz="1600" dirty="0"/>
          </a:p>
        </p:txBody>
      </p:sp>
      <p:sp>
        <p:nvSpPr>
          <p:cNvPr id="68" name="Shape 64"/>
          <p:cNvSpPr/>
          <p:nvPr/>
        </p:nvSpPr>
        <p:spPr>
          <a:xfrm>
            <a:off x="381000" y="6096000"/>
            <a:ext cx="11430000" cy="381000"/>
          </a:xfrm>
          <a:custGeom>
            <a:avLst/>
            <a:gdLst/>
            <a:ahLst/>
            <a:cxnLst/>
            <a:rect l="l" t="t" r="r" b="b"/>
            <a:pathLst>
              <a:path w="11430000" h="381000">
                <a:moveTo>
                  <a:pt x="76200" y="0"/>
                </a:moveTo>
                <a:lnTo>
                  <a:pt x="11353800" y="0"/>
                </a:lnTo>
                <a:cubicBezTo>
                  <a:pt x="11395856" y="0"/>
                  <a:pt x="11430000" y="34144"/>
                  <a:pt x="11430000" y="76200"/>
                </a:cubicBezTo>
                <a:lnTo>
                  <a:pt x="11430000" y="304800"/>
                </a:lnTo>
                <a:cubicBezTo>
                  <a:pt x="11430000" y="346856"/>
                  <a:pt x="11395856" y="381000"/>
                  <a:pt x="11353800" y="381000"/>
                </a:cubicBezTo>
                <a:lnTo>
                  <a:pt x="76200" y="381000"/>
                </a:lnTo>
                <a:cubicBezTo>
                  <a:pt x="34144" y="381000"/>
                  <a:pt x="0" y="346856"/>
                  <a:pt x="0" y="304800"/>
                </a:cubicBezTo>
                <a:lnTo>
                  <a:pt x="0" y="76200"/>
                </a:lnTo>
                <a:cubicBezTo>
                  <a:pt x="0" y="34144"/>
                  <a:pt x="34144" y="0"/>
                  <a:pt x="76200" y="0"/>
                </a:cubicBezTo>
                <a:close/>
              </a:path>
            </a:pathLst>
          </a:custGeom>
          <a:solidFill>
            <a:srgbClr val="4A4A4A">
              <a:alpha val="5098"/>
            </a:srgbClr>
          </a:solidFill>
        </p:spPr>
      </p:sp>
      <p:sp>
        <p:nvSpPr>
          <p:cNvPr id="69" name="Shape 65"/>
          <p:cNvSpPr/>
          <p:nvPr/>
        </p:nvSpPr>
        <p:spPr>
          <a:xfrm>
            <a:off x="504825" y="6191250"/>
            <a:ext cx="142875" cy="190500"/>
          </a:xfrm>
          <a:custGeom>
            <a:avLst/>
            <a:gdLst/>
            <a:ahLst/>
            <a:cxnLst/>
            <a:rect l="l" t="t" r="r" b="b"/>
            <a:pathLst>
              <a:path w="142875" h="190500">
                <a:moveTo>
                  <a:pt x="63029" y="187003"/>
                </a:moveTo>
                <a:cubicBezTo>
                  <a:pt x="67680" y="191653"/>
                  <a:pt x="75233" y="191653"/>
                  <a:pt x="79883" y="187003"/>
                </a:cubicBezTo>
                <a:lnTo>
                  <a:pt x="139415" y="127471"/>
                </a:lnTo>
                <a:cubicBezTo>
                  <a:pt x="144066" y="122820"/>
                  <a:pt x="144066" y="115267"/>
                  <a:pt x="139415" y="110617"/>
                </a:cubicBezTo>
                <a:cubicBezTo>
                  <a:pt x="134764" y="105966"/>
                  <a:pt x="127211" y="105966"/>
                  <a:pt x="122560" y="110617"/>
                </a:cubicBezTo>
                <a:lnTo>
                  <a:pt x="83344" y="149833"/>
                </a:lnTo>
                <a:lnTo>
                  <a:pt x="83344" y="11906"/>
                </a:lnTo>
                <a:cubicBezTo>
                  <a:pt x="83344" y="5321"/>
                  <a:pt x="78023" y="0"/>
                  <a:pt x="71438" y="0"/>
                </a:cubicBezTo>
                <a:cubicBezTo>
                  <a:pt x="64852" y="0"/>
                  <a:pt x="59531" y="5321"/>
                  <a:pt x="59531" y="11906"/>
                </a:cubicBezTo>
                <a:lnTo>
                  <a:pt x="59531" y="149833"/>
                </a:lnTo>
                <a:lnTo>
                  <a:pt x="20315" y="110617"/>
                </a:lnTo>
                <a:cubicBezTo>
                  <a:pt x="15664" y="105966"/>
                  <a:pt x="8111" y="105966"/>
                  <a:pt x="3460" y="110617"/>
                </a:cubicBezTo>
                <a:cubicBezTo>
                  <a:pt x="-1191" y="115267"/>
                  <a:pt x="-1191" y="122820"/>
                  <a:pt x="3460" y="127471"/>
                </a:cubicBezTo>
                <a:lnTo>
                  <a:pt x="62992" y="187003"/>
                </a:lnTo>
                <a:close/>
              </a:path>
            </a:pathLst>
          </a:custGeom>
          <a:solidFill>
            <a:srgbClr val="4A4A4A"/>
          </a:solidFill>
        </p:spPr>
      </p:sp>
      <p:sp>
        <p:nvSpPr>
          <p:cNvPr id="70" name="Text 66"/>
          <p:cNvSpPr/>
          <p:nvPr/>
        </p:nvSpPr>
        <p:spPr>
          <a:xfrm>
            <a:off x="847725" y="6172200"/>
            <a:ext cx="32385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特征实例 → 行为序列 → 文本描述 → 分类决策</a:t>
            </a:r>
            <a:endParaRPr lang="en-US" sz="1600" dirty="0"/>
          </a:p>
        </p:txBody>
      </p:sp>
      <p:sp>
        <p:nvSpPr>
          <p:cNvPr id="71" name="Text 67"/>
          <p:cNvSpPr/>
          <p:nvPr/>
        </p:nvSpPr>
        <p:spPr>
          <a:xfrm>
            <a:off x="10820400" y="6172200"/>
            <a:ext cx="99060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完整处理流程</a:t>
            </a:r>
            <a:endParaRPr lang="en-US" sz="1600" dirty="0"/>
          </a:p>
        </p:txBody>
      </p:sp>
      <p:pic>
        <p:nvPicPr>
          <p:cNvPr id="72" name="图片 71"/>
          <p:cNvPicPr>
            <a:picLocks noChangeAspect="1"/>
          </p:cNvPicPr>
          <p:nvPr/>
        </p:nvPicPr>
        <p:blipFill>
          <a:blip r:embed="rId3"/>
          <a:stretch>
            <a:fillRect/>
          </a:stretch>
        </p:blipFill>
        <p:spPr>
          <a:xfrm>
            <a:off x="504825" y="1028700"/>
            <a:ext cx="9182100" cy="3790950"/>
          </a:xfrm>
          <a:prstGeom prst="rect">
            <a:avLst/>
          </a:prstGeom>
        </p:spPr>
      </p:pic>
      <p:pic>
        <p:nvPicPr>
          <p:cNvPr id="73" name="图片 72" descr="屏幕截图 2026-01-28 020711"/>
          <p:cNvPicPr>
            <a:picLocks noChangeAspect="1"/>
          </p:cNvPicPr>
          <p:nvPr/>
        </p:nvPicPr>
        <p:blipFill>
          <a:blip r:embed="rId4"/>
          <a:stretch>
            <a:fillRect/>
          </a:stretch>
        </p:blipFill>
        <p:spPr>
          <a:xfrm>
            <a:off x="1972945" y="3057525"/>
            <a:ext cx="7820025" cy="177165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xit" presetSubtype="0" fill="hold" nodeType="clickEffect">
                                  <p:stCondLst>
                                    <p:cond delay="0"/>
                                  </p:stCondLst>
                                  <p:childTnLst>
                                    <p:anim calcmode="lin" valueType="num">
                                      <p:cBhvr>
                                        <p:cTn id="6" dur="1000"/>
                                        <p:tgtEl>
                                          <p:spTgt spid="72"/>
                                        </p:tgtEl>
                                        <p:attrNameLst>
                                          <p:attrName>ppt_w</p:attrName>
                                        </p:attrNameLst>
                                      </p:cBhvr>
                                      <p:tavLst>
                                        <p:tav tm="0">
                                          <p:val>
                                            <p:strVal val="ppt_w"/>
                                          </p:val>
                                        </p:tav>
                                        <p:tav tm="100000">
                                          <p:val>
                                            <p:strVal val="ppt_w*0.70"/>
                                          </p:val>
                                        </p:tav>
                                      </p:tavLst>
                                    </p:anim>
                                    <p:anim calcmode="lin" valueType="num">
                                      <p:cBhvr>
                                        <p:cTn id="7" dur="1000"/>
                                        <p:tgtEl>
                                          <p:spTgt spid="72"/>
                                        </p:tgtEl>
                                        <p:attrNameLst>
                                          <p:attrName>ppt_h</p:attrName>
                                        </p:attrNameLst>
                                      </p:cBhvr>
                                      <p:tavLst>
                                        <p:tav tm="0">
                                          <p:val>
                                            <p:strVal val="ppt_h"/>
                                          </p:val>
                                        </p:tav>
                                        <p:tav tm="100000">
                                          <p:val>
                                            <p:strVal val="ppt_h"/>
                                          </p:val>
                                        </p:tav>
                                      </p:tavLst>
                                    </p:anim>
                                    <p:animEffect transition="out" filter="fade">
                                      <p:cBhvr>
                                        <p:cTn id="8" dur="1000"/>
                                        <p:tgtEl>
                                          <p:spTgt spid="72"/>
                                        </p:tgtEl>
                                      </p:cBhvr>
                                    </p:animEffect>
                                    <p:set>
                                      <p:cBhvr>
                                        <p:cTn id="9" dur="1" fill="hold">
                                          <p:stCondLst>
                                            <p:cond delay="999"/>
                                          </p:stCondLst>
                                        </p:cTn>
                                        <p:tgtEl>
                                          <p:spTgt spid="72"/>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nodeType="clickEffect">
                                  <p:stCondLst>
                                    <p:cond delay="0"/>
                                  </p:stCondLst>
                                  <p:childTnLst>
                                    <p:set>
                                      <p:cBhvr>
                                        <p:cTn id="13" dur="1" fill="hold">
                                          <p:stCondLst>
                                            <p:cond delay="0"/>
                                          </p:stCondLst>
                                        </p:cTn>
                                        <p:tgtEl>
                                          <p:spTgt spid="73"/>
                                        </p:tgtEl>
                                        <p:attrNameLst>
                                          <p:attrName>style.visibility</p:attrName>
                                        </p:attrNameLst>
                                      </p:cBhvr>
                                      <p:to>
                                        <p:strVal val="visible"/>
                                      </p:to>
                                    </p:set>
                                    <p:animEffect transition="in" filter="box(in)">
                                      <p:cBhvr>
                                        <p:cTn id="14" dur="2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10-11-20:29:04-d3l4r40s8jdo4os5eok0.jpeg"/>
          <p:cNvPicPr>
            <a:picLocks noChangeAspect="1"/>
          </p:cNvPicPr>
          <p:nvPr/>
        </p:nvPicPr>
        <p:blipFill>
          <a:blip r:embed="rId1">
            <a:alphaModFix amt="34000"/>
          </a:blip>
          <a:srcRect t="46513" b="46513"/>
          <a:stretch>
            <a:fillRect/>
          </a:stretch>
        </p:blipFill>
        <p:spPr>
          <a:xfrm>
            <a:off x="799465" y="6010275"/>
            <a:ext cx="10638155" cy="215265"/>
          </a:xfrm>
          <a:prstGeom prst="rect">
            <a:avLst/>
          </a:prstGeom>
        </p:spPr>
      </p:pic>
      <p:pic>
        <p:nvPicPr>
          <p:cNvPr id="3" name="Image 1" descr="https://kimi-img.moonshot.cn/pub/slides/slides_tmpl/image/25-10-11-20:29:20-d3l4r80s8jdo4os5eomg.jpg"/>
          <p:cNvPicPr>
            <a:picLocks noChangeAspect="1"/>
          </p:cNvPicPr>
          <p:nvPr/>
        </p:nvPicPr>
        <p:blipFill>
          <a:blip r:embed="rId2"/>
          <a:stretch>
            <a:fillRect/>
          </a:stretch>
        </p:blipFill>
        <p:spPr>
          <a:xfrm>
            <a:off x="1270" y="0"/>
            <a:ext cx="12190730" cy="6858000"/>
          </a:xfrm>
          <a:prstGeom prst="rect">
            <a:avLst/>
          </a:prstGeom>
        </p:spPr>
      </p:pic>
      <p:sp>
        <p:nvSpPr>
          <p:cNvPr id="4"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08080"/>
                </a:solidFill>
                <a:latin typeface="MiSans" pitchFamily="34" charset="-122"/>
                <a:ea typeface="MiSans" pitchFamily="34" charset="-122"/>
                <a:cs typeface="MiSans" pitchFamily="34" charset="-120"/>
              </a:rPr>
              <a:t>CLASSIFIER</a:t>
            </a:r>
            <a:endParaRPr lang="en-US" sz="1600" dirty="0"/>
          </a:p>
        </p:txBody>
      </p:sp>
      <p:sp>
        <p:nvSpPr>
          <p:cNvPr id="5" name="Text 1"/>
          <p:cNvSpPr/>
          <p:nvPr/>
        </p:nvSpPr>
        <p:spPr>
          <a:xfrm>
            <a:off x="381000" y="647700"/>
            <a:ext cx="11601450" cy="381000"/>
          </a:xfrm>
          <a:prstGeom prst="rect">
            <a:avLst/>
          </a:prstGeom>
          <a:noFill/>
        </p:spPr>
        <p:txBody>
          <a:bodyPr wrap="square" lIns="0" tIns="0" rIns="0" bIns="0" rtlCol="0" anchor="ctr"/>
          <a:lstStyle/>
          <a:p>
            <a:pPr>
              <a:lnSpc>
                <a:spcPct val="90000"/>
              </a:lnSpc>
            </a:pPr>
            <a:r>
              <a:rPr lang="en-US" sz="2700" b="1" dirty="0">
                <a:solidFill>
                  <a:srgbClr val="4A4A4A"/>
                </a:solidFill>
                <a:latin typeface="MiSans" pitchFamily="34" charset="-122"/>
                <a:ea typeface="MiSans" pitchFamily="34" charset="-122"/>
                <a:cs typeface="MiSans" pitchFamily="34" charset="-120"/>
              </a:rPr>
              <a:t>恶意性分类器设计</a:t>
            </a:r>
            <a:endParaRPr lang="en-US" sz="1600" dirty="0"/>
          </a:p>
        </p:txBody>
      </p:sp>
      <p:sp>
        <p:nvSpPr>
          <p:cNvPr id="6" name="Shape 2"/>
          <p:cNvSpPr/>
          <p:nvPr/>
        </p:nvSpPr>
        <p:spPr>
          <a:xfrm>
            <a:off x="381000" y="1104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4A4A4A"/>
          </a:solidFill>
        </p:spPr>
      </p:sp>
      <p:sp>
        <p:nvSpPr>
          <p:cNvPr id="7" name="Shape 3"/>
          <p:cNvSpPr/>
          <p:nvPr/>
        </p:nvSpPr>
        <p:spPr>
          <a:xfrm>
            <a:off x="400050" y="1219200"/>
            <a:ext cx="7553325" cy="3333750"/>
          </a:xfrm>
          <a:custGeom>
            <a:avLst/>
            <a:gdLst/>
            <a:ahLst/>
            <a:cxnLst/>
            <a:rect l="l" t="t" r="r" b="b"/>
            <a:pathLst>
              <a:path w="7553325" h="3333750">
                <a:moveTo>
                  <a:pt x="38100" y="0"/>
                </a:moveTo>
                <a:lnTo>
                  <a:pt x="7477115" y="0"/>
                </a:lnTo>
                <a:cubicBezTo>
                  <a:pt x="7519205" y="0"/>
                  <a:pt x="7553325" y="34120"/>
                  <a:pt x="7553325" y="76210"/>
                </a:cubicBezTo>
                <a:lnTo>
                  <a:pt x="7553325" y="3257540"/>
                </a:lnTo>
                <a:cubicBezTo>
                  <a:pt x="7553325" y="3299630"/>
                  <a:pt x="7519205" y="3333750"/>
                  <a:pt x="7477115" y="3333750"/>
                </a:cubicBezTo>
                <a:lnTo>
                  <a:pt x="38100" y="3333750"/>
                </a:lnTo>
                <a:cubicBezTo>
                  <a:pt x="17072" y="3333750"/>
                  <a:pt x="0" y="3316678"/>
                  <a:pt x="0" y="3295650"/>
                </a:cubicBezTo>
                <a:lnTo>
                  <a:pt x="0" y="38100"/>
                </a:lnTo>
                <a:cubicBezTo>
                  <a:pt x="0" y="17072"/>
                  <a:pt x="17072" y="0"/>
                  <a:pt x="38100" y="0"/>
                </a:cubicBezTo>
                <a:close/>
              </a:path>
            </a:pathLst>
          </a:custGeom>
          <a:solidFill>
            <a:srgbClr val="4A4A4A">
              <a:alpha val="5098"/>
            </a:srgbClr>
          </a:solidFill>
        </p:spPr>
      </p:sp>
      <p:sp>
        <p:nvSpPr>
          <p:cNvPr id="8" name="Shape 4"/>
          <p:cNvSpPr/>
          <p:nvPr/>
        </p:nvSpPr>
        <p:spPr>
          <a:xfrm>
            <a:off x="400050" y="1219200"/>
            <a:ext cx="38100" cy="3333750"/>
          </a:xfrm>
          <a:custGeom>
            <a:avLst/>
            <a:gdLst/>
            <a:ahLst/>
            <a:cxnLst/>
            <a:rect l="l" t="t" r="r" b="b"/>
            <a:pathLst>
              <a:path w="38100" h="3333750">
                <a:moveTo>
                  <a:pt x="38100" y="0"/>
                </a:moveTo>
                <a:lnTo>
                  <a:pt x="38100" y="0"/>
                </a:lnTo>
                <a:lnTo>
                  <a:pt x="38100" y="3333750"/>
                </a:lnTo>
                <a:lnTo>
                  <a:pt x="38100" y="3333750"/>
                </a:lnTo>
                <a:cubicBezTo>
                  <a:pt x="17072" y="3333750"/>
                  <a:pt x="0" y="3316678"/>
                  <a:pt x="0" y="3295650"/>
                </a:cubicBezTo>
                <a:lnTo>
                  <a:pt x="0" y="38100"/>
                </a:lnTo>
                <a:cubicBezTo>
                  <a:pt x="0" y="17072"/>
                  <a:pt x="17072" y="0"/>
                  <a:pt x="38100" y="0"/>
                </a:cubicBezTo>
                <a:close/>
              </a:path>
            </a:pathLst>
          </a:custGeom>
          <a:solidFill>
            <a:srgbClr val="4A4A4A"/>
          </a:solidFill>
        </p:spPr>
      </p:sp>
      <p:sp>
        <p:nvSpPr>
          <p:cNvPr id="9" name="Shape 5"/>
          <p:cNvSpPr/>
          <p:nvPr/>
        </p:nvSpPr>
        <p:spPr>
          <a:xfrm>
            <a:off x="581025" y="1371600"/>
            <a:ext cx="142875" cy="190500"/>
          </a:xfrm>
          <a:custGeom>
            <a:avLst/>
            <a:gdLst/>
            <a:ahLst/>
            <a:cxnLst/>
            <a:rect l="l" t="t" r="r" b="b"/>
            <a:pathLst>
              <a:path w="142875" h="190500">
                <a:moveTo>
                  <a:pt x="0" y="23812"/>
                </a:moveTo>
                <a:cubicBezTo>
                  <a:pt x="0" y="10678"/>
                  <a:pt x="10678" y="0"/>
                  <a:pt x="23812" y="0"/>
                </a:cubicBezTo>
                <a:lnTo>
                  <a:pt x="79437" y="0"/>
                </a:lnTo>
                <a:cubicBezTo>
                  <a:pt x="85762" y="0"/>
                  <a:pt x="91827" y="2493"/>
                  <a:pt x="96292" y="6958"/>
                </a:cubicBezTo>
                <a:lnTo>
                  <a:pt x="135917" y="46620"/>
                </a:lnTo>
                <a:cubicBezTo>
                  <a:pt x="140382" y="51085"/>
                  <a:pt x="142875" y="57150"/>
                  <a:pt x="142875" y="63475"/>
                </a:cubicBezTo>
                <a:lnTo>
                  <a:pt x="142875" y="166688"/>
                </a:lnTo>
                <a:cubicBezTo>
                  <a:pt x="142875" y="179822"/>
                  <a:pt x="132197" y="190500"/>
                  <a:pt x="119063" y="190500"/>
                </a:cubicBezTo>
                <a:lnTo>
                  <a:pt x="23812" y="190500"/>
                </a:lnTo>
                <a:cubicBezTo>
                  <a:pt x="10678" y="190500"/>
                  <a:pt x="0" y="179822"/>
                  <a:pt x="0" y="166688"/>
                </a:cubicBezTo>
                <a:lnTo>
                  <a:pt x="0" y="23812"/>
                </a:lnTo>
                <a:close/>
                <a:moveTo>
                  <a:pt x="77391" y="21766"/>
                </a:moveTo>
                <a:lnTo>
                  <a:pt x="77391" y="56555"/>
                </a:lnTo>
                <a:cubicBezTo>
                  <a:pt x="77391" y="61503"/>
                  <a:pt x="81372" y="65484"/>
                  <a:pt x="86320" y="65484"/>
                </a:cubicBezTo>
                <a:lnTo>
                  <a:pt x="121109" y="65484"/>
                </a:lnTo>
                <a:lnTo>
                  <a:pt x="77391" y="21766"/>
                </a:lnTo>
                <a:close/>
                <a:moveTo>
                  <a:pt x="44648" y="95250"/>
                </a:moveTo>
                <a:cubicBezTo>
                  <a:pt x="39700" y="95250"/>
                  <a:pt x="35719" y="99231"/>
                  <a:pt x="35719" y="104180"/>
                </a:cubicBezTo>
                <a:cubicBezTo>
                  <a:pt x="35719" y="109128"/>
                  <a:pt x="39700" y="113109"/>
                  <a:pt x="44648" y="113109"/>
                </a:cubicBezTo>
                <a:lnTo>
                  <a:pt x="98227" y="113109"/>
                </a:lnTo>
                <a:cubicBezTo>
                  <a:pt x="103175" y="113109"/>
                  <a:pt x="107156" y="109128"/>
                  <a:pt x="107156" y="104180"/>
                </a:cubicBezTo>
                <a:cubicBezTo>
                  <a:pt x="107156" y="99231"/>
                  <a:pt x="103175" y="95250"/>
                  <a:pt x="98227" y="95250"/>
                </a:cubicBezTo>
                <a:lnTo>
                  <a:pt x="44648" y="95250"/>
                </a:lnTo>
                <a:close/>
                <a:moveTo>
                  <a:pt x="44648" y="130969"/>
                </a:moveTo>
                <a:cubicBezTo>
                  <a:pt x="39700" y="130969"/>
                  <a:pt x="35719" y="134950"/>
                  <a:pt x="35719" y="139898"/>
                </a:cubicBezTo>
                <a:cubicBezTo>
                  <a:pt x="35719" y="144847"/>
                  <a:pt x="39700" y="148828"/>
                  <a:pt x="44648" y="148828"/>
                </a:cubicBezTo>
                <a:lnTo>
                  <a:pt x="98227" y="148828"/>
                </a:lnTo>
                <a:cubicBezTo>
                  <a:pt x="103175" y="148828"/>
                  <a:pt x="107156" y="144847"/>
                  <a:pt x="107156" y="139898"/>
                </a:cubicBezTo>
                <a:cubicBezTo>
                  <a:pt x="107156" y="134950"/>
                  <a:pt x="103175" y="130969"/>
                  <a:pt x="98227" y="130969"/>
                </a:cubicBezTo>
                <a:lnTo>
                  <a:pt x="44648" y="130969"/>
                </a:lnTo>
                <a:close/>
              </a:path>
            </a:pathLst>
          </a:custGeom>
          <a:solidFill>
            <a:srgbClr val="4A4A4A"/>
          </a:solidFill>
        </p:spPr>
      </p:sp>
      <p:sp>
        <p:nvSpPr>
          <p:cNvPr id="10" name="Text 6"/>
          <p:cNvSpPr/>
          <p:nvPr/>
        </p:nvSpPr>
        <p:spPr>
          <a:xfrm>
            <a:off x="771525" y="1333500"/>
            <a:ext cx="7162800" cy="266700"/>
          </a:xfrm>
          <a:prstGeom prst="rect">
            <a:avLst/>
          </a:prstGeom>
          <a:noFill/>
        </p:spPr>
        <p:txBody>
          <a:bodyPr wrap="square" lIns="0" tIns="0" rIns="0" bIns="0" rtlCol="0" anchor="ctr"/>
          <a:lstStyle/>
          <a:p>
            <a:pPr>
              <a:lnSpc>
                <a:spcPct val="120000"/>
              </a:lnSpc>
            </a:pPr>
            <a:r>
              <a:rPr lang="en-US" sz="1500" b="1" dirty="0">
                <a:solidFill>
                  <a:srgbClr val="4A4A4A"/>
                </a:solidFill>
                <a:latin typeface="MiSans" pitchFamily="34" charset="-122"/>
                <a:ea typeface="MiSans" pitchFamily="34" charset="-122"/>
                <a:cs typeface="MiSans" pitchFamily="34" charset="-120"/>
              </a:rPr>
              <a:t>将行为序列转换为文本描述</a:t>
            </a:r>
            <a:endParaRPr lang="en-US" sz="1600" dirty="0"/>
          </a:p>
        </p:txBody>
      </p:sp>
      <p:sp>
        <p:nvSpPr>
          <p:cNvPr id="11" name="Shape 7"/>
          <p:cNvSpPr/>
          <p:nvPr/>
        </p:nvSpPr>
        <p:spPr>
          <a:xfrm>
            <a:off x="533400" y="1676400"/>
            <a:ext cx="3571875" cy="1323975"/>
          </a:xfrm>
          <a:custGeom>
            <a:avLst/>
            <a:gdLst/>
            <a:ahLst/>
            <a:cxnLst/>
            <a:rect l="l" t="t" r="r" b="b"/>
            <a:pathLst>
              <a:path w="3571875" h="1323975">
                <a:moveTo>
                  <a:pt x="76195" y="0"/>
                </a:moveTo>
                <a:lnTo>
                  <a:pt x="3495680" y="0"/>
                </a:lnTo>
                <a:cubicBezTo>
                  <a:pt x="3537761" y="0"/>
                  <a:pt x="3571875" y="34114"/>
                  <a:pt x="3571875" y="76195"/>
                </a:cubicBezTo>
                <a:lnTo>
                  <a:pt x="3571875" y="1247780"/>
                </a:lnTo>
                <a:cubicBezTo>
                  <a:pt x="3571875" y="1289861"/>
                  <a:pt x="3537761" y="1323975"/>
                  <a:pt x="3495680" y="1323975"/>
                </a:cubicBezTo>
                <a:lnTo>
                  <a:pt x="76195" y="1323975"/>
                </a:lnTo>
                <a:cubicBezTo>
                  <a:pt x="34114" y="1323975"/>
                  <a:pt x="0" y="1289861"/>
                  <a:pt x="0" y="1247780"/>
                </a:cubicBezTo>
                <a:lnTo>
                  <a:pt x="0" y="76195"/>
                </a:lnTo>
                <a:cubicBezTo>
                  <a:pt x="0" y="34114"/>
                  <a:pt x="34114" y="0"/>
                  <a:pt x="76195" y="0"/>
                </a:cubicBezTo>
                <a:close/>
              </a:path>
            </a:pathLst>
          </a:custGeom>
          <a:solidFill>
            <a:srgbClr val="FFFFFF"/>
          </a:solidFill>
          <a:effectLst>
            <a:outerShdw blurRad="28575" dist="9525" dir="5400000" algn="bl" rotWithShape="0">
              <a:srgbClr val="000000">
                <a:alpha val="10196"/>
              </a:srgbClr>
            </a:outerShdw>
          </a:effectLst>
        </p:spPr>
      </p:sp>
      <p:sp>
        <p:nvSpPr>
          <p:cNvPr id="12" name="Text 8"/>
          <p:cNvSpPr/>
          <p:nvPr/>
        </p:nvSpPr>
        <p:spPr>
          <a:xfrm>
            <a:off x="647700" y="1995487"/>
            <a:ext cx="3419475"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转换目的</a:t>
            </a:r>
            <a:endParaRPr lang="en-US" sz="1600" dirty="0"/>
          </a:p>
        </p:txBody>
      </p:sp>
      <p:sp>
        <p:nvSpPr>
          <p:cNvPr id="13" name="Text 9"/>
          <p:cNvSpPr/>
          <p:nvPr/>
        </p:nvSpPr>
        <p:spPr>
          <a:xfrm>
            <a:off x="647700" y="2262188"/>
            <a:ext cx="3419475" cy="41910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将结构化的行为序列转化为 </a:t>
            </a:r>
            <a:r>
              <a:rPr lang="en-US" sz="1200" b="1" dirty="0">
                <a:solidFill>
                  <a:srgbClr val="4A4A4A"/>
                </a:solidFill>
                <a:latin typeface="MiSans" pitchFamily="34" charset="-122"/>
                <a:ea typeface="MiSans" pitchFamily="34" charset="-122"/>
                <a:cs typeface="MiSans" pitchFamily="34" charset="-120"/>
              </a:rPr>
              <a:t>自然语言文本</a:t>
            </a:r>
            <a:r>
              <a:rPr lang="en-US" sz="1200" dirty="0">
                <a:solidFill>
                  <a:srgbClr val="808080"/>
                </a:solidFill>
                <a:latin typeface="MiSans" pitchFamily="34" charset="-122"/>
                <a:ea typeface="MiSans" pitchFamily="34" charset="-122"/>
                <a:cs typeface="MiSans" pitchFamily="34" charset="-120"/>
              </a:rPr>
              <a:t> ，以便预训练语言模型能够理解其语义</a:t>
            </a:r>
            <a:endParaRPr lang="en-US" sz="1600" dirty="0"/>
          </a:p>
        </p:txBody>
      </p:sp>
      <p:sp>
        <p:nvSpPr>
          <p:cNvPr id="14" name="Shape 10"/>
          <p:cNvSpPr/>
          <p:nvPr/>
        </p:nvSpPr>
        <p:spPr>
          <a:xfrm>
            <a:off x="533400" y="3114675"/>
            <a:ext cx="3571875" cy="1323975"/>
          </a:xfrm>
          <a:custGeom>
            <a:avLst/>
            <a:gdLst/>
            <a:ahLst/>
            <a:cxnLst/>
            <a:rect l="l" t="t" r="r" b="b"/>
            <a:pathLst>
              <a:path w="3571875" h="1323975">
                <a:moveTo>
                  <a:pt x="76195" y="0"/>
                </a:moveTo>
                <a:lnTo>
                  <a:pt x="3495680" y="0"/>
                </a:lnTo>
                <a:cubicBezTo>
                  <a:pt x="3537761" y="0"/>
                  <a:pt x="3571875" y="34114"/>
                  <a:pt x="3571875" y="76195"/>
                </a:cubicBezTo>
                <a:lnTo>
                  <a:pt x="3571875" y="1247780"/>
                </a:lnTo>
                <a:cubicBezTo>
                  <a:pt x="3571875" y="1289861"/>
                  <a:pt x="3537761" y="1323975"/>
                  <a:pt x="3495680" y="1323975"/>
                </a:cubicBezTo>
                <a:lnTo>
                  <a:pt x="76195" y="1323975"/>
                </a:lnTo>
                <a:cubicBezTo>
                  <a:pt x="34114" y="1323975"/>
                  <a:pt x="0" y="1289861"/>
                  <a:pt x="0" y="1247780"/>
                </a:cubicBezTo>
                <a:lnTo>
                  <a:pt x="0" y="76195"/>
                </a:lnTo>
                <a:cubicBezTo>
                  <a:pt x="0" y="34114"/>
                  <a:pt x="34114" y="0"/>
                  <a:pt x="76195" y="0"/>
                </a:cubicBezTo>
                <a:close/>
              </a:path>
            </a:pathLst>
          </a:custGeom>
          <a:solidFill>
            <a:srgbClr val="FFFFFF"/>
          </a:solidFill>
          <a:effectLst>
            <a:outerShdw blurRad="28575" dist="9525" dir="5400000" algn="bl" rotWithShape="0">
              <a:srgbClr val="000000">
                <a:alpha val="10196"/>
              </a:srgbClr>
            </a:outerShdw>
          </a:effectLst>
        </p:spPr>
      </p:sp>
      <p:sp>
        <p:nvSpPr>
          <p:cNvPr id="15" name="Text 11"/>
          <p:cNvSpPr/>
          <p:nvPr/>
        </p:nvSpPr>
        <p:spPr>
          <a:xfrm>
            <a:off x="647700" y="3290888"/>
            <a:ext cx="3419475"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转换方法</a:t>
            </a:r>
            <a:endParaRPr lang="en-US" sz="1600" dirty="0"/>
          </a:p>
        </p:txBody>
      </p:sp>
      <p:sp>
        <p:nvSpPr>
          <p:cNvPr id="16" name="Text 12"/>
          <p:cNvSpPr/>
          <p:nvPr/>
        </p:nvSpPr>
        <p:spPr>
          <a:xfrm>
            <a:off x="647700" y="3557588"/>
            <a:ext cx="3419475" cy="2095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 特征ID映射为文本描述</a:t>
            </a:r>
            <a:endParaRPr lang="en-US" sz="1600" dirty="0"/>
          </a:p>
        </p:txBody>
      </p:sp>
      <p:sp>
        <p:nvSpPr>
          <p:cNvPr id="17" name="Text 13"/>
          <p:cNvSpPr/>
          <p:nvPr/>
        </p:nvSpPr>
        <p:spPr>
          <a:xfrm>
            <a:off x="647700" y="3805237"/>
            <a:ext cx="3419475" cy="2095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 插入方法边界标记</a:t>
            </a:r>
            <a:endParaRPr lang="en-US" sz="1600" dirty="0"/>
          </a:p>
        </p:txBody>
      </p:sp>
      <p:sp>
        <p:nvSpPr>
          <p:cNvPr id="18" name="Text 14"/>
          <p:cNvSpPr/>
          <p:nvPr/>
        </p:nvSpPr>
        <p:spPr>
          <a:xfrm>
            <a:off x="647700" y="4052888"/>
            <a:ext cx="3419475" cy="2095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 使用通用安全词汇</a:t>
            </a:r>
            <a:endParaRPr lang="en-US" sz="1600" dirty="0"/>
          </a:p>
        </p:txBody>
      </p:sp>
      <p:sp>
        <p:nvSpPr>
          <p:cNvPr id="19" name="Shape 15"/>
          <p:cNvSpPr/>
          <p:nvPr/>
        </p:nvSpPr>
        <p:spPr>
          <a:xfrm>
            <a:off x="4260771" y="1676400"/>
            <a:ext cx="3571875" cy="2762250"/>
          </a:xfrm>
          <a:custGeom>
            <a:avLst/>
            <a:gdLst/>
            <a:ahLst/>
            <a:cxnLst/>
            <a:rect l="l" t="t" r="r" b="b"/>
            <a:pathLst>
              <a:path w="3571875" h="2762250">
                <a:moveTo>
                  <a:pt x="76210" y="0"/>
                </a:moveTo>
                <a:lnTo>
                  <a:pt x="3495665" y="0"/>
                </a:lnTo>
                <a:cubicBezTo>
                  <a:pt x="3537754" y="0"/>
                  <a:pt x="3571875" y="34121"/>
                  <a:pt x="3571875" y="76210"/>
                </a:cubicBezTo>
                <a:lnTo>
                  <a:pt x="3571875" y="2686040"/>
                </a:lnTo>
                <a:cubicBezTo>
                  <a:pt x="3571875" y="2728129"/>
                  <a:pt x="3537754" y="2762250"/>
                  <a:pt x="3495665" y="2762250"/>
                </a:cubicBezTo>
                <a:lnTo>
                  <a:pt x="76210" y="2762250"/>
                </a:lnTo>
                <a:cubicBezTo>
                  <a:pt x="34121" y="2762250"/>
                  <a:pt x="0" y="2728129"/>
                  <a:pt x="0" y="2686040"/>
                </a:cubicBezTo>
                <a:lnTo>
                  <a:pt x="0" y="76210"/>
                </a:lnTo>
                <a:cubicBezTo>
                  <a:pt x="0" y="34121"/>
                  <a:pt x="34121" y="0"/>
                  <a:pt x="76210" y="0"/>
                </a:cubicBezTo>
                <a:close/>
              </a:path>
            </a:pathLst>
          </a:custGeom>
          <a:solidFill>
            <a:srgbClr val="4A4A4A">
              <a:alpha val="10196"/>
            </a:srgbClr>
          </a:solidFill>
        </p:spPr>
      </p:sp>
      <p:sp>
        <p:nvSpPr>
          <p:cNvPr id="20" name="Text 16"/>
          <p:cNvSpPr/>
          <p:nvPr/>
        </p:nvSpPr>
        <p:spPr>
          <a:xfrm>
            <a:off x="4375071" y="1790700"/>
            <a:ext cx="3419475"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转换示例</a:t>
            </a:r>
            <a:endParaRPr lang="en-US" sz="1600" dirty="0"/>
          </a:p>
        </p:txBody>
      </p:sp>
      <p:sp>
        <p:nvSpPr>
          <p:cNvPr id="21" name="Shape 17"/>
          <p:cNvSpPr/>
          <p:nvPr/>
        </p:nvSpPr>
        <p:spPr>
          <a:xfrm>
            <a:off x="4375071" y="2095500"/>
            <a:ext cx="3343275" cy="2228850"/>
          </a:xfrm>
          <a:custGeom>
            <a:avLst/>
            <a:gdLst/>
            <a:ahLst/>
            <a:cxnLst/>
            <a:rect l="l" t="t" r="r" b="b"/>
            <a:pathLst>
              <a:path w="3343275" h="2228850">
                <a:moveTo>
                  <a:pt x="38091" y="0"/>
                </a:moveTo>
                <a:lnTo>
                  <a:pt x="3305184" y="0"/>
                </a:lnTo>
                <a:cubicBezTo>
                  <a:pt x="3326221" y="0"/>
                  <a:pt x="3343275" y="17054"/>
                  <a:pt x="3343275" y="38091"/>
                </a:cubicBezTo>
                <a:lnTo>
                  <a:pt x="3343275" y="2190759"/>
                </a:lnTo>
                <a:cubicBezTo>
                  <a:pt x="3343275" y="2211796"/>
                  <a:pt x="3326221" y="2228850"/>
                  <a:pt x="3305184" y="2228850"/>
                </a:cubicBezTo>
                <a:lnTo>
                  <a:pt x="38091" y="2228850"/>
                </a:lnTo>
                <a:cubicBezTo>
                  <a:pt x="17054" y="2228850"/>
                  <a:pt x="0" y="2211796"/>
                  <a:pt x="0" y="2190759"/>
                </a:cubicBezTo>
                <a:lnTo>
                  <a:pt x="0" y="38091"/>
                </a:lnTo>
                <a:cubicBezTo>
                  <a:pt x="0" y="17068"/>
                  <a:pt x="17068" y="0"/>
                  <a:pt x="38091" y="0"/>
                </a:cubicBezTo>
                <a:close/>
              </a:path>
            </a:pathLst>
          </a:custGeom>
          <a:solidFill>
            <a:srgbClr val="FFFFFF"/>
          </a:solidFill>
        </p:spPr>
      </p:sp>
      <p:sp>
        <p:nvSpPr>
          <p:cNvPr id="22" name="Text 18"/>
          <p:cNvSpPr/>
          <p:nvPr/>
        </p:nvSpPr>
        <p:spPr>
          <a:xfrm>
            <a:off x="4451271" y="2276475"/>
            <a:ext cx="3267075" cy="228600"/>
          </a:xfrm>
          <a:prstGeom prst="rect">
            <a:avLst/>
          </a:prstGeom>
          <a:noFill/>
        </p:spPr>
        <p:txBody>
          <a:bodyPr wrap="square" lIns="0" tIns="0" rIns="0" bIns="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start entry debug.py</a:t>
            </a:r>
            <a:endParaRPr lang="en-US" sz="1600" dirty="0"/>
          </a:p>
        </p:txBody>
      </p:sp>
      <p:sp>
        <p:nvSpPr>
          <p:cNvPr id="23" name="Text 19"/>
          <p:cNvSpPr/>
          <p:nvPr/>
        </p:nvSpPr>
        <p:spPr>
          <a:xfrm>
            <a:off x="4527471" y="2505075"/>
            <a:ext cx="3190875" cy="228600"/>
          </a:xfrm>
          <a:prstGeom prst="rect">
            <a:avLst/>
          </a:prstGeom>
          <a:noFill/>
        </p:spPr>
        <p:txBody>
          <a:bodyPr wrap="square" lIns="0" tIns="0" rIns="0" bIns="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import operating system module</a:t>
            </a:r>
            <a:endParaRPr lang="en-US" sz="1600" dirty="0"/>
          </a:p>
        </p:txBody>
      </p:sp>
      <p:sp>
        <p:nvSpPr>
          <p:cNvPr id="24" name="Text 20"/>
          <p:cNvSpPr/>
          <p:nvPr/>
        </p:nvSpPr>
        <p:spPr>
          <a:xfrm>
            <a:off x="4527471" y="2733675"/>
            <a:ext cx="3190875" cy="228600"/>
          </a:xfrm>
          <a:prstGeom prst="rect">
            <a:avLst/>
          </a:prstGeom>
          <a:noFill/>
        </p:spPr>
        <p:txBody>
          <a:bodyPr wrap="square" lIns="0" tIns="0" rIns="0" bIns="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call operating system method</a:t>
            </a:r>
            <a:endParaRPr lang="en-US" sz="1600" dirty="0"/>
          </a:p>
        </p:txBody>
      </p:sp>
      <p:sp>
        <p:nvSpPr>
          <p:cNvPr id="25" name="Text 21"/>
          <p:cNvSpPr/>
          <p:nvPr/>
        </p:nvSpPr>
        <p:spPr>
          <a:xfrm>
            <a:off x="4527471" y="2962275"/>
            <a:ext cx="3190875" cy="228600"/>
          </a:xfrm>
          <a:prstGeom prst="rect">
            <a:avLst/>
          </a:prstGeom>
          <a:noFill/>
        </p:spPr>
        <p:txBody>
          <a:bodyPr wrap="square" lIns="0" tIns="0" rIns="0" bIns="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import network module</a:t>
            </a:r>
            <a:endParaRPr lang="en-US" sz="1600" dirty="0"/>
          </a:p>
        </p:txBody>
      </p:sp>
      <p:sp>
        <p:nvSpPr>
          <p:cNvPr id="26" name="Text 22"/>
          <p:cNvSpPr/>
          <p:nvPr/>
        </p:nvSpPr>
        <p:spPr>
          <a:xfrm>
            <a:off x="4451271" y="3190875"/>
            <a:ext cx="3267075" cy="228600"/>
          </a:xfrm>
          <a:prstGeom prst="rect">
            <a:avLst/>
          </a:prstGeom>
          <a:noFill/>
        </p:spPr>
        <p:txBody>
          <a:bodyPr wrap="square" lIns="0" tIns="0" rIns="0" bIns="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end of entry</a:t>
            </a:r>
            <a:endParaRPr lang="en-US" sz="1600" dirty="0"/>
          </a:p>
        </p:txBody>
      </p:sp>
      <p:sp>
        <p:nvSpPr>
          <p:cNvPr id="27" name="Text 23"/>
          <p:cNvSpPr/>
          <p:nvPr/>
        </p:nvSpPr>
        <p:spPr>
          <a:xfrm>
            <a:off x="4451271" y="3457575"/>
            <a:ext cx="3267075" cy="228600"/>
          </a:xfrm>
          <a:prstGeom prst="rect">
            <a:avLst/>
          </a:prstGeom>
          <a:noFill/>
        </p:spPr>
        <p:txBody>
          <a:bodyPr wrap="square" lIns="0" tIns="0" rIns="0" bIns="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start entry pf.py</a:t>
            </a:r>
            <a:endParaRPr lang="en-US" sz="1600" dirty="0"/>
          </a:p>
        </p:txBody>
      </p:sp>
      <p:sp>
        <p:nvSpPr>
          <p:cNvPr id="28" name="Text 24"/>
          <p:cNvSpPr/>
          <p:nvPr/>
        </p:nvSpPr>
        <p:spPr>
          <a:xfrm>
            <a:off x="4527471" y="3686175"/>
            <a:ext cx="3190875" cy="228600"/>
          </a:xfrm>
          <a:prstGeom prst="rect">
            <a:avLst/>
          </a:prstGeom>
          <a:noFill/>
        </p:spPr>
        <p:txBody>
          <a:bodyPr wrap="square" lIns="0" tIns="0" rIns="0" bIns="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use URL string</a:t>
            </a:r>
            <a:endParaRPr lang="en-US" sz="1600" dirty="0"/>
          </a:p>
        </p:txBody>
      </p:sp>
      <p:sp>
        <p:nvSpPr>
          <p:cNvPr id="29" name="Text 25"/>
          <p:cNvSpPr/>
          <p:nvPr/>
        </p:nvSpPr>
        <p:spPr>
          <a:xfrm>
            <a:off x="4451271" y="3914775"/>
            <a:ext cx="3267075" cy="228600"/>
          </a:xfrm>
          <a:prstGeom prst="rect">
            <a:avLst/>
          </a:prstGeom>
          <a:noFill/>
        </p:spPr>
        <p:txBody>
          <a:bodyPr wrap="square" lIns="0" tIns="0" rIns="0" bIns="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end of entry</a:t>
            </a:r>
            <a:endParaRPr lang="en-US" sz="1600" dirty="0"/>
          </a:p>
        </p:txBody>
      </p:sp>
      <p:sp>
        <p:nvSpPr>
          <p:cNvPr id="30" name="Shape 26"/>
          <p:cNvSpPr/>
          <p:nvPr/>
        </p:nvSpPr>
        <p:spPr>
          <a:xfrm>
            <a:off x="400050" y="4667250"/>
            <a:ext cx="7553325" cy="1809750"/>
          </a:xfrm>
          <a:custGeom>
            <a:avLst/>
            <a:gdLst/>
            <a:ahLst/>
            <a:cxnLst/>
            <a:rect l="l" t="t" r="r" b="b"/>
            <a:pathLst>
              <a:path w="7553325" h="1809750">
                <a:moveTo>
                  <a:pt x="38100" y="0"/>
                </a:moveTo>
                <a:lnTo>
                  <a:pt x="7477116" y="0"/>
                </a:lnTo>
                <a:cubicBezTo>
                  <a:pt x="7519177" y="0"/>
                  <a:pt x="7553325" y="34148"/>
                  <a:pt x="7553325" y="76209"/>
                </a:cubicBezTo>
                <a:lnTo>
                  <a:pt x="7553325" y="1733541"/>
                </a:lnTo>
                <a:cubicBezTo>
                  <a:pt x="7553325" y="1775630"/>
                  <a:pt x="7519205" y="1809750"/>
                  <a:pt x="7477116" y="1809750"/>
                </a:cubicBezTo>
                <a:lnTo>
                  <a:pt x="38100" y="1809750"/>
                </a:lnTo>
                <a:cubicBezTo>
                  <a:pt x="17072" y="1809750"/>
                  <a:pt x="0" y="1792678"/>
                  <a:pt x="0" y="1771650"/>
                </a:cubicBezTo>
                <a:lnTo>
                  <a:pt x="0" y="38100"/>
                </a:lnTo>
                <a:cubicBezTo>
                  <a:pt x="0" y="17072"/>
                  <a:pt x="17072" y="0"/>
                  <a:pt x="38100" y="0"/>
                </a:cubicBezTo>
                <a:close/>
              </a:path>
            </a:pathLst>
          </a:custGeom>
          <a:solidFill>
            <a:srgbClr val="808080">
              <a:alpha val="10196"/>
            </a:srgbClr>
          </a:solidFill>
        </p:spPr>
      </p:sp>
      <p:sp>
        <p:nvSpPr>
          <p:cNvPr id="31" name="Shape 27"/>
          <p:cNvSpPr/>
          <p:nvPr/>
        </p:nvSpPr>
        <p:spPr>
          <a:xfrm>
            <a:off x="400050" y="4667250"/>
            <a:ext cx="38100" cy="1809750"/>
          </a:xfrm>
          <a:custGeom>
            <a:avLst/>
            <a:gdLst/>
            <a:ahLst/>
            <a:cxnLst/>
            <a:rect l="l" t="t" r="r" b="b"/>
            <a:pathLst>
              <a:path w="38100" h="1809750">
                <a:moveTo>
                  <a:pt x="38100" y="0"/>
                </a:moveTo>
                <a:lnTo>
                  <a:pt x="38100" y="0"/>
                </a:lnTo>
                <a:lnTo>
                  <a:pt x="38100" y="1809750"/>
                </a:lnTo>
                <a:lnTo>
                  <a:pt x="38100" y="1809750"/>
                </a:lnTo>
                <a:cubicBezTo>
                  <a:pt x="17072" y="1809750"/>
                  <a:pt x="0" y="1792678"/>
                  <a:pt x="0" y="1771650"/>
                </a:cubicBezTo>
                <a:lnTo>
                  <a:pt x="0" y="38100"/>
                </a:lnTo>
                <a:cubicBezTo>
                  <a:pt x="0" y="17072"/>
                  <a:pt x="17072" y="0"/>
                  <a:pt x="38100" y="0"/>
                </a:cubicBezTo>
                <a:close/>
              </a:path>
            </a:pathLst>
          </a:custGeom>
          <a:solidFill>
            <a:srgbClr val="808080"/>
          </a:solidFill>
        </p:spPr>
      </p:sp>
      <p:sp>
        <p:nvSpPr>
          <p:cNvPr id="32" name="Shape 28"/>
          <p:cNvSpPr/>
          <p:nvPr/>
        </p:nvSpPr>
        <p:spPr>
          <a:xfrm>
            <a:off x="533400" y="4819650"/>
            <a:ext cx="238125" cy="190500"/>
          </a:xfrm>
          <a:custGeom>
            <a:avLst/>
            <a:gdLst/>
            <a:ahLst/>
            <a:cxnLst/>
            <a:rect l="l" t="t" r="r" b="b"/>
            <a:pathLst>
              <a:path w="238125" h="190500">
                <a:moveTo>
                  <a:pt x="130969" y="0"/>
                </a:moveTo>
                <a:cubicBezTo>
                  <a:pt x="130969" y="-6586"/>
                  <a:pt x="125648" y="-11906"/>
                  <a:pt x="119063" y="-11906"/>
                </a:cubicBezTo>
                <a:cubicBezTo>
                  <a:pt x="112477" y="-11906"/>
                  <a:pt x="107156" y="-6586"/>
                  <a:pt x="107156" y="0"/>
                </a:cubicBezTo>
                <a:lnTo>
                  <a:pt x="107156" y="23812"/>
                </a:lnTo>
                <a:lnTo>
                  <a:pt x="71438" y="23812"/>
                </a:lnTo>
                <a:cubicBezTo>
                  <a:pt x="51718" y="23812"/>
                  <a:pt x="35719" y="39812"/>
                  <a:pt x="35719" y="59531"/>
                </a:cubicBezTo>
                <a:lnTo>
                  <a:pt x="35719" y="142875"/>
                </a:lnTo>
                <a:cubicBezTo>
                  <a:pt x="35719" y="162595"/>
                  <a:pt x="51718" y="178594"/>
                  <a:pt x="71438" y="178594"/>
                </a:cubicBezTo>
                <a:lnTo>
                  <a:pt x="166688" y="178594"/>
                </a:lnTo>
                <a:cubicBezTo>
                  <a:pt x="186407" y="178594"/>
                  <a:pt x="202406" y="162595"/>
                  <a:pt x="202406" y="142875"/>
                </a:cubicBezTo>
                <a:lnTo>
                  <a:pt x="202406" y="59531"/>
                </a:lnTo>
                <a:cubicBezTo>
                  <a:pt x="202406" y="39812"/>
                  <a:pt x="186407" y="23812"/>
                  <a:pt x="166688" y="23812"/>
                </a:cubicBezTo>
                <a:lnTo>
                  <a:pt x="130969" y="23812"/>
                </a:lnTo>
                <a:lnTo>
                  <a:pt x="130969" y="0"/>
                </a:lnTo>
                <a:close/>
                <a:moveTo>
                  <a:pt x="59531" y="136922"/>
                </a:moveTo>
                <a:cubicBezTo>
                  <a:pt x="59531" y="131973"/>
                  <a:pt x="63512" y="127992"/>
                  <a:pt x="68461" y="127992"/>
                </a:cubicBezTo>
                <a:lnTo>
                  <a:pt x="80367" y="127992"/>
                </a:lnTo>
                <a:cubicBezTo>
                  <a:pt x="85316" y="127992"/>
                  <a:pt x="89297" y="131973"/>
                  <a:pt x="89297" y="136922"/>
                </a:cubicBezTo>
                <a:cubicBezTo>
                  <a:pt x="89297" y="141870"/>
                  <a:pt x="85316" y="145852"/>
                  <a:pt x="80367" y="145852"/>
                </a:cubicBezTo>
                <a:lnTo>
                  <a:pt x="68461" y="145852"/>
                </a:lnTo>
                <a:cubicBezTo>
                  <a:pt x="63512" y="145852"/>
                  <a:pt x="59531" y="141870"/>
                  <a:pt x="59531" y="136922"/>
                </a:cubicBezTo>
                <a:close/>
                <a:moveTo>
                  <a:pt x="104180" y="136922"/>
                </a:moveTo>
                <a:cubicBezTo>
                  <a:pt x="104180" y="131973"/>
                  <a:pt x="108161" y="127992"/>
                  <a:pt x="113109" y="127992"/>
                </a:cubicBezTo>
                <a:lnTo>
                  <a:pt x="125016" y="127992"/>
                </a:lnTo>
                <a:cubicBezTo>
                  <a:pt x="129964" y="127992"/>
                  <a:pt x="133945" y="131973"/>
                  <a:pt x="133945" y="136922"/>
                </a:cubicBezTo>
                <a:cubicBezTo>
                  <a:pt x="133945" y="141870"/>
                  <a:pt x="129964" y="145852"/>
                  <a:pt x="125016" y="145852"/>
                </a:cubicBezTo>
                <a:lnTo>
                  <a:pt x="113109" y="145852"/>
                </a:lnTo>
                <a:cubicBezTo>
                  <a:pt x="108161" y="145852"/>
                  <a:pt x="104180" y="141870"/>
                  <a:pt x="104180" y="136922"/>
                </a:cubicBezTo>
                <a:close/>
                <a:moveTo>
                  <a:pt x="148828" y="136922"/>
                </a:moveTo>
                <a:cubicBezTo>
                  <a:pt x="148828" y="131973"/>
                  <a:pt x="152809" y="127992"/>
                  <a:pt x="157758" y="127992"/>
                </a:cubicBezTo>
                <a:lnTo>
                  <a:pt x="169664" y="127992"/>
                </a:lnTo>
                <a:cubicBezTo>
                  <a:pt x="174613" y="127992"/>
                  <a:pt x="178594" y="131973"/>
                  <a:pt x="178594" y="136922"/>
                </a:cubicBezTo>
                <a:cubicBezTo>
                  <a:pt x="178594" y="141870"/>
                  <a:pt x="174613" y="145852"/>
                  <a:pt x="169664" y="145852"/>
                </a:cubicBezTo>
                <a:lnTo>
                  <a:pt x="157758" y="145852"/>
                </a:lnTo>
                <a:cubicBezTo>
                  <a:pt x="152809" y="145852"/>
                  <a:pt x="148828" y="141870"/>
                  <a:pt x="148828" y="136922"/>
                </a:cubicBezTo>
                <a:close/>
                <a:moveTo>
                  <a:pt x="83344" y="65484"/>
                </a:moveTo>
                <a:cubicBezTo>
                  <a:pt x="93201" y="65484"/>
                  <a:pt x="101203" y="73487"/>
                  <a:pt x="101203" y="83344"/>
                </a:cubicBezTo>
                <a:cubicBezTo>
                  <a:pt x="101203" y="93201"/>
                  <a:pt x="93201" y="101203"/>
                  <a:pt x="83344" y="101203"/>
                </a:cubicBezTo>
                <a:cubicBezTo>
                  <a:pt x="73487" y="101203"/>
                  <a:pt x="65484" y="93201"/>
                  <a:pt x="65484" y="83344"/>
                </a:cubicBezTo>
                <a:cubicBezTo>
                  <a:pt x="65484" y="73487"/>
                  <a:pt x="73487" y="65484"/>
                  <a:pt x="83344" y="65484"/>
                </a:cubicBezTo>
                <a:close/>
                <a:moveTo>
                  <a:pt x="136922" y="83344"/>
                </a:moveTo>
                <a:cubicBezTo>
                  <a:pt x="136922" y="73487"/>
                  <a:pt x="144924" y="65484"/>
                  <a:pt x="154781" y="65484"/>
                </a:cubicBezTo>
                <a:cubicBezTo>
                  <a:pt x="164638" y="65484"/>
                  <a:pt x="172641" y="73487"/>
                  <a:pt x="172641" y="83344"/>
                </a:cubicBezTo>
                <a:cubicBezTo>
                  <a:pt x="172641" y="93201"/>
                  <a:pt x="164638" y="101203"/>
                  <a:pt x="154781" y="101203"/>
                </a:cubicBezTo>
                <a:cubicBezTo>
                  <a:pt x="144924" y="101203"/>
                  <a:pt x="136922" y="93201"/>
                  <a:pt x="136922" y="83344"/>
                </a:cubicBezTo>
                <a:close/>
                <a:moveTo>
                  <a:pt x="23812" y="83344"/>
                </a:moveTo>
                <a:cubicBezTo>
                  <a:pt x="23812" y="76758"/>
                  <a:pt x="18492" y="71438"/>
                  <a:pt x="11906" y="71438"/>
                </a:cubicBezTo>
                <a:cubicBezTo>
                  <a:pt x="5321" y="71438"/>
                  <a:pt x="0" y="76758"/>
                  <a:pt x="0" y="83344"/>
                </a:cubicBezTo>
                <a:lnTo>
                  <a:pt x="0" y="119063"/>
                </a:lnTo>
                <a:cubicBezTo>
                  <a:pt x="0" y="125648"/>
                  <a:pt x="5321" y="130969"/>
                  <a:pt x="11906" y="130969"/>
                </a:cubicBezTo>
                <a:cubicBezTo>
                  <a:pt x="18492" y="130969"/>
                  <a:pt x="23812" y="125648"/>
                  <a:pt x="23812" y="119063"/>
                </a:cubicBezTo>
                <a:lnTo>
                  <a:pt x="23812" y="83344"/>
                </a:lnTo>
                <a:close/>
                <a:moveTo>
                  <a:pt x="226219" y="71438"/>
                </a:moveTo>
                <a:cubicBezTo>
                  <a:pt x="219633" y="71438"/>
                  <a:pt x="214313" y="76758"/>
                  <a:pt x="214313" y="83344"/>
                </a:cubicBezTo>
                <a:lnTo>
                  <a:pt x="214313" y="119063"/>
                </a:lnTo>
                <a:cubicBezTo>
                  <a:pt x="214313" y="125648"/>
                  <a:pt x="219633" y="130969"/>
                  <a:pt x="226219" y="130969"/>
                </a:cubicBezTo>
                <a:cubicBezTo>
                  <a:pt x="232804" y="130969"/>
                  <a:pt x="238125" y="125648"/>
                  <a:pt x="238125" y="119063"/>
                </a:cubicBezTo>
                <a:lnTo>
                  <a:pt x="238125" y="83344"/>
                </a:lnTo>
                <a:cubicBezTo>
                  <a:pt x="238125" y="76758"/>
                  <a:pt x="232804" y="71438"/>
                  <a:pt x="226219" y="71438"/>
                </a:cubicBezTo>
                <a:close/>
              </a:path>
            </a:pathLst>
          </a:custGeom>
          <a:solidFill>
            <a:srgbClr val="808080"/>
          </a:solidFill>
        </p:spPr>
      </p:sp>
      <p:sp>
        <p:nvSpPr>
          <p:cNvPr id="33" name="Text 29"/>
          <p:cNvSpPr/>
          <p:nvPr/>
        </p:nvSpPr>
        <p:spPr>
          <a:xfrm>
            <a:off x="771525" y="4781550"/>
            <a:ext cx="7162800" cy="266700"/>
          </a:xfrm>
          <a:prstGeom prst="rect">
            <a:avLst/>
          </a:prstGeom>
          <a:noFill/>
        </p:spPr>
        <p:txBody>
          <a:bodyPr wrap="square" lIns="0" tIns="0" rIns="0" bIns="0" rtlCol="0" anchor="ctr"/>
          <a:lstStyle/>
          <a:p>
            <a:pPr>
              <a:lnSpc>
                <a:spcPct val="120000"/>
              </a:lnSpc>
            </a:pPr>
            <a:r>
              <a:rPr lang="en-US" sz="1500" b="1" dirty="0">
                <a:solidFill>
                  <a:srgbClr val="4A4A4A"/>
                </a:solidFill>
                <a:latin typeface="MiSans" pitchFamily="34" charset="-122"/>
                <a:ea typeface="MiSans" pitchFamily="34" charset="-122"/>
                <a:cs typeface="MiSans" pitchFamily="34" charset="-120"/>
              </a:rPr>
              <a:t>微调预训练语言模型</a:t>
            </a:r>
            <a:endParaRPr lang="en-US" sz="1600" dirty="0"/>
          </a:p>
        </p:txBody>
      </p:sp>
      <p:sp>
        <p:nvSpPr>
          <p:cNvPr id="34" name="Shape 30"/>
          <p:cNvSpPr/>
          <p:nvPr/>
        </p:nvSpPr>
        <p:spPr>
          <a:xfrm>
            <a:off x="533400" y="5124450"/>
            <a:ext cx="2362200" cy="800100"/>
          </a:xfrm>
          <a:custGeom>
            <a:avLst/>
            <a:gdLst/>
            <a:ahLst/>
            <a:cxnLst/>
            <a:rect l="l" t="t" r="r" b="b"/>
            <a:pathLst>
              <a:path w="2362200" h="800100">
                <a:moveTo>
                  <a:pt x="76202" y="0"/>
                </a:moveTo>
                <a:lnTo>
                  <a:pt x="2285998" y="0"/>
                </a:lnTo>
                <a:cubicBezTo>
                  <a:pt x="2328083" y="0"/>
                  <a:pt x="2362200" y="34117"/>
                  <a:pt x="2362200" y="76202"/>
                </a:cubicBezTo>
                <a:lnTo>
                  <a:pt x="2362200" y="723898"/>
                </a:lnTo>
                <a:cubicBezTo>
                  <a:pt x="2362200" y="765983"/>
                  <a:pt x="2328083" y="800100"/>
                  <a:pt x="2285998" y="800100"/>
                </a:cubicBezTo>
                <a:lnTo>
                  <a:pt x="76202" y="800100"/>
                </a:lnTo>
                <a:cubicBezTo>
                  <a:pt x="34117" y="800100"/>
                  <a:pt x="0" y="765983"/>
                  <a:pt x="0" y="723898"/>
                </a:cubicBezTo>
                <a:lnTo>
                  <a:pt x="0" y="76202"/>
                </a:lnTo>
                <a:cubicBezTo>
                  <a:pt x="0" y="34145"/>
                  <a:pt x="34145" y="0"/>
                  <a:pt x="76202" y="0"/>
                </a:cubicBezTo>
                <a:close/>
              </a:path>
            </a:pathLst>
          </a:custGeom>
          <a:solidFill>
            <a:srgbClr val="FFFFFF"/>
          </a:solidFill>
          <a:effectLst>
            <a:outerShdw blurRad="28575" dist="9525" dir="5400000" algn="bl" rotWithShape="0">
              <a:srgbClr val="000000">
                <a:alpha val="10196"/>
              </a:srgbClr>
            </a:outerShdw>
          </a:effectLst>
        </p:spPr>
      </p:sp>
      <p:sp>
        <p:nvSpPr>
          <p:cNvPr id="35" name="Shape 31"/>
          <p:cNvSpPr/>
          <p:nvPr/>
        </p:nvSpPr>
        <p:spPr>
          <a:xfrm>
            <a:off x="1521857" y="520065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A4A4A"/>
          </a:solidFill>
        </p:spPr>
      </p:sp>
      <p:sp>
        <p:nvSpPr>
          <p:cNvPr id="36" name="Text 32"/>
          <p:cNvSpPr/>
          <p:nvPr/>
        </p:nvSpPr>
        <p:spPr>
          <a:xfrm>
            <a:off x="1485186" y="5276850"/>
            <a:ext cx="457200" cy="228600"/>
          </a:xfrm>
          <a:prstGeom prst="rect">
            <a:avLst/>
          </a:prstGeom>
          <a:noFill/>
        </p:spPr>
        <p:txBody>
          <a:bodyPr wrap="square" lIns="0" tIns="0" rIns="0" bIns="0" rtlCol="0" anchor="ctr"/>
          <a:lstStyle/>
          <a:p>
            <a:pPr algn="ctr">
              <a:lnSpc>
                <a:spcPct val="130000"/>
              </a:lnSpc>
            </a:pPr>
            <a:r>
              <a:rPr lang="en-US" sz="1200" b="1" dirty="0">
                <a:solidFill>
                  <a:srgbClr val="FFFFFF"/>
                </a:solidFill>
                <a:latin typeface="MiSans" pitchFamily="34" charset="-122"/>
                <a:ea typeface="MiSans" pitchFamily="34" charset="-122"/>
                <a:cs typeface="MiSans" pitchFamily="34" charset="-120"/>
              </a:rPr>
              <a:t>BERT</a:t>
            </a:r>
            <a:endParaRPr lang="en-US" sz="1600" dirty="0"/>
          </a:p>
        </p:txBody>
      </p:sp>
      <p:sp>
        <p:nvSpPr>
          <p:cNvPr id="37" name="Text 33"/>
          <p:cNvSpPr/>
          <p:nvPr/>
        </p:nvSpPr>
        <p:spPr>
          <a:xfrm>
            <a:off x="571500" y="5619750"/>
            <a:ext cx="2286000" cy="228600"/>
          </a:xfrm>
          <a:prstGeom prst="rect">
            <a:avLst/>
          </a:prstGeom>
          <a:noFill/>
        </p:spPr>
        <p:txBody>
          <a:bodyPr wrap="square" lIns="0" tIns="0" rIns="0" bIns="0" rtlCol="0" anchor="ctr"/>
          <a:lstStyle/>
          <a:p>
            <a:pPr algn="ctr">
              <a:lnSpc>
                <a:spcPct val="130000"/>
              </a:lnSpc>
            </a:pPr>
            <a:r>
              <a:rPr lang="en-US" sz="1200" dirty="0">
                <a:solidFill>
                  <a:srgbClr val="808080"/>
                </a:solidFill>
                <a:latin typeface="MiSans" pitchFamily="34" charset="-122"/>
                <a:ea typeface="MiSans" pitchFamily="34" charset="-122"/>
                <a:cs typeface="MiSans" pitchFamily="34" charset="-120"/>
              </a:rPr>
              <a:t>CEREBROBERT</a:t>
            </a:r>
            <a:endParaRPr lang="en-US" sz="1600" dirty="0"/>
          </a:p>
        </p:txBody>
      </p:sp>
      <p:sp>
        <p:nvSpPr>
          <p:cNvPr id="38" name="Shape 34"/>
          <p:cNvSpPr/>
          <p:nvPr/>
        </p:nvSpPr>
        <p:spPr>
          <a:xfrm>
            <a:off x="3005614" y="5124450"/>
            <a:ext cx="2362200" cy="800100"/>
          </a:xfrm>
          <a:custGeom>
            <a:avLst/>
            <a:gdLst/>
            <a:ahLst/>
            <a:cxnLst/>
            <a:rect l="l" t="t" r="r" b="b"/>
            <a:pathLst>
              <a:path w="2362200" h="800100">
                <a:moveTo>
                  <a:pt x="76202" y="0"/>
                </a:moveTo>
                <a:lnTo>
                  <a:pt x="2285998" y="0"/>
                </a:lnTo>
                <a:cubicBezTo>
                  <a:pt x="2328083" y="0"/>
                  <a:pt x="2362200" y="34117"/>
                  <a:pt x="2362200" y="76202"/>
                </a:cubicBezTo>
                <a:lnTo>
                  <a:pt x="2362200" y="723898"/>
                </a:lnTo>
                <a:cubicBezTo>
                  <a:pt x="2362200" y="765983"/>
                  <a:pt x="2328083" y="800100"/>
                  <a:pt x="2285998" y="800100"/>
                </a:cubicBezTo>
                <a:lnTo>
                  <a:pt x="76202" y="800100"/>
                </a:lnTo>
                <a:cubicBezTo>
                  <a:pt x="34117" y="800100"/>
                  <a:pt x="0" y="765983"/>
                  <a:pt x="0" y="723898"/>
                </a:cubicBezTo>
                <a:lnTo>
                  <a:pt x="0" y="76202"/>
                </a:lnTo>
                <a:cubicBezTo>
                  <a:pt x="0" y="34145"/>
                  <a:pt x="34145" y="0"/>
                  <a:pt x="76202" y="0"/>
                </a:cubicBezTo>
                <a:close/>
              </a:path>
            </a:pathLst>
          </a:custGeom>
          <a:solidFill>
            <a:srgbClr val="FFFFFF"/>
          </a:solidFill>
          <a:effectLst>
            <a:outerShdw blurRad="28575" dist="9525" dir="5400000" algn="bl" rotWithShape="0">
              <a:srgbClr val="000000">
                <a:alpha val="10196"/>
              </a:srgbClr>
            </a:outerShdw>
          </a:effectLst>
        </p:spPr>
      </p:sp>
      <p:sp>
        <p:nvSpPr>
          <p:cNvPr id="39" name="Shape 35"/>
          <p:cNvSpPr/>
          <p:nvPr/>
        </p:nvSpPr>
        <p:spPr>
          <a:xfrm>
            <a:off x="3994071" y="520065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08080"/>
          </a:solidFill>
        </p:spPr>
      </p:sp>
      <p:sp>
        <p:nvSpPr>
          <p:cNvPr id="40" name="Text 36"/>
          <p:cNvSpPr/>
          <p:nvPr/>
        </p:nvSpPr>
        <p:spPr>
          <a:xfrm>
            <a:off x="3869888" y="5295900"/>
            <a:ext cx="628650" cy="190500"/>
          </a:xfrm>
          <a:prstGeom prst="rect">
            <a:avLst/>
          </a:prstGeom>
          <a:noFill/>
        </p:spPr>
        <p:txBody>
          <a:bodyPr wrap="square" lIns="0" tIns="0" rIns="0" bIns="0" rtlCol="0" anchor="ctr"/>
          <a:lstStyle/>
          <a:p>
            <a:pPr algn="ctr">
              <a:lnSpc>
                <a:spcPct val="120000"/>
              </a:lnSpc>
            </a:pPr>
            <a:r>
              <a:rPr lang="en-US" sz="1050" b="1" dirty="0">
                <a:solidFill>
                  <a:srgbClr val="FFFFFF"/>
                </a:solidFill>
                <a:latin typeface="MiSans" pitchFamily="34" charset="-122"/>
                <a:ea typeface="MiSans" pitchFamily="34" charset="-122"/>
                <a:cs typeface="MiSans" pitchFamily="34" charset="-120"/>
              </a:rPr>
              <a:t>RoBERTa</a:t>
            </a:r>
            <a:endParaRPr lang="en-US" sz="1600" dirty="0"/>
          </a:p>
        </p:txBody>
      </p:sp>
      <p:sp>
        <p:nvSpPr>
          <p:cNvPr id="41" name="Text 37"/>
          <p:cNvSpPr/>
          <p:nvPr/>
        </p:nvSpPr>
        <p:spPr>
          <a:xfrm>
            <a:off x="3043714" y="5619750"/>
            <a:ext cx="2286000" cy="228600"/>
          </a:xfrm>
          <a:prstGeom prst="rect">
            <a:avLst/>
          </a:prstGeom>
          <a:noFill/>
        </p:spPr>
        <p:txBody>
          <a:bodyPr wrap="square" lIns="0" tIns="0" rIns="0" bIns="0" rtlCol="0" anchor="ctr"/>
          <a:lstStyle/>
          <a:p>
            <a:pPr algn="ctr">
              <a:lnSpc>
                <a:spcPct val="130000"/>
              </a:lnSpc>
            </a:pPr>
            <a:r>
              <a:rPr lang="en-US" sz="1200" dirty="0">
                <a:solidFill>
                  <a:srgbClr val="808080"/>
                </a:solidFill>
                <a:latin typeface="MiSans" pitchFamily="34" charset="-122"/>
                <a:ea typeface="MiSans" pitchFamily="34" charset="-122"/>
                <a:cs typeface="MiSans" pitchFamily="34" charset="-120"/>
              </a:rPr>
              <a:t>CEREBROROBERTa</a:t>
            </a:r>
            <a:endParaRPr lang="en-US" sz="1600" dirty="0"/>
          </a:p>
        </p:txBody>
      </p:sp>
      <p:sp>
        <p:nvSpPr>
          <p:cNvPr id="42" name="Shape 38"/>
          <p:cNvSpPr/>
          <p:nvPr/>
        </p:nvSpPr>
        <p:spPr>
          <a:xfrm>
            <a:off x="5477828" y="5124450"/>
            <a:ext cx="2362200" cy="800100"/>
          </a:xfrm>
          <a:custGeom>
            <a:avLst/>
            <a:gdLst/>
            <a:ahLst/>
            <a:cxnLst/>
            <a:rect l="l" t="t" r="r" b="b"/>
            <a:pathLst>
              <a:path w="2362200" h="800100">
                <a:moveTo>
                  <a:pt x="76202" y="0"/>
                </a:moveTo>
                <a:lnTo>
                  <a:pt x="2285998" y="0"/>
                </a:lnTo>
                <a:cubicBezTo>
                  <a:pt x="2328083" y="0"/>
                  <a:pt x="2362200" y="34117"/>
                  <a:pt x="2362200" y="76202"/>
                </a:cubicBezTo>
                <a:lnTo>
                  <a:pt x="2362200" y="723898"/>
                </a:lnTo>
                <a:cubicBezTo>
                  <a:pt x="2362200" y="765983"/>
                  <a:pt x="2328083" y="800100"/>
                  <a:pt x="2285998" y="800100"/>
                </a:cubicBezTo>
                <a:lnTo>
                  <a:pt x="76202" y="800100"/>
                </a:lnTo>
                <a:cubicBezTo>
                  <a:pt x="34117" y="800100"/>
                  <a:pt x="0" y="765983"/>
                  <a:pt x="0" y="723898"/>
                </a:cubicBezTo>
                <a:lnTo>
                  <a:pt x="0" y="76202"/>
                </a:lnTo>
                <a:cubicBezTo>
                  <a:pt x="0" y="34145"/>
                  <a:pt x="34145" y="0"/>
                  <a:pt x="76202" y="0"/>
                </a:cubicBezTo>
                <a:close/>
              </a:path>
            </a:pathLst>
          </a:custGeom>
          <a:solidFill>
            <a:srgbClr val="FFFFFF"/>
          </a:solidFill>
          <a:effectLst>
            <a:outerShdw blurRad="28575" dist="9525" dir="5400000" algn="bl" rotWithShape="0">
              <a:srgbClr val="000000">
                <a:alpha val="10196"/>
              </a:srgbClr>
            </a:outerShdw>
          </a:effectLst>
        </p:spPr>
      </p:sp>
      <p:sp>
        <p:nvSpPr>
          <p:cNvPr id="43" name="Shape 39"/>
          <p:cNvSpPr/>
          <p:nvPr/>
        </p:nvSpPr>
        <p:spPr>
          <a:xfrm>
            <a:off x="6466284" y="520065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BDBDBD"/>
          </a:solidFill>
        </p:spPr>
      </p:sp>
      <p:sp>
        <p:nvSpPr>
          <p:cNvPr id="44" name="Text 40"/>
          <p:cNvSpPr/>
          <p:nvPr/>
        </p:nvSpPr>
        <p:spPr>
          <a:xfrm>
            <a:off x="6527482" y="5276850"/>
            <a:ext cx="257175" cy="228600"/>
          </a:xfrm>
          <a:prstGeom prst="rect">
            <a:avLst/>
          </a:prstGeom>
          <a:noFill/>
        </p:spPr>
        <p:txBody>
          <a:bodyPr wrap="square" lIns="0" tIns="0" rIns="0" bIns="0" rtlCol="0" anchor="ctr"/>
          <a:lstStyle/>
          <a:p>
            <a:pPr algn="ctr">
              <a:lnSpc>
                <a:spcPct val="130000"/>
              </a:lnSpc>
            </a:pPr>
            <a:r>
              <a:rPr lang="en-US" sz="1200" b="1" dirty="0">
                <a:solidFill>
                  <a:srgbClr val="1A1A1A"/>
                </a:solidFill>
                <a:latin typeface="MiSans" pitchFamily="34" charset="-122"/>
                <a:ea typeface="MiSans" pitchFamily="34" charset="-122"/>
                <a:cs typeface="MiSans" pitchFamily="34" charset="-120"/>
              </a:rPr>
              <a:t>T5</a:t>
            </a:r>
            <a:endParaRPr lang="en-US" sz="1600" dirty="0"/>
          </a:p>
        </p:txBody>
      </p:sp>
      <p:sp>
        <p:nvSpPr>
          <p:cNvPr id="45" name="Text 41"/>
          <p:cNvSpPr/>
          <p:nvPr/>
        </p:nvSpPr>
        <p:spPr>
          <a:xfrm>
            <a:off x="5515928" y="5619750"/>
            <a:ext cx="2286000" cy="228600"/>
          </a:xfrm>
          <a:prstGeom prst="rect">
            <a:avLst/>
          </a:prstGeom>
          <a:noFill/>
        </p:spPr>
        <p:txBody>
          <a:bodyPr wrap="square" lIns="0" tIns="0" rIns="0" bIns="0" rtlCol="0" anchor="ctr"/>
          <a:lstStyle/>
          <a:p>
            <a:pPr algn="ctr">
              <a:lnSpc>
                <a:spcPct val="130000"/>
              </a:lnSpc>
            </a:pPr>
            <a:r>
              <a:rPr lang="en-US" sz="1200" dirty="0">
                <a:solidFill>
                  <a:srgbClr val="808080"/>
                </a:solidFill>
                <a:latin typeface="MiSans" pitchFamily="34" charset="-122"/>
                <a:ea typeface="MiSans" pitchFamily="34" charset="-122"/>
                <a:cs typeface="MiSans" pitchFamily="34" charset="-120"/>
              </a:rPr>
              <a:t>CEREBROT5</a:t>
            </a:r>
            <a:endParaRPr lang="en-US" sz="1600" dirty="0"/>
          </a:p>
        </p:txBody>
      </p:sp>
      <p:sp>
        <p:nvSpPr>
          <p:cNvPr id="46" name="Shape 42"/>
          <p:cNvSpPr/>
          <p:nvPr/>
        </p:nvSpPr>
        <p:spPr>
          <a:xfrm>
            <a:off x="533400" y="6000750"/>
            <a:ext cx="7305675" cy="361950"/>
          </a:xfrm>
          <a:custGeom>
            <a:avLst/>
            <a:gdLst/>
            <a:ahLst/>
            <a:cxnLst/>
            <a:rect l="l" t="t" r="r" b="b"/>
            <a:pathLst>
              <a:path w="7305675" h="361950">
                <a:moveTo>
                  <a:pt x="76201" y="0"/>
                </a:moveTo>
                <a:lnTo>
                  <a:pt x="7229474" y="0"/>
                </a:lnTo>
                <a:cubicBezTo>
                  <a:pt x="7271559" y="0"/>
                  <a:pt x="7305675" y="34116"/>
                  <a:pt x="7305675" y="76201"/>
                </a:cubicBezTo>
                <a:lnTo>
                  <a:pt x="7305675" y="285749"/>
                </a:lnTo>
                <a:cubicBezTo>
                  <a:pt x="7305675" y="327834"/>
                  <a:pt x="7271559" y="361950"/>
                  <a:pt x="7229474" y="361950"/>
                </a:cubicBezTo>
                <a:lnTo>
                  <a:pt x="76201" y="361950"/>
                </a:lnTo>
                <a:cubicBezTo>
                  <a:pt x="34116" y="361950"/>
                  <a:pt x="0" y="327834"/>
                  <a:pt x="0" y="285749"/>
                </a:cubicBezTo>
                <a:lnTo>
                  <a:pt x="0" y="76201"/>
                </a:lnTo>
                <a:cubicBezTo>
                  <a:pt x="0" y="34145"/>
                  <a:pt x="34145" y="0"/>
                  <a:pt x="76201" y="0"/>
                </a:cubicBezTo>
                <a:close/>
              </a:path>
            </a:pathLst>
          </a:custGeom>
          <a:solidFill>
            <a:srgbClr val="FFFFFF"/>
          </a:solidFill>
          <a:effectLst>
            <a:outerShdw blurRad="28575" dist="9525" dir="5400000" algn="bl" rotWithShape="0">
              <a:srgbClr val="000000">
                <a:alpha val="10196"/>
              </a:srgbClr>
            </a:outerShdw>
          </a:effectLst>
        </p:spPr>
      </p:sp>
      <p:sp>
        <p:nvSpPr>
          <p:cNvPr id="47" name="Text 43"/>
          <p:cNvSpPr/>
          <p:nvPr/>
        </p:nvSpPr>
        <p:spPr>
          <a:xfrm>
            <a:off x="609600" y="6076950"/>
            <a:ext cx="7229475" cy="209550"/>
          </a:xfrm>
          <a:prstGeom prst="rect">
            <a:avLst/>
          </a:prstGeom>
          <a:noFill/>
        </p:spPr>
        <p:txBody>
          <a:bodyPr wrap="square" lIns="0" tIns="0" rIns="0" bIns="0" rtlCol="0" anchor="ctr"/>
          <a:lstStyle/>
          <a:p>
            <a:pPr>
              <a:lnSpc>
                <a:spcPct val="110000"/>
              </a:lnSpc>
            </a:pPr>
            <a:r>
              <a:rPr lang="en-US" sz="1200" b="1" dirty="0">
                <a:solidFill>
                  <a:srgbClr val="4A4A4A"/>
                </a:solidFill>
                <a:latin typeface="MiSans" pitchFamily="34" charset="-122"/>
                <a:ea typeface="MiSans" pitchFamily="34" charset="-122"/>
                <a:cs typeface="MiSans" pitchFamily="34" charset="-120"/>
              </a:rPr>
              <a:t>微调方法：</a:t>
            </a:r>
            <a:r>
              <a:rPr lang="en-US" sz="1200" dirty="0">
                <a:solidFill>
                  <a:srgbClr val="808080"/>
                </a:solidFill>
                <a:latin typeface="MiSans" pitchFamily="34" charset="-122"/>
                <a:ea typeface="MiSans" pitchFamily="34" charset="-122"/>
                <a:cs typeface="MiSans" pitchFamily="34" charset="-120"/>
              </a:rPr>
              <a:t> 追加全连接层和softmax层改造为二分类器，使用交叉熵损失函数训练</a:t>
            </a:r>
            <a:endParaRPr lang="en-US" sz="1600" dirty="0"/>
          </a:p>
        </p:txBody>
      </p:sp>
      <p:sp>
        <p:nvSpPr>
          <p:cNvPr id="48" name="Shape 44"/>
          <p:cNvSpPr/>
          <p:nvPr/>
        </p:nvSpPr>
        <p:spPr>
          <a:xfrm>
            <a:off x="8102561" y="1219200"/>
            <a:ext cx="3705225" cy="2495550"/>
          </a:xfrm>
          <a:custGeom>
            <a:avLst/>
            <a:gdLst/>
            <a:ahLst/>
            <a:cxnLst/>
            <a:rect l="l" t="t" r="r" b="b"/>
            <a:pathLst>
              <a:path w="3705225" h="2495550">
                <a:moveTo>
                  <a:pt x="76189" y="0"/>
                </a:moveTo>
                <a:lnTo>
                  <a:pt x="3629036" y="0"/>
                </a:lnTo>
                <a:cubicBezTo>
                  <a:pt x="3671086" y="0"/>
                  <a:pt x="3705225" y="34139"/>
                  <a:pt x="3705225" y="76189"/>
                </a:cubicBezTo>
                <a:lnTo>
                  <a:pt x="3705225" y="2419361"/>
                </a:lnTo>
                <a:cubicBezTo>
                  <a:pt x="3705225" y="2461439"/>
                  <a:pt x="3671114" y="2495550"/>
                  <a:pt x="3629036" y="2495550"/>
                </a:cubicBezTo>
                <a:lnTo>
                  <a:pt x="76189" y="2495550"/>
                </a:lnTo>
                <a:cubicBezTo>
                  <a:pt x="34139" y="2495550"/>
                  <a:pt x="0" y="2461411"/>
                  <a:pt x="0" y="2419361"/>
                </a:cubicBezTo>
                <a:lnTo>
                  <a:pt x="0" y="76189"/>
                </a:lnTo>
                <a:cubicBezTo>
                  <a:pt x="0" y="34139"/>
                  <a:pt x="34139" y="0"/>
                  <a:pt x="76189" y="0"/>
                </a:cubicBezTo>
                <a:close/>
              </a:path>
            </a:pathLst>
          </a:custGeom>
          <a:gradFill flip="none" rotWithShape="1">
            <a:gsLst>
              <a:gs pos="0">
                <a:srgbClr val="4A4A4A"/>
              </a:gs>
              <a:gs pos="100000">
                <a:srgbClr val="808080"/>
              </a:gs>
            </a:gsLst>
            <a:lin ang="2700000" scaled="1"/>
          </a:gradFill>
        </p:spPr>
      </p:sp>
      <p:sp>
        <p:nvSpPr>
          <p:cNvPr id="49" name="Shape 45"/>
          <p:cNvSpPr/>
          <p:nvPr/>
        </p:nvSpPr>
        <p:spPr>
          <a:xfrm>
            <a:off x="8264486" y="1371600"/>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FFFFF"/>
          </a:solidFill>
        </p:spPr>
      </p:sp>
      <p:sp>
        <p:nvSpPr>
          <p:cNvPr id="50" name="Text 46"/>
          <p:cNvSpPr/>
          <p:nvPr/>
        </p:nvSpPr>
        <p:spPr>
          <a:xfrm>
            <a:off x="8454986" y="1333500"/>
            <a:ext cx="3333750" cy="266700"/>
          </a:xfrm>
          <a:prstGeom prst="rect">
            <a:avLst/>
          </a:prstGeom>
          <a:noFill/>
        </p:spPr>
        <p:txBody>
          <a:bodyPr wrap="square" lIns="0" tIns="0" rIns="0" bIns="0" rtlCol="0" anchor="ctr"/>
          <a:lstStyle/>
          <a:p>
            <a:pPr>
              <a:lnSpc>
                <a:spcPct val="120000"/>
              </a:lnSpc>
            </a:pPr>
            <a:r>
              <a:rPr lang="en-US" sz="1500" b="1" dirty="0">
                <a:solidFill>
                  <a:srgbClr val="FFFFFF"/>
                </a:solidFill>
                <a:latin typeface="MiSans" pitchFamily="34" charset="-122"/>
                <a:ea typeface="MiSans" pitchFamily="34" charset="-122"/>
                <a:cs typeface="MiSans" pitchFamily="34" charset="-120"/>
              </a:rPr>
              <a:t>核心能力</a:t>
            </a:r>
            <a:endParaRPr lang="en-US" sz="1600" dirty="0"/>
          </a:p>
        </p:txBody>
      </p:sp>
      <p:sp>
        <p:nvSpPr>
          <p:cNvPr id="51" name="Shape 47"/>
          <p:cNvSpPr/>
          <p:nvPr/>
        </p:nvSpPr>
        <p:spPr>
          <a:xfrm>
            <a:off x="8216861" y="1676400"/>
            <a:ext cx="3476625" cy="914400"/>
          </a:xfrm>
          <a:custGeom>
            <a:avLst/>
            <a:gdLst/>
            <a:ahLst/>
            <a:cxnLst/>
            <a:rect l="l" t="t" r="r" b="b"/>
            <a:pathLst>
              <a:path w="3476625" h="914400">
                <a:moveTo>
                  <a:pt x="76197" y="0"/>
                </a:moveTo>
                <a:lnTo>
                  <a:pt x="3400428" y="0"/>
                </a:lnTo>
                <a:cubicBezTo>
                  <a:pt x="3442510" y="0"/>
                  <a:pt x="3476625" y="34115"/>
                  <a:pt x="3476625" y="76197"/>
                </a:cubicBezTo>
                <a:lnTo>
                  <a:pt x="3476625" y="838203"/>
                </a:lnTo>
                <a:cubicBezTo>
                  <a:pt x="3476625" y="880285"/>
                  <a:pt x="3442510" y="914400"/>
                  <a:pt x="3400428" y="914400"/>
                </a:cubicBezTo>
                <a:lnTo>
                  <a:pt x="76197" y="914400"/>
                </a:lnTo>
                <a:cubicBezTo>
                  <a:pt x="34115" y="914400"/>
                  <a:pt x="0" y="880285"/>
                  <a:pt x="0" y="838203"/>
                </a:cubicBezTo>
                <a:lnTo>
                  <a:pt x="0" y="76197"/>
                </a:lnTo>
                <a:cubicBezTo>
                  <a:pt x="0" y="34143"/>
                  <a:pt x="34143" y="0"/>
                  <a:pt x="76197" y="0"/>
                </a:cubicBezTo>
                <a:close/>
              </a:path>
            </a:pathLst>
          </a:custGeom>
          <a:solidFill>
            <a:srgbClr val="FFFFFF">
              <a:alpha val="10196"/>
            </a:srgbClr>
          </a:solidFill>
        </p:spPr>
      </p:sp>
      <p:sp>
        <p:nvSpPr>
          <p:cNvPr id="52" name="Shape 48"/>
          <p:cNvSpPr/>
          <p:nvPr/>
        </p:nvSpPr>
        <p:spPr>
          <a:xfrm>
            <a:off x="8350211" y="1828800"/>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FFFFFF"/>
          </a:solidFill>
        </p:spPr>
      </p:sp>
      <p:sp>
        <p:nvSpPr>
          <p:cNvPr id="53" name="Text 49"/>
          <p:cNvSpPr/>
          <p:nvPr/>
        </p:nvSpPr>
        <p:spPr>
          <a:xfrm>
            <a:off x="8521661" y="1790700"/>
            <a:ext cx="3133725"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语义理解</a:t>
            </a:r>
            <a:endParaRPr lang="en-US" sz="1600" dirty="0"/>
          </a:p>
        </p:txBody>
      </p:sp>
      <p:sp>
        <p:nvSpPr>
          <p:cNvPr id="54" name="Text 50"/>
          <p:cNvSpPr/>
          <p:nvPr/>
        </p:nvSpPr>
        <p:spPr>
          <a:xfrm>
            <a:off x="8331161" y="2057400"/>
            <a:ext cx="3324225" cy="419100"/>
          </a:xfrm>
          <a:prstGeom prst="rect">
            <a:avLst/>
          </a:prstGeom>
          <a:noFill/>
        </p:spPr>
        <p:txBody>
          <a:bodyPr wrap="square" lIns="0" tIns="0" rIns="0" bIns="0" rtlCol="0" anchor="ctr"/>
          <a:lstStyle/>
          <a:p>
            <a:pPr>
              <a:lnSpc>
                <a:spcPct val="110000"/>
              </a:lnSpc>
            </a:pPr>
            <a:r>
              <a:rPr lang="en-US" sz="1200" dirty="0">
                <a:solidFill>
                  <a:srgbClr val="FFFFFF">
                    <a:alpha val="90000"/>
                  </a:srgbClr>
                </a:solidFill>
                <a:latin typeface="MiSans" pitchFamily="34" charset="-122"/>
                <a:ea typeface="MiSans" pitchFamily="34" charset="-122"/>
                <a:cs typeface="MiSans" pitchFamily="34" charset="-120"/>
              </a:rPr>
              <a:t>语言模型的位置编码和自注意力机制能够有效捕捉行为序列中的顺序信息和上下文依赖关系</a:t>
            </a:r>
            <a:endParaRPr lang="en-US" sz="1600" dirty="0"/>
          </a:p>
        </p:txBody>
      </p:sp>
      <p:sp>
        <p:nvSpPr>
          <p:cNvPr id="55" name="Shape 51"/>
          <p:cNvSpPr/>
          <p:nvPr/>
        </p:nvSpPr>
        <p:spPr>
          <a:xfrm>
            <a:off x="8216861" y="2667000"/>
            <a:ext cx="3476625" cy="914400"/>
          </a:xfrm>
          <a:custGeom>
            <a:avLst/>
            <a:gdLst/>
            <a:ahLst/>
            <a:cxnLst/>
            <a:rect l="l" t="t" r="r" b="b"/>
            <a:pathLst>
              <a:path w="3476625" h="914400">
                <a:moveTo>
                  <a:pt x="76197" y="0"/>
                </a:moveTo>
                <a:lnTo>
                  <a:pt x="3400428" y="0"/>
                </a:lnTo>
                <a:cubicBezTo>
                  <a:pt x="3442510" y="0"/>
                  <a:pt x="3476625" y="34115"/>
                  <a:pt x="3476625" y="76197"/>
                </a:cubicBezTo>
                <a:lnTo>
                  <a:pt x="3476625" y="838203"/>
                </a:lnTo>
                <a:cubicBezTo>
                  <a:pt x="3476625" y="880285"/>
                  <a:pt x="3442510" y="914400"/>
                  <a:pt x="3400428" y="914400"/>
                </a:cubicBezTo>
                <a:lnTo>
                  <a:pt x="76197" y="914400"/>
                </a:lnTo>
                <a:cubicBezTo>
                  <a:pt x="34115" y="914400"/>
                  <a:pt x="0" y="880285"/>
                  <a:pt x="0" y="838203"/>
                </a:cubicBezTo>
                <a:lnTo>
                  <a:pt x="0" y="76197"/>
                </a:lnTo>
                <a:cubicBezTo>
                  <a:pt x="0" y="34143"/>
                  <a:pt x="34143" y="0"/>
                  <a:pt x="76197" y="0"/>
                </a:cubicBezTo>
                <a:close/>
              </a:path>
            </a:pathLst>
          </a:custGeom>
          <a:solidFill>
            <a:srgbClr val="FFFFFF">
              <a:alpha val="10196"/>
            </a:srgbClr>
          </a:solidFill>
        </p:spPr>
      </p:sp>
      <p:sp>
        <p:nvSpPr>
          <p:cNvPr id="56" name="Shape 52"/>
          <p:cNvSpPr/>
          <p:nvPr/>
        </p:nvSpPr>
        <p:spPr>
          <a:xfrm>
            <a:off x="8350211" y="2819400"/>
            <a:ext cx="152400" cy="152400"/>
          </a:xfrm>
          <a:custGeom>
            <a:avLst/>
            <a:gdLst/>
            <a:ahLst/>
            <a:cxnLst/>
            <a:rect l="l" t="t" r="r" b="b"/>
            <a:pathLst>
              <a:path w="152400" h="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FFFFFF"/>
          </a:solidFill>
        </p:spPr>
      </p:sp>
      <p:sp>
        <p:nvSpPr>
          <p:cNvPr id="57" name="Text 53"/>
          <p:cNvSpPr/>
          <p:nvPr/>
        </p:nvSpPr>
        <p:spPr>
          <a:xfrm>
            <a:off x="8521661" y="2781300"/>
            <a:ext cx="3133725"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序列建模</a:t>
            </a:r>
            <a:endParaRPr lang="en-US" sz="1600" dirty="0"/>
          </a:p>
        </p:txBody>
      </p:sp>
      <p:sp>
        <p:nvSpPr>
          <p:cNvPr id="58" name="Text 54"/>
          <p:cNvSpPr/>
          <p:nvPr/>
        </p:nvSpPr>
        <p:spPr>
          <a:xfrm>
            <a:off x="8331161" y="3048000"/>
            <a:ext cx="3324225" cy="419100"/>
          </a:xfrm>
          <a:prstGeom prst="rect">
            <a:avLst/>
          </a:prstGeom>
          <a:noFill/>
        </p:spPr>
        <p:txBody>
          <a:bodyPr wrap="square" lIns="0" tIns="0" rIns="0" bIns="0" rtlCol="0" anchor="ctr"/>
          <a:lstStyle/>
          <a:p>
            <a:pPr>
              <a:lnSpc>
                <a:spcPct val="110000"/>
              </a:lnSpc>
            </a:pPr>
            <a:r>
              <a:rPr lang="en-US" sz="1200" dirty="0">
                <a:solidFill>
                  <a:srgbClr val="FFFFFF">
                    <a:alpha val="90000"/>
                  </a:srgbClr>
                </a:solidFill>
                <a:latin typeface="MiSans" pitchFamily="34" charset="-122"/>
                <a:ea typeface="MiSans" pitchFamily="34" charset="-122"/>
                <a:cs typeface="MiSans" pitchFamily="34" charset="-120"/>
              </a:rPr>
              <a:t>能够理解"读取敏感信息"后"进行网络传输"这样的攻击链逻辑</a:t>
            </a:r>
            <a:endParaRPr lang="en-US" sz="1600" dirty="0"/>
          </a:p>
        </p:txBody>
      </p:sp>
      <p:sp>
        <p:nvSpPr>
          <p:cNvPr id="59" name="Shape 55"/>
          <p:cNvSpPr/>
          <p:nvPr/>
        </p:nvSpPr>
        <p:spPr>
          <a:xfrm>
            <a:off x="8216861" y="3657600"/>
            <a:ext cx="3476625" cy="704850"/>
          </a:xfrm>
          <a:custGeom>
            <a:avLst/>
            <a:gdLst/>
            <a:ahLst/>
            <a:cxnLst/>
            <a:rect l="l" t="t" r="r" b="b"/>
            <a:pathLst>
              <a:path w="3476625" h="704850">
                <a:moveTo>
                  <a:pt x="76201" y="0"/>
                </a:moveTo>
                <a:lnTo>
                  <a:pt x="3400424" y="0"/>
                </a:lnTo>
                <a:cubicBezTo>
                  <a:pt x="3442509" y="0"/>
                  <a:pt x="3476625" y="34116"/>
                  <a:pt x="3476625" y="76201"/>
                </a:cubicBezTo>
                <a:lnTo>
                  <a:pt x="3476625" y="628649"/>
                </a:lnTo>
                <a:cubicBezTo>
                  <a:pt x="3476625" y="670734"/>
                  <a:pt x="3442509" y="704850"/>
                  <a:pt x="3400424" y="704850"/>
                </a:cubicBezTo>
                <a:lnTo>
                  <a:pt x="76201" y="704850"/>
                </a:lnTo>
                <a:cubicBezTo>
                  <a:pt x="34116" y="704850"/>
                  <a:pt x="0" y="670734"/>
                  <a:pt x="0" y="628649"/>
                </a:cubicBezTo>
                <a:lnTo>
                  <a:pt x="0" y="76201"/>
                </a:lnTo>
                <a:cubicBezTo>
                  <a:pt x="0" y="34145"/>
                  <a:pt x="34145" y="0"/>
                  <a:pt x="76201" y="0"/>
                </a:cubicBezTo>
                <a:close/>
              </a:path>
            </a:pathLst>
          </a:custGeom>
          <a:solidFill>
            <a:srgbClr val="FFFFFF">
              <a:alpha val="10196"/>
            </a:srgbClr>
          </a:solidFill>
        </p:spPr>
      </p:sp>
      <p:sp>
        <p:nvSpPr>
          <p:cNvPr id="60" name="Shape 56"/>
          <p:cNvSpPr/>
          <p:nvPr/>
        </p:nvSpPr>
        <p:spPr>
          <a:xfrm>
            <a:off x="8340686" y="3810000"/>
            <a:ext cx="171450" cy="152400"/>
          </a:xfrm>
          <a:custGeom>
            <a:avLst/>
            <a:gdLst/>
            <a:ahLst/>
            <a:cxnLst/>
            <a:rect l="l" t="t" r="r" b="b"/>
            <a:pathLst>
              <a:path w="171450" h="152400">
                <a:moveTo>
                  <a:pt x="85725" y="-4762"/>
                </a:moveTo>
                <a:cubicBezTo>
                  <a:pt x="90994" y="-4762"/>
                  <a:pt x="95250" y="-506"/>
                  <a:pt x="95250" y="4763"/>
                </a:cubicBezTo>
                <a:lnTo>
                  <a:pt x="95250" y="10210"/>
                </a:lnTo>
                <a:cubicBezTo>
                  <a:pt x="124450" y="14377"/>
                  <a:pt x="147548" y="37475"/>
                  <a:pt x="151715" y="66675"/>
                </a:cubicBezTo>
                <a:lnTo>
                  <a:pt x="157163" y="66675"/>
                </a:lnTo>
                <a:cubicBezTo>
                  <a:pt x="162431" y="66675"/>
                  <a:pt x="166688" y="70931"/>
                  <a:pt x="166688" y="76200"/>
                </a:cubicBezTo>
                <a:cubicBezTo>
                  <a:pt x="166688" y="81469"/>
                  <a:pt x="162431" y="85725"/>
                  <a:pt x="157163" y="85725"/>
                </a:cubicBezTo>
                <a:lnTo>
                  <a:pt x="151715" y="85725"/>
                </a:lnTo>
                <a:cubicBezTo>
                  <a:pt x="147548" y="114925"/>
                  <a:pt x="124450" y="138023"/>
                  <a:pt x="95250" y="142190"/>
                </a:cubicBezTo>
                <a:lnTo>
                  <a:pt x="95250" y="147638"/>
                </a:lnTo>
                <a:cubicBezTo>
                  <a:pt x="95250" y="152906"/>
                  <a:pt x="90994" y="157163"/>
                  <a:pt x="85725" y="157163"/>
                </a:cubicBezTo>
                <a:cubicBezTo>
                  <a:pt x="80456" y="157163"/>
                  <a:pt x="76200" y="152906"/>
                  <a:pt x="76200" y="147638"/>
                </a:cubicBezTo>
                <a:lnTo>
                  <a:pt x="76200" y="142190"/>
                </a:lnTo>
                <a:cubicBezTo>
                  <a:pt x="47000" y="138023"/>
                  <a:pt x="23902" y="114925"/>
                  <a:pt x="19735" y="85725"/>
                </a:cubicBezTo>
                <a:lnTo>
                  <a:pt x="14288" y="85725"/>
                </a:lnTo>
                <a:cubicBezTo>
                  <a:pt x="9019" y="85725"/>
                  <a:pt x="4763" y="81469"/>
                  <a:pt x="4763" y="76200"/>
                </a:cubicBezTo>
                <a:cubicBezTo>
                  <a:pt x="4763" y="70931"/>
                  <a:pt x="9019" y="66675"/>
                  <a:pt x="14288" y="66675"/>
                </a:cubicBezTo>
                <a:lnTo>
                  <a:pt x="19735" y="66675"/>
                </a:lnTo>
                <a:cubicBezTo>
                  <a:pt x="23902" y="37475"/>
                  <a:pt x="47000" y="14377"/>
                  <a:pt x="76200" y="10210"/>
                </a:cubicBezTo>
                <a:lnTo>
                  <a:pt x="76200" y="4763"/>
                </a:lnTo>
                <a:cubicBezTo>
                  <a:pt x="76200" y="-506"/>
                  <a:pt x="80456" y="-4762"/>
                  <a:pt x="85725" y="-4762"/>
                </a:cubicBezTo>
                <a:close/>
                <a:moveTo>
                  <a:pt x="39052" y="85725"/>
                </a:moveTo>
                <a:cubicBezTo>
                  <a:pt x="42833" y="104388"/>
                  <a:pt x="57537" y="119092"/>
                  <a:pt x="76200" y="122873"/>
                </a:cubicBezTo>
                <a:lnTo>
                  <a:pt x="76200" y="119062"/>
                </a:lnTo>
                <a:cubicBezTo>
                  <a:pt x="76200" y="113794"/>
                  <a:pt x="80456" y="109537"/>
                  <a:pt x="85725" y="109537"/>
                </a:cubicBezTo>
                <a:cubicBezTo>
                  <a:pt x="90994" y="109537"/>
                  <a:pt x="95250" y="113794"/>
                  <a:pt x="95250" y="119062"/>
                </a:cubicBezTo>
                <a:lnTo>
                  <a:pt x="95250" y="122873"/>
                </a:lnTo>
                <a:cubicBezTo>
                  <a:pt x="113913" y="119092"/>
                  <a:pt x="128617" y="104388"/>
                  <a:pt x="132398" y="85725"/>
                </a:cubicBezTo>
                <a:lnTo>
                  <a:pt x="128588" y="85725"/>
                </a:lnTo>
                <a:cubicBezTo>
                  <a:pt x="123319" y="85725"/>
                  <a:pt x="119062" y="81469"/>
                  <a:pt x="119062" y="76200"/>
                </a:cubicBezTo>
                <a:cubicBezTo>
                  <a:pt x="119062" y="70931"/>
                  <a:pt x="123319" y="66675"/>
                  <a:pt x="128588" y="66675"/>
                </a:cubicBezTo>
                <a:lnTo>
                  <a:pt x="132398" y="66675"/>
                </a:lnTo>
                <a:cubicBezTo>
                  <a:pt x="128617" y="48012"/>
                  <a:pt x="113913" y="33308"/>
                  <a:pt x="95250" y="29527"/>
                </a:cubicBezTo>
                <a:lnTo>
                  <a:pt x="95250" y="33338"/>
                </a:lnTo>
                <a:cubicBezTo>
                  <a:pt x="95250" y="38606"/>
                  <a:pt x="90994" y="42863"/>
                  <a:pt x="85725" y="42863"/>
                </a:cubicBezTo>
                <a:cubicBezTo>
                  <a:pt x="80456" y="42863"/>
                  <a:pt x="76200" y="38606"/>
                  <a:pt x="76200" y="33338"/>
                </a:cubicBezTo>
                <a:lnTo>
                  <a:pt x="76200" y="29527"/>
                </a:lnTo>
                <a:cubicBezTo>
                  <a:pt x="57537" y="33308"/>
                  <a:pt x="42833" y="48012"/>
                  <a:pt x="39052" y="66675"/>
                </a:cubicBezTo>
                <a:lnTo>
                  <a:pt x="42863" y="66675"/>
                </a:lnTo>
                <a:cubicBezTo>
                  <a:pt x="48131" y="66675"/>
                  <a:pt x="52388" y="70931"/>
                  <a:pt x="52388" y="76200"/>
                </a:cubicBezTo>
                <a:cubicBezTo>
                  <a:pt x="52388" y="81469"/>
                  <a:pt x="48131" y="85725"/>
                  <a:pt x="42863" y="85725"/>
                </a:cubicBezTo>
                <a:lnTo>
                  <a:pt x="39052" y="85725"/>
                </a:lnTo>
                <a:close/>
                <a:moveTo>
                  <a:pt x="85725" y="61912"/>
                </a:moveTo>
                <a:cubicBezTo>
                  <a:pt x="93610" y="61912"/>
                  <a:pt x="100013" y="68315"/>
                  <a:pt x="100013" y="76200"/>
                </a:cubicBezTo>
                <a:cubicBezTo>
                  <a:pt x="100013" y="84085"/>
                  <a:pt x="93610" y="90488"/>
                  <a:pt x="85725" y="90488"/>
                </a:cubicBezTo>
                <a:cubicBezTo>
                  <a:pt x="77840" y="90488"/>
                  <a:pt x="71438" y="84085"/>
                  <a:pt x="71438" y="76200"/>
                </a:cubicBezTo>
                <a:cubicBezTo>
                  <a:pt x="71438" y="68315"/>
                  <a:pt x="77840" y="61912"/>
                  <a:pt x="85725" y="61912"/>
                </a:cubicBezTo>
                <a:close/>
              </a:path>
            </a:pathLst>
          </a:custGeom>
          <a:solidFill>
            <a:srgbClr val="FFFFFF"/>
          </a:solidFill>
        </p:spPr>
      </p:sp>
      <p:sp>
        <p:nvSpPr>
          <p:cNvPr id="61" name="Text 57"/>
          <p:cNvSpPr/>
          <p:nvPr/>
        </p:nvSpPr>
        <p:spPr>
          <a:xfrm>
            <a:off x="8521661" y="3771900"/>
            <a:ext cx="3133725"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精确识别</a:t>
            </a:r>
            <a:endParaRPr lang="en-US" sz="1600" dirty="0"/>
          </a:p>
        </p:txBody>
      </p:sp>
      <p:sp>
        <p:nvSpPr>
          <p:cNvPr id="62" name="Text 58"/>
          <p:cNvSpPr/>
          <p:nvPr/>
        </p:nvSpPr>
        <p:spPr>
          <a:xfrm>
            <a:off x="8331161" y="4038600"/>
            <a:ext cx="3324225" cy="209550"/>
          </a:xfrm>
          <a:prstGeom prst="rect">
            <a:avLst/>
          </a:prstGeom>
          <a:noFill/>
        </p:spPr>
        <p:txBody>
          <a:bodyPr wrap="square" lIns="0" tIns="0" rIns="0" bIns="0" rtlCol="0" anchor="ctr"/>
          <a:lstStyle/>
          <a:p>
            <a:pPr>
              <a:lnSpc>
                <a:spcPct val="110000"/>
              </a:lnSpc>
            </a:pPr>
            <a:r>
              <a:rPr lang="en-US" sz="1200" dirty="0">
                <a:solidFill>
                  <a:srgbClr val="FFFFFF">
                    <a:alpha val="90000"/>
                  </a:srgbClr>
                </a:solidFill>
                <a:latin typeface="MiSans" pitchFamily="34" charset="-122"/>
                <a:ea typeface="MiSans" pitchFamily="34" charset="-122"/>
                <a:cs typeface="MiSans" pitchFamily="34" charset="-120"/>
              </a:rPr>
              <a:t>更精确地理解恶意意图，降低误报和漏报</a:t>
            </a:r>
            <a:endParaRPr lang="en-US" sz="1600" dirty="0"/>
          </a:p>
        </p:txBody>
      </p:sp>
      <p:sp>
        <p:nvSpPr>
          <p:cNvPr id="63" name="Shape 59"/>
          <p:cNvSpPr/>
          <p:nvPr/>
        </p:nvSpPr>
        <p:spPr>
          <a:xfrm>
            <a:off x="8121611" y="3829050"/>
            <a:ext cx="3686175" cy="1885950"/>
          </a:xfrm>
          <a:custGeom>
            <a:avLst/>
            <a:gdLst/>
            <a:ahLst/>
            <a:cxnLst/>
            <a:rect l="l" t="t" r="r" b="b"/>
            <a:pathLst>
              <a:path w="3686175" h="1885950">
                <a:moveTo>
                  <a:pt x="38100" y="0"/>
                </a:moveTo>
                <a:lnTo>
                  <a:pt x="3609983" y="0"/>
                </a:lnTo>
                <a:cubicBezTo>
                  <a:pt x="3652063" y="0"/>
                  <a:pt x="3686175" y="34112"/>
                  <a:pt x="3686175" y="76192"/>
                </a:cubicBezTo>
                <a:lnTo>
                  <a:pt x="3686175" y="1809758"/>
                </a:lnTo>
                <a:cubicBezTo>
                  <a:pt x="3686175" y="1851838"/>
                  <a:pt x="3652063" y="1885950"/>
                  <a:pt x="3609983" y="1885950"/>
                </a:cubicBezTo>
                <a:lnTo>
                  <a:pt x="38100" y="1885950"/>
                </a:lnTo>
                <a:cubicBezTo>
                  <a:pt x="17072" y="1885950"/>
                  <a:pt x="0" y="1868878"/>
                  <a:pt x="0" y="1847850"/>
                </a:cubicBezTo>
                <a:lnTo>
                  <a:pt x="0" y="38100"/>
                </a:lnTo>
                <a:cubicBezTo>
                  <a:pt x="0" y="17072"/>
                  <a:pt x="17072" y="0"/>
                  <a:pt x="38100" y="0"/>
                </a:cubicBezTo>
                <a:close/>
              </a:path>
            </a:pathLst>
          </a:custGeom>
          <a:solidFill>
            <a:srgbClr val="BDBDBD">
              <a:alpha val="20000"/>
            </a:srgbClr>
          </a:solidFill>
        </p:spPr>
      </p:sp>
      <p:sp>
        <p:nvSpPr>
          <p:cNvPr id="64" name="Shape 60"/>
          <p:cNvSpPr/>
          <p:nvPr/>
        </p:nvSpPr>
        <p:spPr>
          <a:xfrm>
            <a:off x="8121611" y="3829050"/>
            <a:ext cx="38100" cy="1885950"/>
          </a:xfrm>
          <a:custGeom>
            <a:avLst/>
            <a:gdLst/>
            <a:ahLst/>
            <a:cxnLst/>
            <a:rect l="l" t="t" r="r" b="b"/>
            <a:pathLst>
              <a:path w="38100" h="1885950">
                <a:moveTo>
                  <a:pt x="38100" y="0"/>
                </a:moveTo>
                <a:lnTo>
                  <a:pt x="38100" y="0"/>
                </a:lnTo>
                <a:lnTo>
                  <a:pt x="38100" y="1885950"/>
                </a:lnTo>
                <a:lnTo>
                  <a:pt x="38100" y="1885950"/>
                </a:lnTo>
                <a:cubicBezTo>
                  <a:pt x="17072" y="1885950"/>
                  <a:pt x="0" y="1868878"/>
                  <a:pt x="0" y="1847850"/>
                </a:cubicBezTo>
                <a:lnTo>
                  <a:pt x="0" y="38100"/>
                </a:lnTo>
                <a:cubicBezTo>
                  <a:pt x="0" y="17072"/>
                  <a:pt x="17072" y="0"/>
                  <a:pt x="38100" y="0"/>
                </a:cubicBezTo>
                <a:close/>
              </a:path>
            </a:pathLst>
          </a:custGeom>
          <a:solidFill>
            <a:srgbClr val="BDBDBD"/>
          </a:solidFill>
        </p:spPr>
      </p:sp>
      <p:sp>
        <p:nvSpPr>
          <p:cNvPr id="65" name="Shape 61"/>
          <p:cNvSpPr/>
          <p:nvPr/>
        </p:nvSpPr>
        <p:spPr>
          <a:xfrm>
            <a:off x="8278773" y="3990975"/>
            <a:ext cx="171450" cy="171450"/>
          </a:xfrm>
          <a:custGeom>
            <a:avLst/>
            <a:gdLst/>
            <a:ahLst/>
            <a:cxnLst/>
            <a:rect l="l" t="t" r="r" b="b"/>
            <a:pathLst>
              <a:path w="171450" h="171450">
                <a:moveTo>
                  <a:pt x="117838" y="93762"/>
                </a:moveTo>
                <a:lnTo>
                  <a:pt x="53913" y="93762"/>
                </a:lnTo>
                <a:cubicBezTo>
                  <a:pt x="54884" y="115360"/>
                  <a:pt x="59673" y="135251"/>
                  <a:pt x="66470" y="149818"/>
                </a:cubicBezTo>
                <a:cubicBezTo>
                  <a:pt x="70288" y="158022"/>
                  <a:pt x="74407" y="163815"/>
                  <a:pt x="78224" y="167365"/>
                </a:cubicBezTo>
                <a:cubicBezTo>
                  <a:pt x="81975" y="170881"/>
                  <a:pt x="84553" y="171450"/>
                  <a:pt x="85892" y="171450"/>
                </a:cubicBezTo>
                <a:cubicBezTo>
                  <a:pt x="87232" y="171450"/>
                  <a:pt x="89810" y="170881"/>
                  <a:pt x="93561" y="167365"/>
                </a:cubicBezTo>
                <a:cubicBezTo>
                  <a:pt x="97378" y="163815"/>
                  <a:pt x="101497" y="157988"/>
                  <a:pt x="105315" y="149818"/>
                </a:cubicBezTo>
                <a:cubicBezTo>
                  <a:pt x="112112" y="135251"/>
                  <a:pt x="116901" y="115360"/>
                  <a:pt x="117872" y="93762"/>
                </a:cubicBezTo>
                <a:close/>
                <a:moveTo>
                  <a:pt x="53880" y="77688"/>
                </a:moveTo>
                <a:lnTo>
                  <a:pt x="117805" y="77688"/>
                </a:lnTo>
                <a:cubicBezTo>
                  <a:pt x="116867" y="56090"/>
                  <a:pt x="112079" y="36199"/>
                  <a:pt x="105281" y="21632"/>
                </a:cubicBezTo>
                <a:cubicBezTo>
                  <a:pt x="101464" y="13462"/>
                  <a:pt x="97345" y="7635"/>
                  <a:pt x="93527" y="4085"/>
                </a:cubicBezTo>
                <a:cubicBezTo>
                  <a:pt x="89777" y="569"/>
                  <a:pt x="87198" y="0"/>
                  <a:pt x="85859" y="0"/>
                </a:cubicBezTo>
                <a:cubicBezTo>
                  <a:pt x="84519" y="0"/>
                  <a:pt x="81941" y="569"/>
                  <a:pt x="78191" y="4085"/>
                </a:cubicBezTo>
                <a:cubicBezTo>
                  <a:pt x="74373" y="7635"/>
                  <a:pt x="70254" y="13462"/>
                  <a:pt x="66437" y="21632"/>
                </a:cubicBezTo>
                <a:cubicBezTo>
                  <a:pt x="59639" y="36199"/>
                  <a:pt x="54851" y="56090"/>
                  <a:pt x="53880" y="77688"/>
                </a:cubicBezTo>
                <a:close/>
                <a:moveTo>
                  <a:pt x="37806" y="77688"/>
                </a:moveTo>
                <a:cubicBezTo>
                  <a:pt x="38978" y="49024"/>
                  <a:pt x="46379" y="22402"/>
                  <a:pt x="57195" y="4922"/>
                </a:cubicBezTo>
                <a:cubicBezTo>
                  <a:pt x="26354" y="15839"/>
                  <a:pt x="3650" y="43934"/>
                  <a:pt x="502" y="77688"/>
                </a:cubicBezTo>
                <a:lnTo>
                  <a:pt x="37806" y="77688"/>
                </a:lnTo>
                <a:close/>
                <a:moveTo>
                  <a:pt x="502" y="93762"/>
                </a:moveTo>
                <a:cubicBezTo>
                  <a:pt x="3650" y="127516"/>
                  <a:pt x="26354" y="155611"/>
                  <a:pt x="57195" y="166528"/>
                </a:cubicBezTo>
                <a:cubicBezTo>
                  <a:pt x="46379" y="149048"/>
                  <a:pt x="38978" y="122426"/>
                  <a:pt x="37806" y="93762"/>
                </a:cubicBezTo>
                <a:lnTo>
                  <a:pt x="502" y="93762"/>
                </a:lnTo>
                <a:close/>
                <a:moveTo>
                  <a:pt x="133912" y="93762"/>
                </a:moveTo>
                <a:cubicBezTo>
                  <a:pt x="132740" y="122426"/>
                  <a:pt x="125339" y="149048"/>
                  <a:pt x="114523" y="166528"/>
                </a:cubicBezTo>
                <a:cubicBezTo>
                  <a:pt x="145364" y="155577"/>
                  <a:pt x="168068" y="127516"/>
                  <a:pt x="171216" y="93762"/>
                </a:cubicBezTo>
                <a:lnTo>
                  <a:pt x="133912" y="93762"/>
                </a:lnTo>
                <a:close/>
                <a:moveTo>
                  <a:pt x="171216" y="77688"/>
                </a:moveTo>
                <a:cubicBezTo>
                  <a:pt x="168068" y="43934"/>
                  <a:pt x="145364" y="15839"/>
                  <a:pt x="114523" y="4922"/>
                </a:cubicBezTo>
                <a:cubicBezTo>
                  <a:pt x="125339" y="22402"/>
                  <a:pt x="132740" y="49024"/>
                  <a:pt x="133912" y="77688"/>
                </a:cubicBezTo>
                <a:lnTo>
                  <a:pt x="171216" y="77688"/>
                </a:lnTo>
                <a:close/>
              </a:path>
            </a:pathLst>
          </a:custGeom>
          <a:solidFill>
            <a:srgbClr val="BDBDBD"/>
          </a:solidFill>
        </p:spPr>
      </p:sp>
      <p:sp>
        <p:nvSpPr>
          <p:cNvPr id="66" name="Text 62"/>
          <p:cNvSpPr/>
          <p:nvPr/>
        </p:nvSpPr>
        <p:spPr>
          <a:xfrm>
            <a:off x="8474036" y="3943350"/>
            <a:ext cx="3305175"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跨生态知识融合</a:t>
            </a:r>
            <a:endParaRPr lang="en-US" sz="1600" dirty="0"/>
          </a:p>
        </p:txBody>
      </p:sp>
      <p:sp>
        <p:nvSpPr>
          <p:cNvPr id="67" name="Shape 63"/>
          <p:cNvSpPr/>
          <p:nvPr/>
        </p:nvSpPr>
        <p:spPr>
          <a:xfrm>
            <a:off x="8254961" y="4286250"/>
            <a:ext cx="3438525" cy="1314450"/>
          </a:xfrm>
          <a:custGeom>
            <a:avLst/>
            <a:gdLst/>
            <a:ahLst/>
            <a:cxnLst/>
            <a:rect l="l" t="t" r="r" b="b"/>
            <a:pathLst>
              <a:path w="3438525" h="1314450">
                <a:moveTo>
                  <a:pt x="76199" y="0"/>
                </a:moveTo>
                <a:lnTo>
                  <a:pt x="3362326" y="0"/>
                </a:lnTo>
                <a:cubicBezTo>
                  <a:pt x="3404410" y="0"/>
                  <a:pt x="3438525" y="34115"/>
                  <a:pt x="3438525" y="76199"/>
                </a:cubicBezTo>
                <a:lnTo>
                  <a:pt x="3438525" y="1238251"/>
                </a:lnTo>
                <a:cubicBezTo>
                  <a:pt x="3438525" y="1280335"/>
                  <a:pt x="3404410" y="1314450"/>
                  <a:pt x="3362326" y="1314450"/>
                </a:cubicBezTo>
                <a:lnTo>
                  <a:pt x="76199" y="1314450"/>
                </a:lnTo>
                <a:cubicBezTo>
                  <a:pt x="34115" y="1314450"/>
                  <a:pt x="0" y="1280335"/>
                  <a:pt x="0" y="1238251"/>
                </a:cubicBezTo>
                <a:lnTo>
                  <a:pt x="0" y="76199"/>
                </a:lnTo>
                <a:cubicBezTo>
                  <a:pt x="0" y="34143"/>
                  <a:pt x="34143" y="0"/>
                  <a:pt x="76199" y="0"/>
                </a:cubicBezTo>
                <a:close/>
              </a:path>
            </a:pathLst>
          </a:custGeom>
          <a:solidFill>
            <a:srgbClr val="FFFFFF"/>
          </a:solidFill>
          <a:effectLst>
            <a:outerShdw blurRad="28575" dist="9525" dir="5400000" algn="bl" rotWithShape="0">
              <a:srgbClr val="000000">
                <a:alpha val="10196"/>
              </a:srgbClr>
            </a:outerShdw>
          </a:effectLst>
        </p:spPr>
      </p:sp>
      <p:sp>
        <p:nvSpPr>
          <p:cNvPr id="68" name="Text 64"/>
          <p:cNvSpPr/>
          <p:nvPr/>
        </p:nvSpPr>
        <p:spPr>
          <a:xfrm>
            <a:off x="8369261" y="4400550"/>
            <a:ext cx="3286125" cy="6286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通过使用与编程语言无关的高层语义特征及其文本描述，分类器可以同时在NPM和PyPI的混合数据上进行训练</a:t>
            </a:r>
            <a:endParaRPr lang="en-US" sz="1600" dirty="0"/>
          </a:p>
        </p:txBody>
      </p:sp>
      <p:sp>
        <p:nvSpPr>
          <p:cNvPr id="69" name="Shape 65"/>
          <p:cNvSpPr/>
          <p:nvPr/>
        </p:nvSpPr>
        <p:spPr>
          <a:xfrm>
            <a:off x="8369261" y="5105400"/>
            <a:ext cx="3209925" cy="381000"/>
          </a:xfrm>
          <a:custGeom>
            <a:avLst/>
            <a:gdLst/>
            <a:ahLst/>
            <a:cxnLst/>
            <a:rect l="l" t="t" r="r" b="b"/>
            <a:pathLst>
              <a:path w="3209925" h="381000">
                <a:moveTo>
                  <a:pt x="38100" y="0"/>
                </a:moveTo>
                <a:lnTo>
                  <a:pt x="3171825" y="0"/>
                </a:lnTo>
                <a:cubicBezTo>
                  <a:pt x="3192853" y="0"/>
                  <a:pt x="3209925" y="17072"/>
                  <a:pt x="3209925" y="38100"/>
                </a:cubicBezTo>
                <a:lnTo>
                  <a:pt x="3209925" y="342900"/>
                </a:lnTo>
                <a:cubicBezTo>
                  <a:pt x="3209925" y="363928"/>
                  <a:pt x="3192853" y="381000"/>
                  <a:pt x="3171825" y="381000"/>
                </a:cubicBezTo>
                <a:lnTo>
                  <a:pt x="38100" y="381000"/>
                </a:lnTo>
                <a:cubicBezTo>
                  <a:pt x="17072" y="381000"/>
                  <a:pt x="0" y="363928"/>
                  <a:pt x="0" y="342900"/>
                </a:cubicBezTo>
                <a:lnTo>
                  <a:pt x="0" y="38100"/>
                </a:lnTo>
                <a:cubicBezTo>
                  <a:pt x="0" y="17072"/>
                  <a:pt x="17072" y="0"/>
                  <a:pt x="38100" y="0"/>
                </a:cubicBezTo>
                <a:close/>
              </a:path>
            </a:pathLst>
          </a:custGeom>
          <a:solidFill>
            <a:srgbClr val="BDBDBD">
              <a:alpha val="20000"/>
            </a:srgbClr>
          </a:solidFill>
        </p:spPr>
      </p:sp>
      <p:sp>
        <p:nvSpPr>
          <p:cNvPr id="70" name="Text 66"/>
          <p:cNvSpPr/>
          <p:nvPr/>
        </p:nvSpPr>
        <p:spPr>
          <a:xfrm>
            <a:off x="8331161" y="5105400"/>
            <a:ext cx="3286125" cy="381000"/>
          </a:xfrm>
          <a:prstGeom prst="rect">
            <a:avLst/>
          </a:prstGeom>
          <a:noFill/>
        </p:spPr>
        <p:txBody>
          <a:bodyPr wrap="square" lIns="76200" tIns="76200" rIns="76200" bIns="76200" rtlCol="0" anchor="ctr"/>
          <a:lstStyle/>
          <a:p>
            <a:pPr algn="ctr">
              <a:lnSpc>
                <a:spcPct val="130000"/>
              </a:lnSpc>
            </a:pPr>
            <a:r>
              <a:rPr lang="en-US" sz="1200" b="1" dirty="0">
                <a:solidFill>
                  <a:srgbClr val="4A4A4A"/>
                </a:solidFill>
                <a:latin typeface="MiSans" pitchFamily="34" charset="-122"/>
                <a:ea typeface="MiSans" pitchFamily="34" charset="-122"/>
                <a:cs typeface="MiSans" pitchFamily="34" charset="-120"/>
              </a:rPr>
              <a:t>单一模型检测双生态系统</a:t>
            </a:r>
            <a:endParaRPr lang="en-US" sz="1600" dirty="0"/>
          </a:p>
        </p:txBody>
      </p:sp>
      <p:sp>
        <p:nvSpPr>
          <p:cNvPr id="71" name="Shape 67"/>
          <p:cNvSpPr/>
          <p:nvPr/>
        </p:nvSpPr>
        <p:spPr>
          <a:xfrm>
            <a:off x="8102561" y="5829300"/>
            <a:ext cx="3705225" cy="647700"/>
          </a:xfrm>
          <a:custGeom>
            <a:avLst/>
            <a:gdLst/>
            <a:ahLst/>
            <a:cxnLst/>
            <a:rect l="l" t="t" r="r" b="b"/>
            <a:pathLst>
              <a:path w="3705225" h="647700">
                <a:moveTo>
                  <a:pt x="76202" y="0"/>
                </a:moveTo>
                <a:lnTo>
                  <a:pt x="3629023" y="0"/>
                </a:lnTo>
                <a:cubicBezTo>
                  <a:pt x="3671108" y="0"/>
                  <a:pt x="3705225" y="34117"/>
                  <a:pt x="3705225" y="76202"/>
                </a:cubicBezTo>
                <a:lnTo>
                  <a:pt x="3705225" y="571498"/>
                </a:lnTo>
                <a:cubicBezTo>
                  <a:pt x="3705225" y="613583"/>
                  <a:pt x="3671108" y="647700"/>
                  <a:pt x="3629023" y="647700"/>
                </a:cubicBezTo>
                <a:lnTo>
                  <a:pt x="76202" y="647700"/>
                </a:lnTo>
                <a:cubicBezTo>
                  <a:pt x="34117" y="647700"/>
                  <a:pt x="0" y="613583"/>
                  <a:pt x="0" y="571498"/>
                </a:cubicBezTo>
                <a:lnTo>
                  <a:pt x="0" y="76202"/>
                </a:lnTo>
                <a:cubicBezTo>
                  <a:pt x="0" y="34117"/>
                  <a:pt x="34117" y="0"/>
                  <a:pt x="76202" y="0"/>
                </a:cubicBezTo>
                <a:close/>
              </a:path>
            </a:pathLst>
          </a:custGeom>
          <a:gradFill flip="none" rotWithShape="1">
            <a:gsLst>
              <a:gs pos="0">
                <a:srgbClr val="4A4A4A"/>
              </a:gs>
              <a:gs pos="100000">
                <a:srgbClr val="808080"/>
              </a:gs>
            </a:gsLst>
            <a:lin ang="0" scaled="1"/>
          </a:gradFill>
        </p:spPr>
      </p:sp>
      <p:sp>
        <p:nvSpPr>
          <p:cNvPr id="72" name="Shape 68"/>
          <p:cNvSpPr/>
          <p:nvPr/>
        </p:nvSpPr>
        <p:spPr>
          <a:xfrm>
            <a:off x="8235911" y="5966459"/>
            <a:ext cx="152400" cy="152400"/>
          </a:xfrm>
          <a:custGeom>
            <a:avLst/>
            <a:gdLst/>
            <a:ahLst/>
            <a:cxnLst/>
            <a:rect l="l" t="t" r="r" b="b"/>
            <a:pathLst>
              <a:path w="152400" h="152400">
                <a:moveTo>
                  <a:pt x="42952" y="0"/>
                </a:moveTo>
                <a:lnTo>
                  <a:pt x="109627" y="0"/>
                </a:lnTo>
                <a:cubicBezTo>
                  <a:pt x="117515" y="0"/>
                  <a:pt x="123944" y="6489"/>
                  <a:pt x="123646" y="14347"/>
                </a:cubicBezTo>
                <a:cubicBezTo>
                  <a:pt x="123587" y="15925"/>
                  <a:pt x="123527" y="17502"/>
                  <a:pt x="123438" y="19050"/>
                </a:cubicBezTo>
                <a:lnTo>
                  <a:pt x="138202" y="19050"/>
                </a:lnTo>
                <a:cubicBezTo>
                  <a:pt x="145971" y="19050"/>
                  <a:pt x="152817" y="25479"/>
                  <a:pt x="152221" y="33873"/>
                </a:cubicBezTo>
                <a:cubicBezTo>
                  <a:pt x="149989" y="64740"/>
                  <a:pt x="134213" y="81707"/>
                  <a:pt x="117098" y="90577"/>
                </a:cubicBezTo>
                <a:cubicBezTo>
                  <a:pt x="112395" y="93018"/>
                  <a:pt x="107603" y="94833"/>
                  <a:pt x="103049" y="96173"/>
                </a:cubicBezTo>
                <a:cubicBezTo>
                  <a:pt x="97036" y="104686"/>
                  <a:pt x="90785" y="109180"/>
                  <a:pt x="85814" y="111591"/>
                </a:cubicBezTo>
                <a:lnTo>
                  <a:pt x="85814" y="133350"/>
                </a:lnTo>
                <a:lnTo>
                  <a:pt x="104864" y="133350"/>
                </a:lnTo>
                <a:cubicBezTo>
                  <a:pt x="110133" y="133350"/>
                  <a:pt x="114389" y="137606"/>
                  <a:pt x="114389" y="142875"/>
                </a:cubicBezTo>
                <a:cubicBezTo>
                  <a:pt x="114389" y="148144"/>
                  <a:pt x="110133" y="152400"/>
                  <a:pt x="104864" y="152400"/>
                </a:cubicBezTo>
                <a:lnTo>
                  <a:pt x="47714" y="152400"/>
                </a:lnTo>
                <a:cubicBezTo>
                  <a:pt x="42446" y="152400"/>
                  <a:pt x="38189" y="148144"/>
                  <a:pt x="38189" y="142875"/>
                </a:cubicBezTo>
                <a:cubicBezTo>
                  <a:pt x="38189" y="137606"/>
                  <a:pt x="42446" y="133350"/>
                  <a:pt x="47714" y="133350"/>
                </a:cubicBezTo>
                <a:lnTo>
                  <a:pt x="66764" y="133350"/>
                </a:lnTo>
                <a:lnTo>
                  <a:pt x="66764" y="111591"/>
                </a:lnTo>
                <a:cubicBezTo>
                  <a:pt x="62002" y="109299"/>
                  <a:pt x="56078" y="105043"/>
                  <a:pt x="50304" y="97215"/>
                </a:cubicBezTo>
                <a:cubicBezTo>
                  <a:pt x="44827" y="95786"/>
                  <a:pt x="38874" y="93613"/>
                  <a:pt x="33070" y="90339"/>
                </a:cubicBezTo>
                <a:cubicBezTo>
                  <a:pt x="16966" y="81320"/>
                  <a:pt x="2441" y="64324"/>
                  <a:pt x="357" y="33814"/>
                </a:cubicBezTo>
                <a:cubicBezTo>
                  <a:pt x="-208" y="25450"/>
                  <a:pt x="6608" y="19020"/>
                  <a:pt x="14377" y="19020"/>
                </a:cubicBezTo>
                <a:lnTo>
                  <a:pt x="29141" y="19020"/>
                </a:lnTo>
                <a:cubicBezTo>
                  <a:pt x="29051" y="17472"/>
                  <a:pt x="28992" y="15925"/>
                  <a:pt x="28932" y="14317"/>
                </a:cubicBezTo>
                <a:cubicBezTo>
                  <a:pt x="28635" y="6429"/>
                  <a:pt x="35064" y="-30"/>
                  <a:pt x="42952" y="-30"/>
                </a:cubicBezTo>
                <a:close/>
                <a:moveTo>
                  <a:pt x="30212" y="33338"/>
                </a:moveTo>
                <a:lnTo>
                  <a:pt x="14615" y="33338"/>
                </a:lnTo>
                <a:cubicBezTo>
                  <a:pt x="16460" y="58549"/>
                  <a:pt x="28039" y="71170"/>
                  <a:pt x="39975" y="77867"/>
                </a:cubicBezTo>
                <a:cubicBezTo>
                  <a:pt x="35689" y="66764"/>
                  <a:pt x="32147" y="52268"/>
                  <a:pt x="30212" y="33338"/>
                </a:cubicBezTo>
                <a:close/>
                <a:moveTo>
                  <a:pt x="113109" y="76438"/>
                </a:moveTo>
                <a:cubicBezTo>
                  <a:pt x="125164" y="69354"/>
                  <a:pt x="136059" y="56763"/>
                  <a:pt x="137904" y="33338"/>
                </a:cubicBezTo>
                <a:lnTo>
                  <a:pt x="122337" y="33338"/>
                </a:lnTo>
                <a:cubicBezTo>
                  <a:pt x="120491" y="51465"/>
                  <a:pt x="117157" y="65544"/>
                  <a:pt x="113109" y="76438"/>
                </a:cubicBezTo>
                <a:close/>
              </a:path>
            </a:pathLst>
          </a:custGeom>
          <a:solidFill>
            <a:srgbClr val="FFFFFF"/>
          </a:solidFill>
        </p:spPr>
      </p:sp>
      <p:sp>
        <p:nvSpPr>
          <p:cNvPr id="73" name="Text 69"/>
          <p:cNvSpPr/>
          <p:nvPr/>
        </p:nvSpPr>
        <p:spPr>
          <a:xfrm>
            <a:off x="8464511" y="5943600"/>
            <a:ext cx="3305175" cy="419100"/>
          </a:xfrm>
          <a:prstGeom prst="rect">
            <a:avLst/>
          </a:prstGeom>
          <a:noFill/>
        </p:spPr>
        <p:txBody>
          <a:bodyPr wrap="square" lIns="0" tIns="0" rIns="0" bIns="0" rtlCol="0" anchor="ctr"/>
          <a:lstStyle/>
          <a:p>
            <a:pPr>
              <a:lnSpc>
                <a:spcPct val="110000"/>
              </a:lnSpc>
            </a:pPr>
            <a:r>
              <a:rPr lang="en-US" sz="1200" b="1" dirty="0">
                <a:solidFill>
                  <a:srgbClr val="FFFFFF"/>
                </a:solidFill>
                <a:latin typeface="MiSans" pitchFamily="34" charset="-122"/>
                <a:ea typeface="MiSans" pitchFamily="34" charset="-122"/>
                <a:cs typeface="MiSans" pitchFamily="34" charset="-120"/>
              </a:rPr>
              <a:t>设计目标实现：</a:t>
            </a:r>
            <a:r>
              <a:rPr lang="en-US" sz="1200" dirty="0">
                <a:solidFill>
                  <a:srgbClr val="FFFFFF"/>
                </a:solidFill>
                <a:latin typeface="MiSans" pitchFamily="34" charset="-122"/>
                <a:ea typeface="MiSans" pitchFamily="34" charset="-122"/>
                <a:cs typeface="MiSans" pitchFamily="34" charset="-120"/>
              </a:rPr>
              <a:t> 一石二鸟——用一个模型同时检测NPM和PyPI恶意包</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29:05-d3l4r48s8jdo4os5eol0.jpg"/>
          <p:cNvPicPr>
            <a:picLocks noChangeAspect="1"/>
          </p:cNvPicPr>
          <p:nvPr/>
        </p:nvPicPr>
        <p:blipFill>
          <a:blip r:embed="rId2"/>
          <a:stretch>
            <a:fillRect/>
          </a:stretch>
        </p:blipFill>
        <p:spPr>
          <a:xfrm>
            <a:off x="10160" y="0"/>
            <a:ext cx="12171680" cy="6858000"/>
          </a:xfrm>
          <a:prstGeom prst="rect">
            <a:avLst/>
          </a:prstGeom>
        </p:spPr>
      </p:pic>
      <p:pic>
        <p:nvPicPr>
          <p:cNvPr id="3" name="Image 1" descr="https://kimi-img.moonshot.cn/pub/slides/slides_tmpl/image/25-10-11-20:29:15-d3l4r6os8jdo4os5eom0.jpeg"/>
          <p:cNvPicPr>
            <a:picLocks noChangeAspect="1"/>
          </p:cNvPicPr>
          <p:nvPr/>
        </p:nvPicPr>
        <p:blipFill>
          <a:blip r:embed="rId1"/>
          <a:srcRect t="31248" b="31248"/>
          <a:stretch>
            <a:fillRect/>
          </a:stretch>
        </p:blipFill>
        <p:spPr>
          <a:xfrm>
            <a:off x="0" y="0"/>
            <a:ext cx="12191365" cy="6858635"/>
          </a:xfrm>
          <a:prstGeom prst="rect">
            <a:avLst/>
          </a:prstGeom>
        </p:spPr>
      </p:pic>
      <p:pic>
        <p:nvPicPr>
          <p:cNvPr id="4" name="Image 2" descr="https://kimi-img.moonshot.cn/pub/slides/slides_tmpl/image/25-10-11-20:29:04-d3l4r40s8jdo4os5eok0.jpeg"/>
          <p:cNvPicPr>
            <a:picLocks noChangeAspect="1"/>
          </p:cNvPicPr>
          <p:nvPr/>
        </p:nvPicPr>
        <p:blipFill>
          <a:blip r:embed="rId3">
            <a:alphaModFix amt="10000"/>
          </a:blip>
          <a:srcRect t="37244" b="24949"/>
          <a:stretch>
            <a:fillRect/>
          </a:stretch>
        </p:blipFill>
        <p:spPr>
          <a:xfrm>
            <a:off x="635" y="1621155"/>
            <a:ext cx="12191365" cy="3456305"/>
          </a:xfrm>
          <a:prstGeom prst="rect">
            <a:avLst/>
          </a:prstGeom>
        </p:spPr>
      </p:pic>
      <p:sp>
        <p:nvSpPr>
          <p:cNvPr id="5" name="Text 0"/>
          <p:cNvSpPr/>
          <p:nvPr/>
        </p:nvSpPr>
        <p:spPr>
          <a:xfrm>
            <a:off x="1357630" y="3708400"/>
            <a:ext cx="9475470" cy="819150"/>
          </a:xfrm>
          <a:prstGeom prst="rect">
            <a:avLst/>
          </a:prstGeom>
          <a:noFill/>
        </p:spPr>
        <p:txBody>
          <a:bodyPr wrap="square" lIns="91440" tIns="45720" rIns="91440" bIns="45720" rtlCol="0" anchor="t"/>
          <a:lstStyle/>
          <a:p>
            <a:pPr algn="ctr">
              <a:lnSpc>
                <a:spcPct val="110000"/>
              </a:lnSpc>
            </a:pPr>
            <a:r>
              <a:rPr lang="en-US" sz="3600" dirty="0">
                <a:solidFill>
                  <a:srgbClr val="000000"/>
                </a:solidFill>
                <a:latin typeface="MiSans" pitchFamily="34" charset="-122"/>
                <a:ea typeface="MiSans" pitchFamily="34" charset="-122"/>
                <a:cs typeface="MiSans" pitchFamily="34" charset="-120"/>
              </a:rPr>
              <a:t>03 实验评估</a:t>
            </a:r>
            <a:endParaRPr lang="en-US" sz="1600" dirty="0"/>
          </a:p>
        </p:txBody>
      </p:sp>
      <p:sp>
        <p:nvSpPr>
          <p:cNvPr id="6" name="Text 1"/>
          <p:cNvSpPr/>
          <p:nvPr/>
        </p:nvSpPr>
        <p:spPr>
          <a:xfrm>
            <a:off x="4683125" y="2274570"/>
            <a:ext cx="2824480" cy="1433830"/>
          </a:xfrm>
          <a:prstGeom prst="rect">
            <a:avLst/>
          </a:prstGeom>
          <a:noFill/>
        </p:spPr>
        <p:txBody>
          <a:bodyPr wrap="square" lIns="91440" tIns="45720" rIns="91440" bIns="45720" rtlCol="0" anchor="t"/>
          <a:lstStyle/>
          <a:p>
            <a:pPr algn="ctr">
              <a:lnSpc>
                <a:spcPct val="100000"/>
              </a:lnSpc>
            </a:pPr>
            <a:r>
              <a:rPr lang="en-US" sz="9600" dirty="0">
                <a:solidFill>
                  <a:srgbClr val="000000"/>
                </a:solidFill>
                <a:latin typeface="MiSans" pitchFamily="34" charset="-122"/>
                <a:ea typeface="MiSans" pitchFamily="34" charset="-122"/>
                <a:cs typeface="MiSans" pitchFamily="34" charset="-120"/>
              </a:rPr>
              <a:t>03</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10-11-20:29:04-d3l4r40s8jdo4os5eok0.jpeg"/>
          <p:cNvPicPr>
            <a:picLocks noChangeAspect="1"/>
          </p:cNvPicPr>
          <p:nvPr/>
        </p:nvPicPr>
        <p:blipFill>
          <a:blip r:embed="rId1">
            <a:alphaModFix amt="34000"/>
          </a:blip>
          <a:srcRect t="46513" b="46513"/>
          <a:stretch>
            <a:fillRect/>
          </a:stretch>
        </p:blipFill>
        <p:spPr>
          <a:xfrm>
            <a:off x="799465" y="6010275"/>
            <a:ext cx="10638155" cy="215265"/>
          </a:xfrm>
          <a:prstGeom prst="rect">
            <a:avLst/>
          </a:prstGeom>
        </p:spPr>
      </p:pic>
      <p:pic>
        <p:nvPicPr>
          <p:cNvPr id="3" name="Image 1" descr="https://kimi-img.moonshot.cn/pub/slides/slides_tmpl/image/25-10-11-20:29:20-d3l4r80s8jdo4os5eomg.jpg"/>
          <p:cNvPicPr>
            <a:picLocks noChangeAspect="1"/>
          </p:cNvPicPr>
          <p:nvPr/>
        </p:nvPicPr>
        <p:blipFill>
          <a:blip r:embed="rId2"/>
          <a:stretch>
            <a:fillRect/>
          </a:stretch>
        </p:blipFill>
        <p:spPr>
          <a:xfrm>
            <a:off x="1270" y="0"/>
            <a:ext cx="12190730" cy="6858000"/>
          </a:xfrm>
          <a:prstGeom prst="rect">
            <a:avLst/>
          </a:prstGeom>
        </p:spPr>
      </p:pic>
      <p:sp>
        <p:nvSpPr>
          <p:cNvPr id="4" name="Text 0"/>
          <p:cNvSpPr/>
          <p:nvPr/>
        </p:nvSpPr>
        <p:spPr>
          <a:xfrm>
            <a:off x="360977" y="360977"/>
            <a:ext cx="11533217" cy="180489"/>
          </a:xfrm>
          <a:prstGeom prst="rect">
            <a:avLst/>
          </a:prstGeom>
          <a:noFill/>
        </p:spPr>
        <p:txBody>
          <a:bodyPr wrap="square" lIns="0" tIns="0" rIns="0" bIns="0" rtlCol="0" anchor="ctr"/>
          <a:lstStyle/>
          <a:p>
            <a:pPr>
              <a:lnSpc>
                <a:spcPct val="120000"/>
              </a:lnSpc>
            </a:pPr>
            <a:r>
              <a:rPr lang="en-US" sz="995" b="1" kern="0" spc="50" dirty="0">
                <a:solidFill>
                  <a:srgbClr val="808080"/>
                </a:solidFill>
                <a:latin typeface="MiSans" pitchFamily="34" charset="-122"/>
                <a:ea typeface="MiSans" pitchFamily="34" charset="-122"/>
                <a:cs typeface="MiSans" pitchFamily="34" charset="-120"/>
              </a:rPr>
              <a:t>EFFECTIVENESS EVALUATION</a:t>
            </a:r>
            <a:endParaRPr lang="en-US" sz="1600" dirty="0"/>
          </a:p>
        </p:txBody>
      </p:sp>
      <p:sp>
        <p:nvSpPr>
          <p:cNvPr id="5" name="Text 1"/>
          <p:cNvSpPr/>
          <p:nvPr/>
        </p:nvSpPr>
        <p:spPr>
          <a:xfrm>
            <a:off x="360977" y="613661"/>
            <a:ext cx="11632486" cy="360977"/>
          </a:xfrm>
          <a:prstGeom prst="rect">
            <a:avLst/>
          </a:prstGeom>
          <a:noFill/>
        </p:spPr>
        <p:txBody>
          <a:bodyPr wrap="square" lIns="0" tIns="0" rIns="0" bIns="0" rtlCol="0" anchor="ctr"/>
          <a:lstStyle/>
          <a:p>
            <a:pPr>
              <a:lnSpc>
                <a:spcPct val="90000"/>
              </a:lnSpc>
            </a:pPr>
            <a:r>
              <a:rPr lang="en-US" sz="2560" b="1" dirty="0">
                <a:solidFill>
                  <a:srgbClr val="4A4A4A"/>
                </a:solidFill>
                <a:latin typeface="MiSans" pitchFamily="34" charset="-122"/>
                <a:ea typeface="MiSans" pitchFamily="34" charset="-122"/>
                <a:cs typeface="MiSans" pitchFamily="34" charset="-120"/>
              </a:rPr>
              <a:t>有效性评估：三场景对比实验</a:t>
            </a:r>
            <a:endParaRPr lang="en-US" sz="1600" dirty="0"/>
          </a:p>
        </p:txBody>
      </p:sp>
      <p:sp>
        <p:nvSpPr>
          <p:cNvPr id="6" name="Shape 2"/>
          <p:cNvSpPr/>
          <p:nvPr/>
        </p:nvSpPr>
        <p:spPr>
          <a:xfrm>
            <a:off x="360977" y="1082931"/>
            <a:ext cx="721954" cy="36098"/>
          </a:xfrm>
          <a:custGeom>
            <a:avLst/>
            <a:gdLst/>
            <a:ahLst/>
            <a:cxnLst/>
            <a:rect l="l" t="t" r="r" b="b"/>
            <a:pathLst>
              <a:path w="721954" h="36098">
                <a:moveTo>
                  <a:pt x="0" y="0"/>
                </a:moveTo>
                <a:lnTo>
                  <a:pt x="721954" y="0"/>
                </a:lnTo>
                <a:lnTo>
                  <a:pt x="721954" y="36098"/>
                </a:lnTo>
                <a:lnTo>
                  <a:pt x="0" y="36098"/>
                </a:lnTo>
                <a:lnTo>
                  <a:pt x="0" y="0"/>
                </a:lnTo>
                <a:close/>
              </a:path>
            </a:pathLst>
          </a:custGeom>
          <a:solidFill>
            <a:srgbClr val="4A4A4A"/>
          </a:solidFill>
        </p:spPr>
      </p:sp>
      <p:sp>
        <p:nvSpPr>
          <p:cNvPr id="7" name="Shape 3"/>
          <p:cNvSpPr/>
          <p:nvPr/>
        </p:nvSpPr>
        <p:spPr>
          <a:xfrm>
            <a:off x="360977" y="1281469"/>
            <a:ext cx="3727088" cy="3988796"/>
          </a:xfrm>
          <a:custGeom>
            <a:avLst/>
            <a:gdLst/>
            <a:ahLst/>
            <a:cxnLst/>
            <a:rect l="l" t="t" r="r" b="b"/>
            <a:pathLst>
              <a:path w="3727088" h="3988796">
                <a:moveTo>
                  <a:pt x="36098" y="0"/>
                </a:moveTo>
                <a:lnTo>
                  <a:pt x="3690990" y="0"/>
                </a:lnTo>
                <a:cubicBezTo>
                  <a:pt x="3710927" y="0"/>
                  <a:pt x="3727088" y="16161"/>
                  <a:pt x="3727088" y="36098"/>
                </a:cubicBezTo>
                <a:lnTo>
                  <a:pt x="3727088" y="3916603"/>
                </a:lnTo>
                <a:cubicBezTo>
                  <a:pt x="3727088" y="3956474"/>
                  <a:pt x="3694766" y="3988796"/>
                  <a:pt x="3654894" y="3988796"/>
                </a:cubicBezTo>
                <a:lnTo>
                  <a:pt x="72194" y="3988796"/>
                </a:lnTo>
                <a:cubicBezTo>
                  <a:pt x="32322" y="3988796"/>
                  <a:pt x="0" y="3956474"/>
                  <a:pt x="0" y="3916603"/>
                </a:cubicBezTo>
                <a:lnTo>
                  <a:pt x="0" y="36098"/>
                </a:lnTo>
                <a:cubicBezTo>
                  <a:pt x="0" y="16161"/>
                  <a:pt x="16161" y="0"/>
                  <a:pt x="36098" y="0"/>
                </a:cubicBezTo>
                <a:close/>
              </a:path>
            </a:pathLst>
          </a:custGeom>
          <a:solidFill>
            <a:srgbClr val="4A4A4A">
              <a:alpha val="5098"/>
            </a:srgbClr>
          </a:solidFill>
        </p:spPr>
      </p:sp>
      <p:sp>
        <p:nvSpPr>
          <p:cNvPr id="8" name="Shape 4"/>
          <p:cNvSpPr/>
          <p:nvPr/>
        </p:nvSpPr>
        <p:spPr>
          <a:xfrm>
            <a:off x="360977" y="1281469"/>
            <a:ext cx="3727088" cy="36098"/>
          </a:xfrm>
          <a:custGeom>
            <a:avLst/>
            <a:gdLst/>
            <a:ahLst/>
            <a:cxnLst/>
            <a:rect l="l" t="t" r="r" b="b"/>
            <a:pathLst>
              <a:path w="3727088" h="36098">
                <a:moveTo>
                  <a:pt x="36098" y="0"/>
                </a:moveTo>
                <a:lnTo>
                  <a:pt x="3690990" y="0"/>
                </a:lnTo>
                <a:cubicBezTo>
                  <a:pt x="3710927" y="0"/>
                  <a:pt x="3727088" y="16161"/>
                  <a:pt x="3727088" y="36098"/>
                </a:cubicBezTo>
                <a:lnTo>
                  <a:pt x="3727088" y="36098"/>
                </a:lnTo>
                <a:lnTo>
                  <a:pt x="0" y="36098"/>
                </a:lnTo>
                <a:lnTo>
                  <a:pt x="0" y="36098"/>
                </a:lnTo>
                <a:cubicBezTo>
                  <a:pt x="0" y="16161"/>
                  <a:pt x="16161" y="0"/>
                  <a:pt x="36098" y="0"/>
                </a:cubicBezTo>
                <a:close/>
              </a:path>
            </a:pathLst>
          </a:custGeom>
          <a:solidFill>
            <a:srgbClr val="4A4A4A"/>
          </a:solidFill>
        </p:spPr>
      </p:sp>
      <p:sp>
        <p:nvSpPr>
          <p:cNvPr id="9" name="Shape 5"/>
          <p:cNvSpPr/>
          <p:nvPr/>
        </p:nvSpPr>
        <p:spPr>
          <a:xfrm>
            <a:off x="505368" y="1443908"/>
            <a:ext cx="433172" cy="433172"/>
          </a:xfrm>
          <a:custGeom>
            <a:avLst/>
            <a:gdLst/>
            <a:ahLst/>
            <a:cxnLst/>
            <a:rect l="l" t="t" r="r" b="b"/>
            <a:pathLst>
              <a:path w="433172" h="433172">
                <a:moveTo>
                  <a:pt x="72197" y="0"/>
                </a:moveTo>
                <a:lnTo>
                  <a:pt x="360976" y="0"/>
                </a:lnTo>
                <a:cubicBezTo>
                  <a:pt x="400849" y="0"/>
                  <a:pt x="433172" y="32324"/>
                  <a:pt x="433172" y="72197"/>
                </a:cubicBezTo>
                <a:lnTo>
                  <a:pt x="433172" y="360976"/>
                </a:lnTo>
                <a:cubicBezTo>
                  <a:pt x="433172" y="400849"/>
                  <a:pt x="400849" y="433172"/>
                  <a:pt x="360976" y="433172"/>
                </a:cubicBezTo>
                <a:lnTo>
                  <a:pt x="72197" y="433172"/>
                </a:lnTo>
                <a:cubicBezTo>
                  <a:pt x="32324" y="433172"/>
                  <a:pt x="0" y="400849"/>
                  <a:pt x="0" y="360976"/>
                </a:cubicBezTo>
                <a:lnTo>
                  <a:pt x="0" y="72197"/>
                </a:lnTo>
                <a:cubicBezTo>
                  <a:pt x="0" y="32350"/>
                  <a:pt x="32350" y="0"/>
                  <a:pt x="72197" y="0"/>
                </a:cubicBezTo>
                <a:close/>
              </a:path>
            </a:pathLst>
          </a:custGeom>
          <a:solidFill>
            <a:srgbClr val="4A4A4A"/>
          </a:solidFill>
        </p:spPr>
      </p:sp>
      <p:sp>
        <p:nvSpPr>
          <p:cNvPr id="10" name="Text 6"/>
          <p:cNvSpPr/>
          <p:nvPr/>
        </p:nvSpPr>
        <p:spPr>
          <a:xfrm>
            <a:off x="686420" y="1534152"/>
            <a:ext cx="162440" cy="252684"/>
          </a:xfrm>
          <a:prstGeom prst="rect">
            <a:avLst/>
          </a:prstGeom>
          <a:noFill/>
        </p:spPr>
        <p:txBody>
          <a:bodyPr wrap="square" lIns="0" tIns="0" rIns="0" bIns="0" rtlCol="0" anchor="ctr"/>
          <a:lstStyle/>
          <a:p>
            <a:pPr>
              <a:lnSpc>
                <a:spcPct val="120000"/>
              </a:lnSpc>
            </a:pPr>
            <a:r>
              <a:rPr lang="en-US" sz="1420" b="1" dirty="0">
                <a:solidFill>
                  <a:srgbClr val="F5F5F5"/>
                </a:solidFill>
                <a:latin typeface="MiSans" pitchFamily="34" charset="-122"/>
                <a:ea typeface="MiSans" pitchFamily="34" charset="-122"/>
                <a:cs typeface="MiSans" pitchFamily="34" charset="-120"/>
              </a:rPr>
              <a:t>1</a:t>
            </a:r>
            <a:endParaRPr lang="en-US" sz="1600" dirty="0"/>
          </a:p>
        </p:txBody>
      </p:sp>
      <p:sp>
        <p:nvSpPr>
          <p:cNvPr id="11" name="Text 7"/>
          <p:cNvSpPr/>
          <p:nvPr/>
        </p:nvSpPr>
        <p:spPr>
          <a:xfrm>
            <a:off x="1046833" y="1534152"/>
            <a:ext cx="893418" cy="252684"/>
          </a:xfrm>
          <a:prstGeom prst="rect">
            <a:avLst/>
          </a:prstGeom>
          <a:noFill/>
        </p:spPr>
        <p:txBody>
          <a:bodyPr wrap="square" lIns="0" tIns="0" rIns="0" bIns="0" rtlCol="0" anchor="ctr"/>
          <a:lstStyle/>
          <a:p>
            <a:pPr>
              <a:lnSpc>
                <a:spcPct val="130000"/>
              </a:lnSpc>
            </a:pPr>
            <a:r>
              <a:rPr lang="en-US" sz="1280" b="1" dirty="0">
                <a:solidFill>
                  <a:srgbClr val="4A4A4A"/>
                </a:solidFill>
                <a:latin typeface="MiSans" pitchFamily="34" charset="-122"/>
                <a:ea typeface="MiSans" pitchFamily="34" charset="-122"/>
                <a:cs typeface="MiSans" pitchFamily="34" charset="-120"/>
              </a:rPr>
              <a:t>单语言场景</a:t>
            </a:r>
            <a:endParaRPr lang="en-US" sz="1600" dirty="0"/>
          </a:p>
        </p:txBody>
      </p:sp>
      <p:sp>
        <p:nvSpPr>
          <p:cNvPr id="12" name="Text 8"/>
          <p:cNvSpPr/>
          <p:nvPr/>
        </p:nvSpPr>
        <p:spPr>
          <a:xfrm>
            <a:off x="505368" y="1985374"/>
            <a:ext cx="3510502" cy="234635"/>
          </a:xfrm>
          <a:prstGeom prst="rect">
            <a:avLst/>
          </a:prstGeom>
          <a:noFill/>
        </p:spPr>
        <p:txBody>
          <a:bodyPr wrap="square" lIns="0" tIns="0" rIns="0" bIns="0" rtlCol="0" anchor="ctr"/>
          <a:lstStyle/>
          <a:p>
            <a:pPr>
              <a:lnSpc>
                <a:spcPct val="140000"/>
              </a:lnSpc>
            </a:pPr>
            <a:r>
              <a:rPr lang="en-US" sz="1135" dirty="0">
                <a:solidFill>
                  <a:srgbClr val="808080"/>
                </a:solidFill>
                <a:latin typeface="MiSans" pitchFamily="34" charset="-122"/>
                <a:ea typeface="MiSans" pitchFamily="34" charset="-122"/>
                <a:cs typeface="MiSans" pitchFamily="34" charset="-120"/>
              </a:rPr>
              <a:t>在同一生态系统内训练和测试</a:t>
            </a:r>
            <a:endParaRPr lang="en-US" sz="1600" dirty="0"/>
          </a:p>
        </p:txBody>
      </p:sp>
      <p:sp>
        <p:nvSpPr>
          <p:cNvPr id="13" name="Shape 9"/>
          <p:cNvSpPr/>
          <p:nvPr/>
        </p:nvSpPr>
        <p:spPr>
          <a:xfrm>
            <a:off x="505368" y="2328302"/>
            <a:ext cx="3438306" cy="1119029"/>
          </a:xfrm>
          <a:custGeom>
            <a:avLst/>
            <a:gdLst/>
            <a:ahLst/>
            <a:cxnLst/>
            <a:rect l="l" t="t" r="r" b="b"/>
            <a:pathLst>
              <a:path w="3438306" h="1119029">
                <a:moveTo>
                  <a:pt x="72200" y="0"/>
                </a:moveTo>
                <a:lnTo>
                  <a:pt x="3366107" y="0"/>
                </a:lnTo>
                <a:cubicBezTo>
                  <a:pt x="3405982" y="0"/>
                  <a:pt x="3438306" y="32325"/>
                  <a:pt x="3438306" y="72200"/>
                </a:cubicBezTo>
                <a:lnTo>
                  <a:pt x="3438306" y="1046829"/>
                </a:lnTo>
                <a:cubicBezTo>
                  <a:pt x="3438306" y="1086704"/>
                  <a:pt x="3405982" y="1119029"/>
                  <a:pt x="3366107" y="1119029"/>
                </a:cubicBezTo>
                <a:lnTo>
                  <a:pt x="72200" y="1119029"/>
                </a:lnTo>
                <a:cubicBezTo>
                  <a:pt x="32325" y="1119029"/>
                  <a:pt x="0" y="1086704"/>
                  <a:pt x="0" y="1046829"/>
                </a:cubicBezTo>
                <a:lnTo>
                  <a:pt x="0" y="72200"/>
                </a:lnTo>
                <a:cubicBezTo>
                  <a:pt x="0" y="32352"/>
                  <a:pt x="32352" y="0"/>
                  <a:pt x="72200" y="0"/>
                </a:cubicBezTo>
                <a:close/>
              </a:path>
            </a:pathLst>
          </a:custGeom>
          <a:solidFill>
            <a:srgbClr val="FFFFFF"/>
          </a:solidFill>
          <a:effectLst>
            <a:outerShdw blurRad="27073" dist="9024" dir="5400000" algn="bl" rotWithShape="0">
              <a:srgbClr val="000000">
                <a:alpha val="10196"/>
              </a:srgbClr>
            </a:outerShdw>
          </a:effectLst>
        </p:spPr>
      </p:sp>
      <p:sp>
        <p:nvSpPr>
          <p:cNvPr id="14" name="Text 10"/>
          <p:cNvSpPr/>
          <p:nvPr/>
        </p:nvSpPr>
        <p:spPr>
          <a:xfrm>
            <a:off x="613661" y="2436595"/>
            <a:ext cx="3293916" cy="216586"/>
          </a:xfrm>
          <a:prstGeom prst="rect">
            <a:avLst/>
          </a:prstGeom>
          <a:noFill/>
        </p:spPr>
        <p:txBody>
          <a:bodyPr wrap="square" lIns="0" tIns="0" rIns="0" bIns="0" rtlCol="0" anchor="ctr"/>
          <a:lstStyle/>
          <a:p>
            <a:pPr>
              <a:lnSpc>
                <a:spcPct val="130000"/>
              </a:lnSpc>
            </a:pPr>
            <a:r>
              <a:rPr lang="en-US" sz="1135" b="1" dirty="0">
                <a:solidFill>
                  <a:srgbClr val="4A4A4A"/>
                </a:solidFill>
                <a:latin typeface="MiSans" pitchFamily="34" charset="-122"/>
                <a:ea typeface="MiSans" pitchFamily="34" charset="-122"/>
                <a:cs typeface="MiSans" pitchFamily="34" charset="-120"/>
              </a:rPr>
              <a:t>PyPI</a:t>
            </a:r>
            <a:endParaRPr lang="en-US" sz="1600" dirty="0"/>
          </a:p>
        </p:txBody>
      </p:sp>
      <p:sp>
        <p:nvSpPr>
          <p:cNvPr id="15" name="Shape 11"/>
          <p:cNvSpPr/>
          <p:nvPr/>
        </p:nvSpPr>
        <p:spPr>
          <a:xfrm>
            <a:off x="613661" y="2725377"/>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4A4A4A">
              <a:alpha val="10196"/>
            </a:srgbClr>
          </a:solidFill>
        </p:spPr>
      </p:sp>
      <p:sp>
        <p:nvSpPr>
          <p:cNvPr id="16" name="Text 12"/>
          <p:cNvSpPr/>
          <p:nvPr/>
        </p:nvSpPr>
        <p:spPr>
          <a:xfrm>
            <a:off x="631710" y="2797572"/>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96.0%</a:t>
            </a:r>
            <a:endParaRPr lang="en-US" sz="1600" dirty="0"/>
          </a:p>
        </p:txBody>
      </p:sp>
      <p:sp>
        <p:nvSpPr>
          <p:cNvPr id="17" name="Text 13"/>
          <p:cNvSpPr/>
          <p:nvPr/>
        </p:nvSpPr>
        <p:spPr>
          <a:xfrm>
            <a:off x="654271" y="3086244"/>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精确度</a:t>
            </a:r>
            <a:endParaRPr lang="en-US" sz="1600" dirty="0"/>
          </a:p>
        </p:txBody>
      </p:sp>
      <p:sp>
        <p:nvSpPr>
          <p:cNvPr id="18" name="Shape 14"/>
          <p:cNvSpPr/>
          <p:nvPr/>
        </p:nvSpPr>
        <p:spPr>
          <a:xfrm>
            <a:off x="2260732" y="2725377"/>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4A4A4A">
              <a:alpha val="10196"/>
            </a:srgbClr>
          </a:solidFill>
        </p:spPr>
      </p:sp>
      <p:sp>
        <p:nvSpPr>
          <p:cNvPr id="19" name="Text 15"/>
          <p:cNvSpPr/>
          <p:nvPr/>
        </p:nvSpPr>
        <p:spPr>
          <a:xfrm>
            <a:off x="2278781" y="2797572"/>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91.7%</a:t>
            </a:r>
            <a:endParaRPr lang="en-US" sz="1600" dirty="0"/>
          </a:p>
        </p:txBody>
      </p:sp>
      <p:sp>
        <p:nvSpPr>
          <p:cNvPr id="20" name="Text 16"/>
          <p:cNvSpPr/>
          <p:nvPr/>
        </p:nvSpPr>
        <p:spPr>
          <a:xfrm>
            <a:off x="2301342" y="3086244"/>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召回率</a:t>
            </a:r>
            <a:endParaRPr lang="en-US" sz="1600" dirty="0"/>
          </a:p>
        </p:txBody>
      </p:sp>
      <p:sp>
        <p:nvSpPr>
          <p:cNvPr id="21" name="Shape 17"/>
          <p:cNvSpPr/>
          <p:nvPr/>
        </p:nvSpPr>
        <p:spPr>
          <a:xfrm>
            <a:off x="505368" y="3519416"/>
            <a:ext cx="3438306" cy="1119029"/>
          </a:xfrm>
          <a:custGeom>
            <a:avLst/>
            <a:gdLst/>
            <a:ahLst/>
            <a:cxnLst/>
            <a:rect l="l" t="t" r="r" b="b"/>
            <a:pathLst>
              <a:path w="3438306" h="1119029">
                <a:moveTo>
                  <a:pt x="72200" y="0"/>
                </a:moveTo>
                <a:lnTo>
                  <a:pt x="3366107" y="0"/>
                </a:lnTo>
                <a:cubicBezTo>
                  <a:pt x="3405982" y="0"/>
                  <a:pt x="3438306" y="32325"/>
                  <a:pt x="3438306" y="72200"/>
                </a:cubicBezTo>
                <a:lnTo>
                  <a:pt x="3438306" y="1046829"/>
                </a:lnTo>
                <a:cubicBezTo>
                  <a:pt x="3438306" y="1086704"/>
                  <a:pt x="3405982" y="1119029"/>
                  <a:pt x="3366107" y="1119029"/>
                </a:cubicBezTo>
                <a:lnTo>
                  <a:pt x="72200" y="1119029"/>
                </a:lnTo>
                <a:cubicBezTo>
                  <a:pt x="32325" y="1119029"/>
                  <a:pt x="0" y="1086704"/>
                  <a:pt x="0" y="1046829"/>
                </a:cubicBezTo>
                <a:lnTo>
                  <a:pt x="0" y="72200"/>
                </a:lnTo>
                <a:cubicBezTo>
                  <a:pt x="0" y="32352"/>
                  <a:pt x="32352" y="0"/>
                  <a:pt x="72200" y="0"/>
                </a:cubicBezTo>
                <a:close/>
              </a:path>
            </a:pathLst>
          </a:custGeom>
          <a:solidFill>
            <a:srgbClr val="FFFFFF"/>
          </a:solidFill>
          <a:effectLst>
            <a:outerShdw blurRad="27073" dist="9024" dir="5400000" algn="bl" rotWithShape="0">
              <a:srgbClr val="000000">
                <a:alpha val="10196"/>
              </a:srgbClr>
            </a:outerShdw>
          </a:effectLst>
        </p:spPr>
      </p:sp>
      <p:sp>
        <p:nvSpPr>
          <p:cNvPr id="22" name="Text 18"/>
          <p:cNvSpPr/>
          <p:nvPr/>
        </p:nvSpPr>
        <p:spPr>
          <a:xfrm>
            <a:off x="613661" y="3627709"/>
            <a:ext cx="3293916" cy="216586"/>
          </a:xfrm>
          <a:prstGeom prst="rect">
            <a:avLst/>
          </a:prstGeom>
          <a:noFill/>
        </p:spPr>
        <p:txBody>
          <a:bodyPr wrap="square" lIns="0" tIns="0" rIns="0" bIns="0" rtlCol="0" anchor="ctr"/>
          <a:lstStyle/>
          <a:p>
            <a:pPr>
              <a:lnSpc>
                <a:spcPct val="130000"/>
              </a:lnSpc>
            </a:pPr>
            <a:r>
              <a:rPr lang="en-US" sz="1135" b="1" dirty="0">
                <a:solidFill>
                  <a:srgbClr val="4A4A4A"/>
                </a:solidFill>
                <a:latin typeface="MiSans" pitchFamily="34" charset="-122"/>
                <a:ea typeface="MiSans" pitchFamily="34" charset="-122"/>
                <a:cs typeface="MiSans" pitchFamily="34" charset="-120"/>
              </a:rPr>
              <a:t>NPM</a:t>
            </a:r>
            <a:endParaRPr lang="en-US" sz="1600" dirty="0"/>
          </a:p>
        </p:txBody>
      </p:sp>
      <p:sp>
        <p:nvSpPr>
          <p:cNvPr id="23" name="Shape 19"/>
          <p:cNvSpPr/>
          <p:nvPr/>
        </p:nvSpPr>
        <p:spPr>
          <a:xfrm>
            <a:off x="613661" y="3916491"/>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4A4A4A">
              <a:alpha val="10196"/>
            </a:srgbClr>
          </a:solidFill>
        </p:spPr>
      </p:sp>
      <p:sp>
        <p:nvSpPr>
          <p:cNvPr id="24" name="Text 20"/>
          <p:cNvSpPr/>
          <p:nvPr/>
        </p:nvSpPr>
        <p:spPr>
          <a:xfrm>
            <a:off x="631710" y="3988686"/>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98.5%</a:t>
            </a:r>
            <a:endParaRPr lang="en-US" sz="1600" dirty="0"/>
          </a:p>
        </p:txBody>
      </p:sp>
      <p:sp>
        <p:nvSpPr>
          <p:cNvPr id="25" name="Text 21"/>
          <p:cNvSpPr/>
          <p:nvPr/>
        </p:nvSpPr>
        <p:spPr>
          <a:xfrm>
            <a:off x="654271" y="4277353"/>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精确度</a:t>
            </a:r>
            <a:endParaRPr lang="en-US" sz="1600" dirty="0"/>
          </a:p>
        </p:txBody>
      </p:sp>
      <p:sp>
        <p:nvSpPr>
          <p:cNvPr id="26" name="Shape 22"/>
          <p:cNvSpPr/>
          <p:nvPr/>
        </p:nvSpPr>
        <p:spPr>
          <a:xfrm>
            <a:off x="2260732" y="3916491"/>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4A4A4A">
              <a:alpha val="10196"/>
            </a:srgbClr>
          </a:solidFill>
        </p:spPr>
      </p:sp>
      <p:sp>
        <p:nvSpPr>
          <p:cNvPr id="27" name="Text 23"/>
          <p:cNvSpPr/>
          <p:nvPr/>
        </p:nvSpPr>
        <p:spPr>
          <a:xfrm>
            <a:off x="2278781" y="3988686"/>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92.9%</a:t>
            </a:r>
            <a:endParaRPr lang="en-US" sz="1600" dirty="0"/>
          </a:p>
        </p:txBody>
      </p:sp>
      <p:sp>
        <p:nvSpPr>
          <p:cNvPr id="28" name="Text 24"/>
          <p:cNvSpPr/>
          <p:nvPr/>
        </p:nvSpPr>
        <p:spPr>
          <a:xfrm>
            <a:off x="2301342" y="4277353"/>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召回率</a:t>
            </a:r>
            <a:endParaRPr lang="en-US" sz="1600" dirty="0"/>
          </a:p>
        </p:txBody>
      </p:sp>
      <p:sp>
        <p:nvSpPr>
          <p:cNvPr id="29" name="Shape 25"/>
          <p:cNvSpPr/>
          <p:nvPr/>
        </p:nvSpPr>
        <p:spPr>
          <a:xfrm>
            <a:off x="505368" y="4746628"/>
            <a:ext cx="3438306" cy="379026"/>
          </a:xfrm>
          <a:custGeom>
            <a:avLst/>
            <a:gdLst/>
            <a:ahLst/>
            <a:cxnLst/>
            <a:rect l="l" t="t" r="r" b="b"/>
            <a:pathLst>
              <a:path w="3438306" h="379026">
                <a:moveTo>
                  <a:pt x="72197" y="0"/>
                </a:moveTo>
                <a:lnTo>
                  <a:pt x="3366110" y="0"/>
                </a:lnTo>
                <a:cubicBezTo>
                  <a:pt x="3405983" y="0"/>
                  <a:pt x="3438306" y="32324"/>
                  <a:pt x="3438306" y="72197"/>
                </a:cubicBezTo>
                <a:lnTo>
                  <a:pt x="3438306" y="306829"/>
                </a:lnTo>
                <a:cubicBezTo>
                  <a:pt x="3438306" y="346702"/>
                  <a:pt x="3405983" y="379026"/>
                  <a:pt x="3366110" y="379026"/>
                </a:cubicBezTo>
                <a:lnTo>
                  <a:pt x="72197" y="379026"/>
                </a:lnTo>
                <a:cubicBezTo>
                  <a:pt x="32324" y="379026"/>
                  <a:pt x="0" y="346702"/>
                  <a:pt x="0" y="306829"/>
                </a:cubicBezTo>
                <a:lnTo>
                  <a:pt x="0" y="72197"/>
                </a:lnTo>
                <a:cubicBezTo>
                  <a:pt x="0" y="32350"/>
                  <a:pt x="32350" y="0"/>
                  <a:pt x="72197" y="0"/>
                </a:cubicBezTo>
                <a:close/>
              </a:path>
            </a:pathLst>
          </a:custGeom>
          <a:solidFill>
            <a:srgbClr val="4A4A4A">
              <a:alpha val="10196"/>
            </a:srgbClr>
          </a:solidFill>
        </p:spPr>
      </p:sp>
      <p:sp>
        <p:nvSpPr>
          <p:cNvPr id="30" name="Shape 26"/>
          <p:cNvSpPr/>
          <p:nvPr/>
        </p:nvSpPr>
        <p:spPr>
          <a:xfrm>
            <a:off x="595612" y="4854921"/>
            <a:ext cx="144391" cy="144391"/>
          </a:xfrm>
          <a:custGeom>
            <a:avLst/>
            <a:gdLst/>
            <a:ahLst/>
            <a:cxnLst/>
            <a:rect l="l" t="t" r="r" b="b"/>
            <a:pathLst>
              <a:path w="144391" h="144391">
                <a:moveTo>
                  <a:pt x="72195" y="144391"/>
                </a:moveTo>
                <a:cubicBezTo>
                  <a:pt x="112041" y="144391"/>
                  <a:pt x="144391" y="112041"/>
                  <a:pt x="144391" y="72195"/>
                </a:cubicBezTo>
                <a:cubicBezTo>
                  <a:pt x="144391" y="32350"/>
                  <a:pt x="112041" y="0"/>
                  <a:pt x="72195" y="0"/>
                </a:cubicBezTo>
                <a:cubicBezTo>
                  <a:pt x="32350" y="0"/>
                  <a:pt x="0" y="32350"/>
                  <a:pt x="0" y="72195"/>
                </a:cubicBezTo>
                <a:cubicBezTo>
                  <a:pt x="0" y="112041"/>
                  <a:pt x="32350" y="144391"/>
                  <a:pt x="72195" y="144391"/>
                </a:cubicBezTo>
                <a:close/>
                <a:moveTo>
                  <a:pt x="95997" y="59984"/>
                </a:moveTo>
                <a:lnTo>
                  <a:pt x="73436" y="96082"/>
                </a:lnTo>
                <a:cubicBezTo>
                  <a:pt x="72252" y="97971"/>
                  <a:pt x="70221" y="99156"/>
                  <a:pt x="67993" y="99269"/>
                </a:cubicBezTo>
                <a:cubicBezTo>
                  <a:pt x="65766" y="99381"/>
                  <a:pt x="63622" y="98366"/>
                  <a:pt x="62297" y="96561"/>
                </a:cubicBezTo>
                <a:lnTo>
                  <a:pt x="48760" y="78513"/>
                </a:lnTo>
                <a:cubicBezTo>
                  <a:pt x="46504" y="75523"/>
                  <a:pt x="47124" y="71293"/>
                  <a:pt x="50114" y="69037"/>
                </a:cubicBezTo>
                <a:cubicBezTo>
                  <a:pt x="53103" y="66781"/>
                  <a:pt x="57333" y="67401"/>
                  <a:pt x="59589" y="70391"/>
                </a:cubicBezTo>
                <a:lnTo>
                  <a:pt x="67204" y="80543"/>
                </a:lnTo>
                <a:lnTo>
                  <a:pt x="84519" y="52821"/>
                </a:lnTo>
                <a:cubicBezTo>
                  <a:pt x="86493" y="49663"/>
                  <a:pt x="90667" y="48675"/>
                  <a:pt x="93854" y="50678"/>
                </a:cubicBezTo>
                <a:cubicBezTo>
                  <a:pt x="97041" y="52680"/>
                  <a:pt x="98000" y="56826"/>
                  <a:pt x="95997" y="60012"/>
                </a:cubicBezTo>
                <a:close/>
              </a:path>
            </a:pathLst>
          </a:custGeom>
          <a:solidFill>
            <a:srgbClr val="4A4A4A"/>
          </a:solidFill>
        </p:spPr>
      </p:sp>
      <p:sp>
        <p:nvSpPr>
          <p:cNvPr id="31" name="Text 27"/>
          <p:cNvSpPr/>
          <p:nvPr/>
        </p:nvSpPr>
        <p:spPr>
          <a:xfrm>
            <a:off x="809353" y="4818823"/>
            <a:ext cx="3134322" cy="234635"/>
          </a:xfrm>
          <a:prstGeom prst="rect">
            <a:avLst/>
          </a:prstGeom>
          <a:noFill/>
        </p:spPr>
        <p:txBody>
          <a:bodyPr wrap="square" lIns="0" tIns="0" rIns="0" bIns="0" rtlCol="0" anchor="ctr"/>
          <a:lstStyle/>
          <a:p>
            <a:pPr>
              <a:lnSpc>
                <a:spcPct val="140000"/>
              </a:lnSpc>
            </a:pPr>
            <a:r>
              <a:rPr lang="en-US" sz="1135" b="1" dirty="0">
                <a:solidFill>
                  <a:srgbClr val="4A4A4A"/>
                </a:solidFill>
                <a:latin typeface="MiSans" pitchFamily="34" charset="-122"/>
                <a:ea typeface="MiSans" pitchFamily="34" charset="-122"/>
                <a:cs typeface="MiSans" pitchFamily="34" charset="-120"/>
              </a:rPr>
              <a:t>结论：</a:t>
            </a:r>
            <a:r>
              <a:rPr lang="en-US" sz="1135" dirty="0">
                <a:solidFill>
                  <a:srgbClr val="4A4A4A"/>
                </a:solidFill>
                <a:latin typeface="MiSans" pitchFamily="34" charset="-122"/>
                <a:ea typeface="MiSans" pitchFamily="34" charset="-122"/>
                <a:cs typeface="MiSans" pitchFamily="34" charset="-120"/>
              </a:rPr>
              <a:t>显著优于SAP、AMALFI等最先进方法</a:t>
            </a:r>
            <a:endParaRPr lang="en-US" sz="1600" dirty="0"/>
          </a:p>
        </p:txBody>
      </p:sp>
      <p:sp>
        <p:nvSpPr>
          <p:cNvPr id="32" name="Shape 28"/>
          <p:cNvSpPr/>
          <p:nvPr/>
        </p:nvSpPr>
        <p:spPr>
          <a:xfrm>
            <a:off x="4232682" y="1281469"/>
            <a:ext cx="3727088" cy="3988796"/>
          </a:xfrm>
          <a:custGeom>
            <a:avLst/>
            <a:gdLst/>
            <a:ahLst/>
            <a:cxnLst/>
            <a:rect l="l" t="t" r="r" b="b"/>
            <a:pathLst>
              <a:path w="3727088" h="3988796">
                <a:moveTo>
                  <a:pt x="36098" y="0"/>
                </a:moveTo>
                <a:lnTo>
                  <a:pt x="3690990" y="0"/>
                </a:lnTo>
                <a:cubicBezTo>
                  <a:pt x="3710927" y="0"/>
                  <a:pt x="3727088" y="16161"/>
                  <a:pt x="3727088" y="36098"/>
                </a:cubicBezTo>
                <a:lnTo>
                  <a:pt x="3727088" y="3916603"/>
                </a:lnTo>
                <a:cubicBezTo>
                  <a:pt x="3727088" y="3956474"/>
                  <a:pt x="3694766" y="3988796"/>
                  <a:pt x="3654894" y="3988796"/>
                </a:cubicBezTo>
                <a:lnTo>
                  <a:pt x="72194" y="3988796"/>
                </a:lnTo>
                <a:cubicBezTo>
                  <a:pt x="32322" y="3988796"/>
                  <a:pt x="0" y="3956474"/>
                  <a:pt x="0" y="3916603"/>
                </a:cubicBezTo>
                <a:lnTo>
                  <a:pt x="0" y="36098"/>
                </a:lnTo>
                <a:cubicBezTo>
                  <a:pt x="0" y="16161"/>
                  <a:pt x="16161" y="0"/>
                  <a:pt x="36098" y="0"/>
                </a:cubicBezTo>
                <a:close/>
              </a:path>
            </a:pathLst>
          </a:custGeom>
          <a:solidFill>
            <a:srgbClr val="808080">
              <a:alpha val="10196"/>
            </a:srgbClr>
          </a:solidFill>
        </p:spPr>
      </p:sp>
      <p:sp>
        <p:nvSpPr>
          <p:cNvPr id="33" name="Shape 29"/>
          <p:cNvSpPr/>
          <p:nvPr/>
        </p:nvSpPr>
        <p:spPr>
          <a:xfrm>
            <a:off x="4232682" y="1281469"/>
            <a:ext cx="3727088" cy="36098"/>
          </a:xfrm>
          <a:custGeom>
            <a:avLst/>
            <a:gdLst/>
            <a:ahLst/>
            <a:cxnLst/>
            <a:rect l="l" t="t" r="r" b="b"/>
            <a:pathLst>
              <a:path w="3727088" h="36098">
                <a:moveTo>
                  <a:pt x="36098" y="0"/>
                </a:moveTo>
                <a:lnTo>
                  <a:pt x="3690990" y="0"/>
                </a:lnTo>
                <a:cubicBezTo>
                  <a:pt x="3710927" y="0"/>
                  <a:pt x="3727088" y="16161"/>
                  <a:pt x="3727088" y="36098"/>
                </a:cubicBezTo>
                <a:lnTo>
                  <a:pt x="3727088" y="36098"/>
                </a:lnTo>
                <a:lnTo>
                  <a:pt x="0" y="36098"/>
                </a:lnTo>
                <a:lnTo>
                  <a:pt x="0" y="36098"/>
                </a:lnTo>
                <a:cubicBezTo>
                  <a:pt x="0" y="16161"/>
                  <a:pt x="16161" y="0"/>
                  <a:pt x="36098" y="0"/>
                </a:cubicBezTo>
                <a:close/>
              </a:path>
            </a:pathLst>
          </a:custGeom>
          <a:solidFill>
            <a:srgbClr val="808080"/>
          </a:solidFill>
        </p:spPr>
      </p:sp>
      <p:sp>
        <p:nvSpPr>
          <p:cNvPr id="34" name="Shape 30"/>
          <p:cNvSpPr/>
          <p:nvPr/>
        </p:nvSpPr>
        <p:spPr>
          <a:xfrm>
            <a:off x="4377072" y="1443908"/>
            <a:ext cx="433172" cy="433172"/>
          </a:xfrm>
          <a:custGeom>
            <a:avLst/>
            <a:gdLst/>
            <a:ahLst/>
            <a:cxnLst/>
            <a:rect l="l" t="t" r="r" b="b"/>
            <a:pathLst>
              <a:path w="433172" h="433172">
                <a:moveTo>
                  <a:pt x="72197" y="0"/>
                </a:moveTo>
                <a:lnTo>
                  <a:pt x="360976" y="0"/>
                </a:lnTo>
                <a:cubicBezTo>
                  <a:pt x="400849" y="0"/>
                  <a:pt x="433172" y="32324"/>
                  <a:pt x="433172" y="72197"/>
                </a:cubicBezTo>
                <a:lnTo>
                  <a:pt x="433172" y="360976"/>
                </a:lnTo>
                <a:cubicBezTo>
                  <a:pt x="433172" y="400849"/>
                  <a:pt x="400849" y="433172"/>
                  <a:pt x="360976" y="433172"/>
                </a:cubicBezTo>
                <a:lnTo>
                  <a:pt x="72197" y="433172"/>
                </a:lnTo>
                <a:cubicBezTo>
                  <a:pt x="32324" y="433172"/>
                  <a:pt x="0" y="400849"/>
                  <a:pt x="0" y="360976"/>
                </a:cubicBezTo>
                <a:lnTo>
                  <a:pt x="0" y="72197"/>
                </a:lnTo>
                <a:cubicBezTo>
                  <a:pt x="0" y="32350"/>
                  <a:pt x="32350" y="0"/>
                  <a:pt x="72197" y="0"/>
                </a:cubicBezTo>
                <a:close/>
              </a:path>
            </a:pathLst>
          </a:custGeom>
          <a:solidFill>
            <a:srgbClr val="808080"/>
          </a:solidFill>
        </p:spPr>
      </p:sp>
      <p:sp>
        <p:nvSpPr>
          <p:cNvPr id="35" name="Text 31"/>
          <p:cNvSpPr/>
          <p:nvPr/>
        </p:nvSpPr>
        <p:spPr>
          <a:xfrm>
            <a:off x="4542896" y="1534152"/>
            <a:ext cx="189513" cy="252684"/>
          </a:xfrm>
          <a:prstGeom prst="rect">
            <a:avLst/>
          </a:prstGeom>
          <a:noFill/>
        </p:spPr>
        <p:txBody>
          <a:bodyPr wrap="square" lIns="0" tIns="0" rIns="0" bIns="0" rtlCol="0" anchor="ctr"/>
          <a:lstStyle/>
          <a:p>
            <a:pPr>
              <a:lnSpc>
                <a:spcPct val="120000"/>
              </a:lnSpc>
            </a:pPr>
            <a:r>
              <a:rPr lang="en-US" sz="1420" b="1" dirty="0">
                <a:solidFill>
                  <a:srgbClr val="F5F5F5"/>
                </a:solidFill>
                <a:latin typeface="MiSans" pitchFamily="34" charset="-122"/>
                <a:ea typeface="MiSans" pitchFamily="34" charset="-122"/>
                <a:cs typeface="MiSans" pitchFamily="34" charset="-120"/>
              </a:rPr>
              <a:t>2</a:t>
            </a:r>
            <a:endParaRPr lang="en-US" sz="1600" dirty="0"/>
          </a:p>
        </p:txBody>
      </p:sp>
      <p:sp>
        <p:nvSpPr>
          <p:cNvPr id="36" name="Text 32"/>
          <p:cNvSpPr/>
          <p:nvPr/>
        </p:nvSpPr>
        <p:spPr>
          <a:xfrm>
            <a:off x="4918538" y="1534152"/>
            <a:ext cx="893418" cy="252684"/>
          </a:xfrm>
          <a:prstGeom prst="rect">
            <a:avLst/>
          </a:prstGeom>
          <a:noFill/>
        </p:spPr>
        <p:txBody>
          <a:bodyPr wrap="square" lIns="0" tIns="0" rIns="0" bIns="0" rtlCol="0" anchor="ctr"/>
          <a:lstStyle/>
          <a:p>
            <a:pPr>
              <a:lnSpc>
                <a:spcPct val="130000"/>
              </a:lnSpc>
            </a:pPr>
            <a:r>
              <a:rPr lang="en-US" sz="1280" b="1" dirty="0">
                <a:solidFill>
                  <a:srgbClr val="4A4A4A"/>
                </a:solidFill>
                <a:latin typeface="MiSans" pitchFamily="34" charset="-122"/>
                <a:ea typeface="MiSans" pitchFamily="34" charset="-122"/>
                <a:cs typeface="MiSans" pitchFamily="34" charset="-120"/>
              </a:rPr>
              <a:t>跨语言场景</a:t>
            </a:r>
            <a:endParaRPr lang="en-US" sz="1600" dirty="0"/>
          </a:p>
        </p:txBody>
      </p:sp>
      <p:sp>
        <p:nvSpPr>
          <p:cNvPr id="37" name="Text 33"/>
          <p:cNvSpPr/>
          <p:nvPr/>
        </p:nvSpPr>
        <p:spPr>
          <a:xfrm>
            <a:off x="4377072" y="1985374"/>
            <a:ext cx="3510502" cy="234635"/>
          </a:xfrm>
          <a:prstGeom prst="rect">
            <a:avLst/>
          </a:prstGeom>
          <a:noFill/>
        </p:spPr>
        <p:txBody>
          <a:bodyPr wrap="square" lIns="0" tIns="0" rIns="0" bIns="0" rtlCol="0" anchor="ctr"/>
          <a:lstStyle/>
          <a:p>
            <a:pPr>
              <a:lnSpc>
                <a:spcPct val="140000"/>
              </a:lnSpc>
            </a:pPr>
            <a:r>
              <a:rPr lang="en-US" sz="1135" dirty="0">
                <a:solidFill>
                  <a:srgbClr val="808080"/>
                </a:solidFill>
                <a:latin typeface="MiSans" pitchFamily="34" charset="-122"/>
                <a:ea typeface="MiSans" pitchFamily="34" charset="-122"/>
                <a:cs typeface="MiSans" pitchFamily="34" charset="-120"/>
              </a:rPr>
              <a:t>在一个生态系统训练，在另一个测试</a:t>
            </a:r>
            <a:endParaRPr lang="en-US" sz="1600" dirty="0"/>
          </a:p>
        </p:txBody>
      </p:sp>
      <p:sp>
        <p:nvSpPr>
          <p:cNvPr id="38" name="Shape 34"/>
          <p:cNvSpPr/>
          <p:nvPr/>
        </p:nvSpPr>
        <p:spPr>
          <a:xfrm>
            <a:off x="4377072" y="2328302"/>
            <a:ext cx="3438306" cy="1119029"/>
          </a:xfrm>
          <a:custGeom>
            <a:avLst/>
            <a:gdLst/>
            <a:ahLst/>
            <a:cxnLst/>
            <a:rect l="l" t="t" r="r" b="b"/>
            <a:pathLst>
              <a:path w="3438306" h="1119029">
                <a:moveTo>
                  <a:pt x="72200" y="0"/>
                </a:moveTo>
                <a:lnTo>
                  <a:pt x="3366107" y="0"/>
                </a:lnTo>
                <a:cubicBezTo>
                  <a:pt x="3405982" y="0"/>
                  <a:pt x="3438306" y="32325"/>
                  <a:pt x="3438306" y="72200"/>
                </a:cubicBezTo>
                <a:lnTo>
                  <a:pt x="3438306" y="1046829"/>
                </a:lnTo>
                <a:cubicBezTo>
                  <a:pt x="3438306" y="1086704"/>
                  <a:pt x="3405982" y="1119029"/>
                  <a:pt x="3366107" y="1119029"/>
                </a:cubicBezTo>
                <a:lnTo>
                  <a:pt x="72200" y="1119029"/>
                </a:lnTo>
                <a:cubicBezTo>
                  <a:pt x="32325" y="1119029"/>
                  <a:pt x="0" y="1086704"/>
                  <a:pt x="0" y="1046829"/>
                </a:cubicBezTo>
                <a:lnTo>
                  <a:pt x="0" y="72200"/>
                </a:lnTo>
                <a:cubicBezTo>
                  <a:pt x="0" y="32352"/>
                  <a:pt x="32352" y="0"/>
                  <a:pt x="72200" y="0"/>
                </a:cubicBezTo>
                <a:close/>
              </a:path>
            </a:pathLst>
          </a:custGeom>
          <a:solidFill>
            <a:srgbClr val="FFFFFF"/>
          </a:solidFill>
          <a:effectLst>
            <a:outerShdw blurRad="27073" dist="9024" dir="5400000" algn="bl" rotWithShape="0">
              <a:srgbClr val="000000">
                <a:alpha val="10196"/>
              </a:srgbClr>
            </a:outerShdw>
          </a:effectLst>
        </p:spPr>
      </p:sp>
      <p:sp>
        <p:nvSpPr>
          <p:cNvPr id="39" name="Text 35"/>
          <p:cNvSpPr/>
          <p:nvPr/>
        </p:nvSpPr>
        <p:spPr>
          <a:xfrm>
            <a:off x="4485365" y="2436595"/>
            <a:ext cx="3293916" cy="216586"/>
          </a:xfrm>
          <a:prstGeom prst="rect">
            <a:avLst/>
          </a:prstGeom>
          <a:noFill/>
        </p:spPr>
        <p:txBody>
          <a:bodyPr wrap="square" lIns="0" tIns="0" rIns="0" bIns="0" rtlCol="0" anchor="ctr"/>
          <a:lstStyle/>
          <a:p>
            <a:pPr>
              <a:lnSpc>
                <a:spcPct val="130000"/>
              </a:lnSpc>
            </a:pPr>
            <a:r>
              <a:rPr lang="en-US" sz="1135" b="1" dirty="0">
                <a:solidFill>
                  <a:srgbClr val="4A4A4A"/>
                </a:solidFill>
                <a:latin typeface="MiSans" pitchFamily="34" charset="-122"/>
                <a:ea typeface="MiSans" pitchFamily="34" charset="-122"/>
                <a:cs typeface="MiSans" pitchFamily="34" charset="-120"/>
              </a:rPr>
              <a:t>NPM→PyPI</a:t>
            </a:r>
            <a:endParaRPr lang="en-US" sz="1600" dirty="0"/>
          </a:p>
        </p:txBody>
      </p:sp>
      <p:sp>
        <p:nvSpPr>
          <p:cNvPr id="40" name="Shape 36"/>
          <p:cNvSpPr/>
          <p:nvPr/>
        </p:nvSpPr>
        <p:spPr>
          <a:xfrm>
            <a:off x="4485365" y="2725377"/>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808080">
              <a:alpha val="20000"/>
            </a:srgbClr>
          </a:solidFill>
        </p:spPr>
      </p:sp>
      <p:sp>
        <p:nvSpPr>
          <p:cNvPr id="41" name="Text 37"/>
          <p:cNvSpPr/>
          <p:nvPr/>
        </p:nvSpPr>
        <p:spPr>
          <a:xfrm>
            <a:off x="4503414" y="2797572"/>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75.1%</a:t>
            </a:r>
            <a:endParaRPr lang="en-US" sz="1600" dirty="0"/>
          </a:p>
        </p:txBody>
      </p:sp>
      <p:sp>
        <p:nvSpPr>
          <p:cNvPr id="42" name="Text 38"/>
          <p:cNvSpPr/>
          <p:nvPr/>
        </p:nvSpPr>
        <p:spPr>
          <a:xfrm>
            <a:off x="4525975" y="3086244"/>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精确度</a:t>
            </a:r>
            <a:endParaRPr lang="en-US" sz="1600" dirty="0"/>
          </a:p>
        </p:txBody>
      </p:sp>
      <p:sp>
        <p:nvSpPr>
          <p:cNvPr id="43" name="Shape 39"/>
          <p:cNvSpPr/>
          <p:nvPr/>
        </p:nvSpPr>
        <p:spPr>
          <a:xfrm>
            <a:off x="6132436" y="2725377"/>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808080">
              <a:alpha val="20000"/>
            </a:srgbClr>
          </a:solidFill>
        </p:spPr>
      </p:sp>
      <p:sp>
        <p:nvSpPr>
          <p:cNvPr id="44" name="Text 40"/>
          <p:cNvSpPr/>
          <p:nvPr/>
        </p:nvSpPr>
        <p:spPr>
          <a:xfrm>
            <a:off x="6150485" y="2797572"/>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63.4%</a:t>
            </a:r>
            <a:endParaRPr lang="en-US" sz="1600" dirty="0"/>
          </a:p>
        </p:txBody>
      </p:sp>
      <p:sp>
        <p:nvSpPr>
          <p:cNvPr id="45" name="Text 41"/>
          <p:cNvSpPr/>
          <p:nvPr/>
        </p:nvSpPr>
        <p:spPr>
          <a:xfrm>
            <a:off x="6173046" y="3086244"/>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召回率</a:t>
            </a:r>
            <a:endParaRPr lang="en-US" sz="1600" dirty="0"/>
          </a:p>
        </p:txBody>
      </p:sp>
      <p:sp>
        <p:nvSpPr>
          <p:cNvPr id="46" name="Shape 42"/>
          <p:cNvSpPr/>
          <p:nvPr/>
        </p:nvSpPr>
        <p:spPr>
          <a:xfrm>
            <a:off x="4377072" y="3519416"/>
            <a:ext cx="3438306" cy="1119029"/>
          </a:xfrm>
          <a:custGeom>
            <a:avLst/>
            <a:gdLst/>
            <a:ahLst/>
            <a:cxnLst/>
            <a:rect l="l" t="t" r="r" b="b"/>
            <a:pathLst>
              <a:path w="3438306" h="1119029">
                <a:moveTo>
                  <a:pt x="72200" y="0"/>
                </a:moveTo>
                <a:lnTo>
                  <a:pt x="3366107" y="0"/>
                </a:lnTo>
                <a:cubicBezTo>
                  <a:pt x="3405982" y="0"/>
                  <a:pt x="3438306" y="32325"/>
                  <a:pt x="3438306" y="72200"/>
                </a:cubicBezTo>
                <a:lnTo>
                  <a:pt x="3438306" y="1046829"/>
                </a:lnTo>
                <a:cubicBezTo>
                  <a:pt x="3438306" y="1086704"/>
                  <a:pt x="3405982" y="1119029"/>
                  <a:pt x="3366107" y="1119029"/>
                </a:cubicBezTo>
                <a:lnTo>
                  <a:pt x="72200" y="1119029"/>
                </a:lnTo>
                <a:cubicBezTo>
                  <a:pt x="32325" y="1119029"/>
                  <a:pt x="0" y="1086704"/>
                  <a:pt x="0" y="1046829"/>
                </a:cubicBezTo>
                <a:lnTo>
                  <a:pt x="0" y="72200"/>
                </a:lnTo>
                <a:cubicBezTo>
                  <a:pt x="0" y="32352"/>
                  <a:pt x="32352" y="0"/>
                  <a:pt x="72200" y="0"/>
                </a:cubicBezTo>
                <a:close/>
              </a:path>
            </a:pathLst>
          </a:custGeom>
          <a:solidFill>
            <a:srgbClr val="FFFFFF"/>
          </a:solidFill>
          <a:effectLst>
            <a:outerShdw blurRad="27073" dist="9024" dir="5400000" algn="bl" rotWithShape="0">
              <a:srgbClr val="000000">
                <a:alpha val="10196"/>
              </a:srgbClr>
            </a:outerShdw>
          </a:effectLst>
        </p:spPr>
      </p:sp>
      <p:sp>
        <p:nvSpPr>
          <p:cNvPr id="47" name="Text 43"/>
          <p:cNvSpPr/>
          <p:nvPr/>
        </p:nvSpPr>
        <p:spPr>
          <a:xfrm>
            <a:off x="4485365" y="3627709"/>
            <a:ext cx="3293916" cy="216586"/>
          </a:xfrm>
          <a:prstGeom prst="rect">
            <a:avLst/>
          </a:prstGeom>
          <a:noFill/>
        </p:spPr>
        <p:txBody>
          <a:bodyPr wrap="square" lIns="0" tIns="0" rIns="0" bIns="0" rtlCol="0" anchor="ctr"/>
          <a:lstStyle/>
          <a:p>
            <a:pPr>
              <a:lnSpc>
                <a:spcPct val="130000"/>
              </a:lnSpc>
            </a:pPr>
            <a:r>
              <a:rPr lang="en-US" sz="1135" b="1" dirty="0">
                <a:solidFill>
                  <a:srgbClr val="4A4A4A"/>
                </a:solidFill>
                <a:latin typeface="MiSans" pitchFamily="34" charset="-122"/>
                <a:ea typeface="MiSans" pitchFamily="34" charset="-122"/>
                <a:cs typeface="MiSans" pitchFamily="34" charset="-120"/>
              </a:rPr>
              <a:t>PyPI→NPM</a:t>
            </a:r>
            <a:endParaRPr lang="en-US" sz="1600" dirty="0"/>
          </a:p>
        </p:txBody>
      </p:sp>
      <p:sp>
        <p:nvSpPr>
          <p:cNvPr id="48" name="Shape 44"/>
          <p:cNvSpPr/>
          <p:nvPr/>
        </p:nvSpPr>
        <p:spPr>
          <a:xfrm>
            <a:off x="4485365" y="3916491"/>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808080">
              <a:alpha val="20000"/>
            </a:srgbClr>
          </a:solidFill>
        </p:spPr>
      </p:sp>
      <p:sp>
        <p:nvSpPr>
          <p:cNvPr id="49" name="Text 45"/>
          <p:cNvSpPr/>
          <p:nvPr/>
        </p:nvSpPr>
        <p:spPr>
          <a:xfrm>
            <a:off x="4503414" y="3988686"/>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46.5%</a:t>
            </a:r>
            <a:endParaRPr lang="en-US" sz="1600" dirty="0"/>
          </a:p>
        </p:txBody>
      </p:sp>
      <p:sp>
        <p:nvSpPr>
          <p:cNvPr id="50" name="Text 46"/>
          <p:cNvSpPr/>
          <p:nvPr/>
        </p:nvSpPr>
        <p:spPr>
          <a:xfrm>
            <a:off x="4525975" y="4277353"/>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精确度</a:t>
            </a:r>
            <a:endParaRPr lang="en-US" sz="1600" dirty="0"/>
          </a:p>
        </p:txBody>
      </p:sp>
      <p:sp>
        <p:nvSpPr>
          <p:cNvPr id="51" name="Shape 47"/>
          <p:cNvSpPr/>
          <p:nvPr/>
        </p:nvSpPr>
        <p:spPr>
          <a:xfrm>
            <a:off x="6132436" y="3916491"/>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808080">
              <a:alpha val="20000"/>
            </a:srgbClr>
          </a:solidFill>
        </p:spPr>
      </p:sp>
      <p:sp>
        <p:nvSpPr>
          <p:cNvPr id="52" name="Text 48"/>
          <p:cNvSpPr/>
          <p:nvPr/>
        </p:nvSpPr>
        <p:spPr>
          <a:xfrm>
            <a:off x="6150485" y="3988686"/>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92.7%</a:t>
            </a:r>
            <a:endParaRPr lang="en-US" sz="1600" dirty="0"/>
          </a:p>
        </p:txBody>
      </p:sp>
      <p:sp>
        <p:nvSpPr>
          <p:cNvPr id="53" name="Text 49"/>
          <p:cNvSpPr/>
          <p:nvPr/>
        </p:nvSpPr>
        <p:spPr>
          <a:xfrm>
            <a:off x="6173046" y="4277353"/>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召回率</a:t>
            </a:r>
            <a:endParaRPr lang="en-US" sz="1600" dirty="0"/>
          </a:p>
        </p:txBody>
      </p:sp>
      <p:sp>
        <p:nvSpPr>
          <p:cNvPr id="54" name="Shape 50"/>
          <p:cNvSpPr/>
          <p:nvPr/>
        </p:nvSpPr>
        <p:spPr>
          <a:xfrm>
            <a:off x="4377072" y="4746628"/>
            <a:ext cx="3438306" cy="379026"/>
          </a:xfrm>
          <a:custGeom>
            <a:avLst/>
            <a:gdLst/>
            <a:ahLst/>
            <a:cxnLst/>
            <a:rect l="l" t="t" r="r" b="b"/>
            <a:pathLst>
              <a:path w="3438306" h="379026">
                <a:moveTo>
                  <a:pt x="72197" y="0"/>
                </a:moveTo>
                <a:lnTo>
                  <a:pt x="3366110" y="0"/>
                </a:lnTo>
                <a:cubicBezTo>
                  <a:pt x="3405983" y="0"/>
                  <a:pt x="3438306" y="32324"/>
                  <a:pt x="3438306" y="72197"/>
                </a:cubicBezTo>
                <a:lnTo>
                  <a:pt x="3438306" y="306829"/>
                </a:lnTo>
                <a:cubicBezTo>
                  <a:pt x="3438306" y="346702"/>
                  <a:pt x="3405983" y="379026"/>
                  <a:pt x="3366110" y="379026"/>
                </a:cubicBezTo>
                <a:lnTo>
                  <a:pt x="72197" y="379026"/>
                </a:lnTo>
                <a:cubicBezTo>
                  <a:pt x="32324" y="379026"/>
                  <a:pt x="0" y="346702"/>
                  <a:pt x="0" y="306829"/>
                </a:cubicBezTo>
                <a:lnTo>
                  <a:pt x="0" y="72197"/>
                </a:lnTo>
                <a:cubicBezTo>
                  <a:pt x="0" y="32350"/>
                  <a:pt x="32350" y="0"/>
                  <a:pt x="72197" y="0"/>
                </a:cubicBezTo>
                <a:close/>
              </a:path>
            </a:pathLst>
          </a:custGeom>
          <a:solidFill>
            <a:srgbClr val="808080">
              <a:alpha val="20000"/>
            </a:srgbClr>
          </a:solidFill>
        </p:spPr>
      </p:sp>
      <p:sp>
        <p:nvSpPr>
          <p:cNvPr id="55" name="Shape 51"/>
          <p:cNvSpPr/>
          <p:nvPr/>
        </p:nvSpPr>
        <p:spPr>
          <a:xfrm>
            <a:off x="4467317" y="4854921"/>
            <a:ext cx="144391" cy="144391"/>
          </a:xfrm>
          <a:custGeom>
            <a:avLst/>
            <a:gdLst/>
            <a:ahLst/>
            <a:cxnLst/>
            <a:rect l="l" t="t" r="r" b="b"/>
            <a:pathLst>
              <a:path w="144391" h="144391">
                <a:moveTo>
                  <a:pt x="72195" y="144391"/>
                </a:moveTo>
                <a:cubicBezTo>
                  <a:pt x="112041" y="144391"/>
                  <a:pt x="144391" y="112041"/>
                  <a:pt x="144391" y="72195"/>
                </a:cubicBezTo>
                <a:cubicBezTo>
                  <a:pt x="144391" y="32350"/>
                  <a:pt x="112041" y="0"/>
                  <a:pt x="72195" y="0"/>
                </a:cubicBezTo>
                <a:cubicBezTo>
                  <a:pt x="32350" y="0"/>
                  <a:pt x="0" y="32350"/>
                  <a:pt x="0" y="72195"/>
                </a:cubicBezTo>
                <a:cubicBezTo>
                  <a:pt x="0" y="112041"/>
                  <a:pt x="32350" y="144391"/>
                  <a:pt x="72195" y="144391"/>
                </a:cubicBezTo>
                <a:close/>
                <a:moveTo>
                  <a:pt x="95997" y="59984"/>
                </a:moveTo>
                <a:lnTo>
                  <a:pt x="73436" y="96082"/>
                </a:lnTo>
                <a:cubicBezTo>
                  <a:pt x="72252" y="97971"/>
                  <a:pt x="70221" y="99156"/>
                  <a:pt x="67993" y="99269"/>
                </a:cubicBezTo>
                <a:cubicBezTo>
                  <a:pt x="65766" y="99381"/>
                  <a:pt x="63622" y="98366"/>
                  <a:pt x="62297" y="96561"/>
                </a:cubicBezTo>
                <a:lnTo>
                  <a:pt x="48760" y="78513"/>
                </a:lnTo>
                <a:cubicBezTo>
                  <a:pt x="46504" y="75523"/>
                  <a:pt x="47124" y="71293"/>
                  <a:pt x="50114" y="69037"/>
                </a:cubicBezTo>
                <a:cubicBezTo>
                  <a:pt x="53103" y="66781"/>
                  <a:pt x="57333" y="67401"/>
                  <a:pt x="59589" y="70391"/>
                </a:cubicBezTo>
                <a:lnTo>
                  <a:pt x="67204" y="80543"/>
                </a:lnTo>
                <a:lnTo>
                  <a:pt x="84519" y="52821"/>
                </a:lnTo>
                <a:cubicBezTo>
                  <a:pt x="86493" y="49663"/>
                  <a:pt x="90667" y="48675"/>
                  <a:pt x="93854" y="50678"/>
                </a:cubicBezTo>
                <a:cubicBezTo>
                  <a:pt x="97041" y="52680"/>
                  <a:pt x="98000" y="56826"/>
                  <a:pt x="95997" y="60012"/>
                </a:cubicBezTo>
                <a:close/>
              </a:path>
            </a:pathLst>
          </a:custGeom>
          <a:solidFill>
            <a:srgbClr val="808080"/>
          </a:solidFill>
        </p:spPr>
      </p:sp>
      <p:sp>
        <p:nvSpPr>
          <p:cNvPr id="56" name="Text 52"/>
          <p:cNvSpPr/>
          <p:nvPr/>
        </p:nvSpPr>
        <p:spPr>
          <a:xfrm>
            <a:off x="4681057" y="4818823"/>
            <a:ext cx="3134322" cy="234635"/>
          </a:xfrm>
          <a:prstGeom prst="rect">
            <a:avLst/>
          </a:prstGeom>
          <a:noFill/>
        </p:spPr>
        <p:txBody>
          <a:bodyPr wrap="square" lIns="0" tIns="0" rIns="0" bIns="0" rtlCol="0" anchor="ctr"/>
          <a:lstStyle/>
          <a:p>
            <a:pPr>
              <a:lnSpc>
                <a:spcPct val="140000"/>
              </a:lnSpc>
            </a:pPr>
            <a:r>
              <a:rPr lang="en-US" sz="1135" b="1" dirty="0">
                <a:solidFill>
                  <a:srgbClr val="4A4A4A"/>
                </a:solidFill>
                <a:latin typeface="MiSans" pitchFamily="34" charset="-122"/>
                <a:ea typeface="MiSans" pitchFamily="34" charset="-122"/>
                <a:cs typeface="MiSans" pitchFamily="34" charset="-120"/>
              </a:rPr>
              <a:t>结论：</a:t>
            </a:r>
            <a:r>
              <a:rPr lang="en-US" sz="1135" dirty="0">
                <a:solidFill>
                  <a:srgbClr val="4A4A4A"/>
                </a:solidFill>
                <a:latin typeface="MiSans" pitchFamily="34" charset="-122"/>
                <a:ea typeface="MiSans" pitchFamily="34" charset="-122"/>
                <a:cs typeface="MiSans" pitchFamily="34" charset="-120"/>
              </a:rPr>
              <a:t>F1分数优势达13.3%和17.7%</a:t>
            </a:r>
            <a:endParaRPr lang="en-US" sz="1600" dirty="0"/>
          </a:p>
        </p:txBody>
      </p:sp>
      <p:sp>
        <p:nvSpPr>
          <p:cNvPr id="57" name="Shape 53"/>
          <p:cNvSpPr/>
          <p:nvPr/>
        </p:nvSpPr>
        <p:spPr>
          <a:xfrm>
            <a:off x="8104499" y="1281469"/>
            <a:ext cx="3727088" cy="3988796"/>
          </a:xfrm>
          <a:custGeom>
            <a:avLst/>
            <a:gdLst/>
            <a:ahLst/>
            <a:cxnLst/>
            <a:rect l="l" t="t" r="r" b="b"/>
            <a:pathLst>
              <a:path w="3727088" h="3988796">
                <a:moveTo>
                  <a:pt x="36098" y="0"/>
                </a:moveTo>
                <a:lnTo>
                  <a:pt x="3690990" y="0"/>
                </a:lnTo>
                <a:cubicBezTo>
                  <a:pt x="3710927" y="0"/>
                  <a:pt x="3727088" y="16161"/>
                  <a:pt x="3727088" y="36098"/>
                </a:cubicBezTo>
                <a:lnTo>
                  <a:pt x="3727088" y="3916603"/>
                </a:lnTo>
                <a:cubicBezTo>
                  <a:pt x="3727088" y="3956474"/>
                  <a:pt x="3694766" y="3988796"/>
                  <a:pt x="3654894" y="3988796"/>
                </a:cubicBezTo>
                <a:lnTo>
                  <a:pt x="72194" y="3988796"/>
                </a:lnTo>
                <a:cubicBezTo>
                  <a:pt x="32322" y="3988796"/>
                  <a:pt x="0" y="3956474"/>
                  <a:pt x="0" y="3916603"/>
                </a:cubicBezTo>
                <a:lnTo>
                  <a:pt x="0" y="36098"/>
                </a:lnTo>
                <a:cubicBezTo>
                  <a:pt x="0" y="16161"/>
                  <a:pt x="16161" y="0"/>
                  <a:pt x="36098" y="0"/>
                </a:cubicBezTo>
                <a:close/>
              </a:path>
            </a:pathLst>
          </a:custGeom>
          <a:solidFill>
            <a:srgbClr val="BDBDBD">
              <a:alpha val="20000"/>
            </a:srgbClr>
          </a:solidFill>
        </p:spPr>
      </p:sp>
      <p:sp>
        <p:nvSpPr>
          <p:cNvPr id="58" name="Shape 54"/>
          <p:cNvSpPr/>
          <p:nvPr/>
        </p:nvSpPr>
        <p:spPr>
          <a:xfrm>
            <a:off x="8104499" y="1281469"/>
            <a:ext cx="3727088" cy="36098"/>
          </a:xfrm>
          <a:custGeom>
            <a:avLst/>
            <a:gdLst/>
            <a:ahLst/>
            <a:cxnLst/>
            <a:rect l="l" t="t" r="r" b="b"/>
            <a:pathLst>
              <a:path w="3727088" h="36098">
                <a:moveTo>
                  <a:pt x="36098" y="0"/>
                </a:moveTo>
                <a:lnTo>
                  <a:pt x="3690990" y="0"/>
                </a:lnTo>
                <a:cubicBezTo>
                  <a:pt x="3710927" y="0"/>
                  <a:pt x="3727088" y="16161"/>
                  <a:pt x="3727088" y="36098"/>
                </a:cubicBezTo>
                <a:lnTo>
                  <a:pt x="3727088" y="36098"/>
                </a:lnTo>
                <a:lnTo>
                  <a:pt x="0" y="36098"/>
                </a:lnTo>
                <a:lnTo>
                  <a:pt x="0" y="36098"/>
                </a:lnTo>
                <a:cubicBezTo>
                  <a:pt x="0" y="16161"/>
                  <a:pt x="16161" y="0"/>
                  <a:pt x="36098" y="0"/>
                </a:cubicBezTo>
                <a:close/>
              </a:path>
            </a:pathLst>
          </a:custGeom>
          <a:solidFill>
            <a:srgbClr val="BDBDBD"/>
          </a:solidFill>
        </p:spPr>
      </p:sp>
      <p:sp>
        <p:nvSpPr>
          <p:cNvPr id="59" name="Shape 55"/>
          <p:cNvSpPr/>
          <p:nvPr/>
        </p:nvSpPr>
        <p:spPr>
          <a:xfrm>
            <a:off x="8248890" y="1443908"/>
            <a:ext cx="433172" cy="433172"/>
          </a:xfrm>
          <a:custGeom>
            <a:avLst/>
            <a:gdLst/>
            <a:ahLst/>
            <a:cxnLst/>
            <a:rect l="l" t="t" r="r" b="b"/>
            <a:pathLst>
              <a:path w="433172" h="433172">
                <a:moveTo>
                  <a:pt x="72197" y="0"/>
                </a:moveTo>
                <a:lnTo>
                  <a:pt x="360976" y="0"/>
                </a:lnTo>
                <a:cubicBezTo>
                  <a:pt x="400849" y="0"/>
                  <a:pt x="433172" y="32324"/>
                  <a:pt x="433172" y="72197"/>
                </a:cubicBezTo>
                <a:lnTo>
                  <a:pt x="433172" y="360976"/>
                </a:lnTo>
                <a:cubicBezTo>
                  <a:pt x="433172" y="400849"/>
                  <a:pt x="400849" y="433172"/>
                  <a:pt x="360976" y="433172"/>
                </a:cubicBezTo>
                <a:lnTo>
                  <a:pt x="72197" y="433172"/>
                </a:lnTo>
                <a:cubicBezTo>
                  <a:pt x="32324" y="433172"/>
                  <a:pt x="0" y="400849"/>
                  <a:pt x="0" y="360976"/>
                </a:cubicBezTo>
                <a:lnTo>
                  <a:pt x="0" y="72197"/>
                </a:lnTo>
                <a:cubicBezTo>
                  <a:pt x="0" y="32350"/>
                  <a:pt x="32350" y="0"/>
                  <a:pt x="72197" y="0"/>
                </a:cubicBezTo>
                <a:close/>
              </a:path>
            </a:pathLst>
          </a:custGeom>
          <a:solidFill>
            <a:srgbClr val="BDBDBD"/>
          </a:solidFill>
        </p:spPr>
      </p:sp>
      <p:sp>
        <p:nvSpPr>
          <p:cNvPr id="60" name="Text 56"/>
          <p:cNvSpPr/>
          <p:nvPr/>
        </p:nvSpPr>
        <p:spPr>
          <a:xfrm>
            <a:off x="8412345" y="1534152"/>
            <a:ext cx="198537" cy="252684"/>
          </a:xfrm>
          <a:prstGeom prst="rect">
            <a:avLst/>
          </a:prstGeom>
          <a:noFill/>
        </p:spPr>
        <p:txBody>
          <a:bodyPr wrap="square" lIns="0" tIns="0" rIns="0" bIns="0" rtlCol="0" anchor="ctr"/>
          <a:lstStyle/>
          <a:p>
            <a:pPr>
              <a:lnSpc>
                <a:spcPct val="120000"/>
              </a:lnSpc>
            </a:pPr>
            <a:r>
              <a:rPr lang="en-US" sz="1420" b="1" dirty="0">
                <a:solidFill>
                  <a:srgbClr val="1A1A1A"/>
                </a:solidFill>
                <a:latin typeface="MiSans" pitchFamily="34" charset="-122"/>
                <a:ea typeface="MiSans" pitchFamily="34" charset="-122"/>
                <a:cs typeface="MiSans" pitchFamily="34" charset="-120"/>
              </a:rPr>
              <a:t>3</a:t>
            </a:r>
            <a:endParaRPr lang="en-US" sz="1600" dirty="0"/>
          </a:p>
        </p:txBody>
      </p:sp>
      <p:sp>
        <p:nvSpPr>
          <p:cNvPr id="61" name="Text 57"/>
          <p:cNvSpPr/>
          <p:nvPr/>
        </p:nvSpPr>
        <p:spPr>
          <a:xfrm>
            <a:off x="8790355" y="1534152"/>
            <a:ext cx="730979" cy="252684"/>
          </a:xfrm>
          <a:prstGeom prst="rect">
            <a:avLst/>
          </a:prstGeom>
          <a:noFill/>
        </p:spPr>
        <p:txBody>
          <a:bodyPr wrap="square" lIns="0" tIns="0" rIns="0" bIns="0" rtlCol="0" anchor="ctr"/>
          <a:lstStyle/>
          <a:p>
            <a:pPr>
              <a:lnSpc>
                <a:spcPct val="130000"/>
              </a:lnSpc>
            </a:pPr>
            <a:r>
              <a:rPr lang="en-US" sz="1280" b="1" dirty="0">
                <a:solidFill>
                  <a:srgbClr val="4A4A4A"/>
                </a:solidFill>
                <a:latin typeface="MiSans" pitchFamily="34" charset="-122"/>
                <a:ea typeface="MiSans" pitchFamily="34" charset="-122"/>
                <a:cs typeface="MiSans" pitchFamily="34" charset="-120"/>
              </a:rPr>
              <a:t>双语场景</a:t>
            </a:r>
            <a:endParaRPr lang="en-US" sz="1600" dirty="0"/>
          </a:p>
        </p:txBody>
      </p:sp>
      <p:sp>
        <p:nvSpPr>
          <p:cNvPr id="62" name="Text 58"/>
          <p:cNvSpPr/>
          <p:nvPr/>
        </p:nvSpPr>
        <p:spPr>
          <a:xfrm>
            <a:off x="8248890" y="1985374"/>
            <a:ext cx="3510502" cy="234635"/>
          </a:xfrm>
          <a:prstGeom prst="rect">
            <a:avLst/>
          </a:prstGeom>
          <a:noFill/>
        </p:spPr>
        <p:txBody>
          <a:bodyPr wrap="square" lIns="0" tIns="0" rIns="0" bIns="0" rtlCol="0" anchor="ctr"/>
          <a:lstStyle/>
          <a:p>
            <a:pPr>
              <a:lnSpc>
                <a:spcPct val="140000"/>
              </a:lnSpc>
            </a:pPr>
            <a:r>
              <a:rPr lang="en-US" sz="1135" dirty="0">
                <a:solidFill>
                  <a:srgbClr val="808080"/>
                </a:solidFill>
                <a:latin typeface="MiSans" pitchFamily="34" charset="-122"/>
                <a:ea typeface="MiSans" pitchFamily="34" charset="-122"/>
                <a:cs typeface="MiSans" pitchFamily="34" charset="-120"/>
              </a:rPr>
              <a:t>在混合数据集上训练，融合双生态知识</a:t>
            </a:r>
            <a:endParaRPr lang="en-US" sz="1600" dirty="0"/>
          </a:p>
        </p:txBody>
      </p:sp>
      <p:sp>
        <p:nvSpPr>
          <p:cNvPr id="63" name="Shape 59"/>
          <p:cNvSpPr/>
          <p:nvPr/>
        </p:nvSpPr>
        <p:spPr>
          <a:xfrm>
            <a:off x="8248890" y="2328302"/>
            <a:ext cx="3438306" cy="1119029"/>
          </a:xfrm>
          <a:custGeom>
            <a:avLst/>
            <a:gdLst/>
            <a:ahLst/>
            <a:cxnLst/>
            <a:rect l="l" t="t" r="r" b="b"/>
            <a:pathLst>
              <a:path w="3438306" h="1119029">
                <a:moveTo>
                  <a:pt x="72200" y="0"/>
                </a:moveTo>
                <a:lnTo>
                  <a:pt x="3366107" y="0"/>
                </a:lnTo>
                <a:cubicBezTo>
                  <a:pt x="3405982" y="0"/>
                  <a:pt x="3438306" y="32325"/>
                  <a:pt x="3438306" y="72200"/>
                </a:cubicBezTo>
                <a:lnTo>
                  <a:pt x="3438306" y="1046829"/>
                </a:lnTo>
                <a:cubicBezTo>
                  <a:pt x="3438306" y="1086704"/>
                  <a:pt x="3405982" y="1119029"/>
                  <a:pt x="3366107" y="1119029"/>
                </a:cubicBezTo>
                <a:lnTo>
                  <a:pt x="72200" y="1119029"/>
                </a:lnTo>
                <a:cubicBezTo>
                  <a:pt x="32325" y="1119029"/>
                  <a:pt x="0" y="1086704"/>
                  <a:pt x="0" y="1046829"/>
                </a:cubicBezTo>
                <a:lnTo>
                  <a:pt x="0" y="72200"/>
                </a:lnTo>
                <a:cubicBezTo>
                  <a:pt x="0" y="32352"/>
                  <a:pt x="32352" y="0"/>
                  <a:pt x="72200" y="0"/>
                </a:cubicBezTo>
                <a:close/>
              </a:path>
            </a:pathLst>
          </a:custGeom>
          <a:solidFill>
            <a:srgbClr val="FFFFFF"/>
          </a:solidFill>
          <a:effectLst>
            <a:outerShdw blurRad="27073" dist="9024" dir="5400000" algn="bl" rotWithShape="0">
              <a:srgbClr val="000000">
                <a:alpha val="10196"/>
              </a:srgbClr>
            </a:outerShdw>
          </a:effectLst>
        </p:spPr>
      </p:sp>
      <p:sp>
        <p:nvSpPr>
          <p:cNvPr id="64" name="Text 60"/>
          <p:cNvSpPr/>
          <p:nvPr/>
        </p:nvSpPr>
        <p:spPr>
          <a:xfrm>
            <a:off x="8357183" y="2436595"/>
            <a:ext cx="3293916" cy="216586"/>
          </a:xfrm>
          <a:prstGeom prst="rect">
            <a:avLst/>
          </a:prstGeom>
          <a:noFill/>
        </p:spPr>
        <p:txBody>
          <a:bodyPr wrap="square" lIns="0" tIns="0" rIns="0" bIns="0" rtlCol="0" anchor="ctr"/>
          <a:lstStyle/>
          <a:p>
            <a:pPr>
              <a:lnSpc>
                <a:spcPct val="130000"/>
              </a:lnSpc>
            </a:pPr>
            <a:r>
              <a:rPr lang="en-US" sz="1135" b="1" dirty="0">
                <a:solidFill>
                  <a:srgbClr val="4A4A4A"/>
                </a:solidFill>
                <a:latin typeface="MiSans" pitchFamily="34" charset="-122"/>
                <a:ea typeface="MiSans" pitchFamily="34" charset="-122"/>
                <a:cs typeface="MiSans" pitchFamily="34" charset="-120"/>
              </a:rPr>
              <a:t>PyPI测试</a:t>
            </a:r>
            <a:endParaRPr lang="en-US" sz="1600" dirty="0"/>
          </a:p>
        </p:txBody>
      </p:sp>
      <p:sp>
        <p:nvSpPr>
          <p:cNvPr id="65" name="Shape 61"/>
          <p:cNvSpPr/>
          <p:nvPr/>
        </p:nvSpPr>
        <p:spPr>
          <a:xfrm>
            <a:off x="8357183" y="2725377"/>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BDBDBD">
              <a:alpha val="30196"/>
            </a:srgbClr>
          </a:solidFill>
        </p:spPr>
      </p:sp>
      <p:sp>
        <p:nvSpPr>
          <p:cNvPr id="66" name="Text 62"/>
          <p:cNvSpPr/>
          <p:nvPr/>
        </p:nvSpPr>
        <p:spPr>
          <a:xfrm>
            <a:off x="8375232" y="2797572"/>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96.1%</a:t>
            </a:r>
            <a:endParaRPr lang="en-US" sz="1600" dirty="0"/>
          </a:p>
        </p:txBody>
      </p:sp>
      <p:sp>
        <p:nvSpPr>
          <p:cNvPr id="67" name="Text 63"/>
          <p:cNvSpPr/>
          <p:nvPr/>
        </p:nvSpPr>
        <p:spPr>
          <a:xfrm>
            <a:off x="8397793" y="3086244"/>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精确度</a:t>
            </a:r>
            <a:endParaRPr lang="en-US" sz="1600" dirty="0"/>
          </a:p>
        </p:txBody>
      </p:sp>
      <p:sp>
        <p:nvSpPr>
          <p:cNvPr id="68" name="Shape 64"/>
          <p:cNvSpPr/>
          <p:nvPr/>
        </p:nvSpPr>
        <p:spPr>
          <a:xfrm>
            <a:off x="10004254" y="2725377"/>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BDBDBD">
              <a:alpha val="30196"/>
            </a:srgbClr>
          </a:solidFill>
        </p:spPr>
      </p:sp>
      <p:sp>
        <p:nvSpPr>
          <p:cNvPr id="69" name="Text 65"/>
          <p:cNvSpPr/>
          <p:nvPr/>
        </p:nvSpPr>
        <p:spPr>
          <a:xfrm>
            <a:off x="10022303" y="2797572"/>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90.9%</a:t>
            </a:r>
            <a:endParaRPr lang="en-US" sz="1600" dirty="0"/>
          </a:p>
        </p:txBody>
      </p:sp>
      <p:sp>
        <p:nvSpPr>
          <p:cNvPr id="70" name="Text 66"/>
          <p:cNvSpPr/>
          <p:nvPr/>
        </p:nvSpPr>
        <p:spPr>
          <a:xfrm>
            <a:off x="10044864" y="3086244"/>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召回率</a:t>
            </a:r>
            <a:endParaRPr lang="en-US" sz="1600" dirty="0"/>
          </a:p>
        </p:txBody>
      </p:sp>
      <p:sp>
        <p:nvSpPr>
          <p:cNvPr id="71" name="Shape 67"/>
          <p:cNvSpPr/>
          <p:nvPr/>
        </p:nvSpPr>
        <p:spPr>
          <a:xfrm>
            <a:off x="8248890" y="3519416"/>
            <a:ext cx="3438306" cy="1119029"/>
          </a:xfrm>
          <a:custGeom>
            <a:avLst/>
            <a:gdLst/>
            <a:ahLst/>
            <a:cxnLst/>
            <a:rect l="l" t="t" r="r" b="b"/>
            <a:pathLst>
              <a:path w="3438306" h="1119029">
                <a:moveTo>
                  <a:pt x="72200" y="0"/>
                </a:moveTo>
                <a:lnTo>
                  <a:pt x="3366107" y="0"/>
                </a:lnTo>
                <a:cubicBezTo>
                  <a:pt x="3405982" y="0"/>
                  <a:pt x="3438306" y="32325"/>
                  <a:pt x="3438306" y="72200"/>
                </a:cubicBezTo>
                <a:lnTo>
                  <a:pt x="3438306" y="1046829"/>
                </a:lnTo>
                <a:cubicBezTo>
                  <a:pt x="3438306" y="1086704"/>
                  <a:pt x="3405982" y="1119029"/>
                  <a:pt x="3366107" y="1119029"/>
                </a:cubicBezTo>
                <a:lnTo>
                  <a:pt x="72200" y="1119029"/>
                </a:lnTo>
                <a:cubicBezTo>
                  <a:pt x="32325" y="1119029"/>
                  <a:pt x="0" y="1086704"/>
                  <a:pt x="0" y="1046829"/>
                </a:cubicBezTo>
                <a:lnTo>
                  <a:pt x="0" y="72200"/>
                </a:lnTo>
                <a:cubicBezTo>
                  <a:pt x="0" y="32352"/>
                  <a:pt x="32352" y="0"/>
                  <a:pt x="72200" y="0"/>
                </a:cubicBezTo>
                <a:close/>
              </a:path>
            </a:pathLst>
          </a:custGeom>
          <a:solidFill>
            <a:srgbClr val="FFFFFF"/>
          </a:solidFill>
          <a:effectLst>
            <a:outerShdw blurRad="27073" dist="9024" dir="5400000" algn="bl" rotWithShape="0">
              <a:srgbClr val="000000">
                <a:alpha val="10196"/>
              </a:srgbClr>
            </a:outerShdw>
          </a:effectLst>
        </p:spPr>
      </p:sp>
      <p:sp>
        <p:nvSpPr>
          <p:cNvPr id="72" name="Text 68"/>
          <p:cNvSpPr/>
          <p:nvPr/>
        </p:nvSpPr>
        <p:spPr>
          <a:xfrm>
            <a:off x="8357183" y="3627709"/>
            <a:ext cx="3293916" cy="216586"/>
          </a:xfrm>
          <a:prstGeom prst="rect">
            <a:avLst/>
          </a:prstGeom>
          <a:noFill/>
        </p:spPr>
        <p:txBody>
          <a:bodyPr wrap="square" lIns="0" tIns="0" rIns="0" bIns="0" rtlCol="0" anchor="ctr"/>
          <a:lstStyle/>
          <a:p>
            <a:pPr>
              <a:lnSpc>
                <a:spcPct val="130000"/>
              </a:lnSpc>
            </a:pPr>
            <a:r>
              <a:rPr lang="en-US" sz="1135" b="1" dirty="0">
                <a:solidFill>
                  <a:srgbClr val="4A4A4A"/>
                </a:solidFill>
                <a:latin typeface="MiSans" pitchFamily="34" charset="-122"/>
                <a:ea typeface="MiSans" pitchFamily="34" charset="-122"/>
                <a:cs typeface="MiSans" pitchFamily="34" charset="-120"/>
              </a:rPr>
              <a:t>NPM测试</a:t>
            </a:r>
            <a:endParaRPr lang="en-US" sz="1600" dirty="0"/>
          </a:p>
        </p:txBody>
      </p:sp>
      <p:sp>
        <p:nvSpPr>
          <p:cNvPr id="73" name="Shape 69"/>
          <p:cNvSpPr/>
          <p:nvPr/>
        </p:nvSpPr>
        <p:spPr>
          <a:xfrm>
            <a:off x="8357183" y="3916491"/>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BDBDBD">
              <a:alpha val="30196"/>
            </a:srgbClr>
          </a:solidFill>
        </p:spPr>
      </p:sp>
      <p:sp>
        <p:nvSpPr>
          <p:cNvPr id="74" name="Text 70"/>
          <p:cNvSpPr/>
          <p:nvPr/>
        </p:nvSpPr>
        <p:spPr>
          <a:xfrm>
            <a:off x="8375232" y="3988686"/>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98.9%</a:t>
            </a:r>
            <a:endParaRPr lang="en-US" sz="1600" dirty="0"/>
          </a:p>
        </p:txBody>
      </p:sp>
      <p:sp>
        <p:nvSpPr>
          <p:cNvPr id="75" name="Text 71"/>
          <p:cNvSpPr/>
          <p:nvPr/>
        </p:nvSpPr>
        <p:spPr>
          <a:xfrm>
            <a:off x="8397793" y="4277353"/>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精确度</a:t>
            </a:r>
            <a:endParaRPr lang="en-US" sz="1600" dirty="0"/>
          </a:p>
        </p:txBody>
      </p:sp>
      <p:sp>
        <p:nvSpPr>
          <p:cNvPr id="76" name="Shape 72"/>
          <p:cNvSpPr/>
          <p:nvPr/>
        </p:nvSpPr>
        <p:spPr>
          <a:xfrm>
            <a:off x="10004254" y="3916491"/>
            <a:ext cx="1579275" cy="613661"/>
          </a:xfrm>
          <a:custGeom>
            <a:avLst/>
            <a:gdLst/>
            <a:ahLst/>
            <a:cxnLst/>
            <a:rect l="l" t="t" r="r" b="b"/>
            <a:pathLst>
              <a:path w="1579275" h="613661">
                <a:moveTo>
                  <a:pt x="36096" y="0"/>
                </a:moveTo>
                <a:lnTo>
                  <a:pt x="1543179" y="0"/>
                </a:lnTo>
                <a:cubicBezTo>
                  <a:pt x="1563101" y="0"/>
                  <a:pt x="1579275" y="16174"/>
                  <a:pt x="1579275" y="36096"/>
                </a:cubicBezTo>
                <a:lnTo>
                  <a:pt x="1579275" y="577565"/>
                </a:lnTo>
                <a:cubicBezTo>
                  <a:pt x="1579275" y="597500"/>
                  <a:pt x="1563114" y="613661"/>
                  <a:pt x="1543179" y="613661"/>
                </a:cubicBezTo>
                <a:lnTo>
                  <a:pt x="36096" y="613661"/>
                </a:lnTo>
                <a:cubicBezTo>
                  <a:pt x="16174" y="613661"/>
                  <a:pt x="0" y="597487"/>
                  <a:pt x="0" y="577565"/>
                </a:cubicBezTo>
                <a:lnTo>
                  <a:pt x="0" y="36096"/>
                </a:lnTo>
                <a:cubicBezTo>
                  <a:pt x="0" y="16161"/>
                  <a:pt x="16161" y="0"/>
                  <a:pt x="36096" y="0"/>
                </a:cubicBezTo>
                <a:close/>
              </a:path>
            </a:pathLst>
          </a:custGeom>
          <a:solidFill>
            <a:srgbClr val="BDBDBD">
              <a:alpha val="30196"/>
            </a:srgbClr>
          </a:solidFill>
        </p:spPr>
      </p:sp>
      <p:sp>
        <p:nvSpPr>
          <p:cNvPr id="77" name="Text 73"/>
          <p:cNvSpPr/>
          <p:nvPr/>
        </p:nvSpPr>
        <p:spPr>
          <a:xfrm>
            <a:off x="10022303" y="3988686"/>
            <a:ext cx="1543177" cy="288782"/>
          </a:xfrm>
          <a:prstGeom prst="rect">
            <a:avLst/>
          </a:prstGeom>
          <a:noFill/>
        </p:spPr>
        <p:txBody>
          <a:bodyPr wrap="square" lIns="0" tIns="0" rIns="0" bIns="0" rtlCol="0" anchor="ctr"/>
          <a:lstStyle/>
          <a:p>
            <a:pPr algn="ctr">
              <a:lnSpc>
                <a:spcPct val="110000"/>
              </a:lnSpc>
            </a:pPr>
            <a:r>
              <a:rPr lang="en-US" sz="1705" b="1" dirty="0">
                <a:solidFill>
                  <a:srgbClr val="4A4A4A"/>
                </a:solidFill>
                <a:latin typeface="MiSans" pitchFamily="34" charset="-122"/>
                <a:ea typeface="MiSans" pitchFamily="34" charset="-122"/>
                <a:cs typeface="MiSans" pitchFamily="34" charset="-120"/>
              </a:rPr>
              <a:t>93.9%</a:t>
            </a:r>
            <a:endParaRPr lang="en-US" sz="1600" dirty="0"/>
          </a:p>
        </p:txBody>
      </p:sp>
      <p:sp>
        <p:nvSpPr>
          <p:cNvPr id="78" name="Text 74"/>
          <p:cNvSpPr/>
          <p:nvPr/>
        </p:nvSpPr>
        <p:spPr>
          <a:xfrm>
            <a:off x="10044864" y="4277353"/>
            <a:ext cx="1498055" cy="180489"/>
          </a:xfrm>
          <a:prstGeom prst="rect">
            <a:avLst/>
          </a:prstGeom>
          <a:noFill/>
        </p:spPr>
        <p:txBody>
          <a:bodyPr wrap="square" lIns="0" tIns="0" rIns="0" bIns="0" rtlCol="0" anchor="ctr"/>
          <a:lstStyle/>
          <a:p>
            <a:pPr algn="ctr">
              <a:lnSpc>
                <a:spcPct val="120000"/>
              </a:lnSpc>
            </a:pPr>
            <a:r>
              <a:rPr lang="en-US" sz="995" dirty="0">
                <a:solidFill>
                  <a:srgbClr val="808080"/>
                </a:solidFill>
                <a:latin typeface="MiSans" pitchFamily="34" charset="-122"/>
                <a:ea typeface="MiSans" pitchFamily="34" charset="-122"/>
                <a:cs typeface="MiSans" pitchFamily="34" charset="-120"/>
              </a:rPr>
              <a:t>召回率</a:t>
            </a:r>
            <a:endParaRPr lang="en-US" sz="1600" dirty="0"/>
          </a:p>
        </p:txBody>
      </p:sp>
      <p:sp>
        <p:nvSpPr>
          <p:cNvPr id="79" name="Shape 75"/>
          <p:cNvSpPr/>
          <p:nvPr/>
        </p:nvSpPr>
        <p:spPr>
          <a:xfrm>
            <a:off x="8248890" y="4746628"/>
            <a:ext cx="3438306" cy="379026"/>
          </a:xfrm>
          <a:custGeom>
            <a:avLst/>
            <a:gdLst/>
            <a:ahLst/>
            <a:cxnLst/>
            <a:rect l="l" t="t" r="r" b="b"/>
            <a:pathLst>
              <a:path w="3438306" h="379026">
                <a:moveTo>
                  <a:pt x="72197" y="0"/>
                </a:moveTo>
                <a:lnTo>
                  <a:pt x="3366110" y="0"/>
                </a:lnTo>
                <a:cubicBezTo>
                  <a:pt x="3405983" y="0"/>
                  <a:pt x="3438306" y="32324"/>
                  <a:pt x="3438306" y="72197"/>
                </a:cubicBezTo>
                <a:lnTo>
                  <a:pt x="3438306" y="306829"/>
                </a:lnTo>
                <a:cubicBezTo>
                  <a:pt x="3438306" y="346702"/>
                  <a:pt x="3405983" y="379026"/>
                  <a:pt x="3366110" y="379026"/>
                </a:cubicBezTo>
                <a:lnTo>
                  <a:pt x="72197" y="379026"/>
                </a:lnTo>
                <a:cubicBezTo>
                  <a:pt x="32324" y="379026"/>
                  <a:pt x="0" y="346702"/>
                  <a:pt x="0" y="306829"/>
                </a:cubicBezTo>
                <a:lnTo>
                  <a:pt x="0" y="72197"/>
                </a:lnTo>
                <a:cubicBezTo>
                  <a:pt x="0" y="32350"/>
                  <a:pt x="32350" y="0"/>
                  <a:pt x="72197" y="0"/>
                </a:cubicBezTo>
                <a:close/>
              </a:path>
            </a:pathLst>
          </a:custGeom>
          <a:solidFill>
            <a:srgbClr val="BDBDBD">
              <a:alpha val="30196"/>
            </a:srgbClr>
          </a:solidFill>
        </p:spPr>
      </p:sp>
      <p:sp>
        <p:nvSpPr>
          <p:cNvPr id="80" name="Shape 76"/>
          <p:cNvSpPr/>
          <p:nvPr/>
        </p:nvSpPr>
        <p:spPr>
          <a:xfrm>
            <a:off x="8339134" y="4854921"/>
            <a:ext cx="144391" cy="144391"/>
          </a:xfrm>
          <a:custGeom>
            <a:avLst/>
            <a:gdLst/>
            <a:ahLst/>
            <a:cxnLst/>
            <a:rect l="l" t="t" r="r" b="b"/>
            <a:pathLst>
              <a:path w="144391" h="144391">
                <a:moveTo>
                  <a:pt x="72195" y="144391"/>
                </a:moveTo>
                <a:cubicBezTo>
                  <a:pt x="112041" y="144391"/>
                  <a:pt x="144391" y="112041"/>
                  <a:pt x="144391" y="72195"/>
                </a:cubicBezTo>
                <a:cubicBezTo>
                  <a:pt x="144391" y="32350"/>
                  <a:pt x="112041" y="0"/>
                  <a:pt x="72195" y="0"/>
                </a:cubicBezTo>
                <a:cubicBezTo>
                  <a:pt x="32350" y="0"/>
                  <a:pt x="0" y="32350"/>
                  <a:pt x="0" y="72195"/>
                </a:cubicBezTo>
                <a:cubicBezTo>
                  <a:pt x="0" y="112041"/>
                  <a:pt x="32350" y="144391"/>
                  <a:pt x="72195" y="144391"/>
                </a:cubicBezTo>
                <a:close/>
                <a:moveTo>
                  <a:pt x="95997" y="59984"/>
                </a:moveTo>
                <a:lnTo>
                  <a:pt x="73436" y="96082"/>
                </a:lnTo>
                <a:cubicBezTo>
                  <a:pt x="72252" y="97971"/>
                  <a:pt x="70221" y="99156"/>
                  <a:pt x="67993" y="99269"/>
                </a:cubicBezTo>
                <a:cubicBezTo>
                  <a:pt x="65766" y="99381"/>
                  <a:pt x="63622" y="98366"/>
                  <a:pt x="62297" y="96561"/>
                </a:cubicBezTo>
                <a:lnTo>
                  <a:pt x="48760" y="78513"/>
                </a:lnTo>
                <a:cubicBezTo>
                  <a:pt x="46504" y="75523"/>
                  <a:pt x="47124" y="71293"/>
                  <a:pt x="50114" y="69037"/>
                </a:cubicBezTo>
                <a:cubicBezTo>
                  <a:pt x="53103" y="66781"/>
                  <a:pt x="57333" y="67401"/>
                  <a:pt x="59589" y="70391"/>
                </a:cubicBezTo>
                <a:lnTo>
                  <a:pt x="67204" y="80543"/>
                </a:lnTo>
                <a:lnTo>
                  <a:pt x="84519" y="52821"/>
                </a:lnTo>
                <a:cubicBezTo>
                  <a:pt x="86493" y="49663"/>
                  <a:pt x="90667" y="48675"/>
                  <a:pt x="93854" y="50678"/>
                </a:cubicBezTo>
                <a:cubicBezTo>
                  <a:pt x="97041" y="52680"/>
                  <a:pt x="98000" y="56826"/>
                  <a:pt x="95997" y="60012"/>
                </a:cubicBezTo>
                <a:close/>
              </a:path>
            </a:pathLst>
          </a:custGeom>
          <a:solidFill>
            <a:srgbClr val="BDBDBD"/>
          </a:solidFill>
        </p:spPr>
      </p:sp>
      <p:sp>
        <p:nvSpPr>
          <p:cNvPr id="81" name="Text 77"/>
          <p:cNvSpPr/>
          <p:nvPr/>
        </p:nvSpPr>
        <p:spPr>
          <a:xfrm>
            <a:off x="8552875" y="4818823"/>
            <a:ext cx="3134322" cy="234635"/>
          </a:xfrm>
          <a:prstGeom prst="rect">
            <a:avLst/>
          </a:prstGeom>
          <a:noFill/>
        </p:spPr>
        <p:txBody>
          <a:bodyPr wrap="square" lIns="0" tIns="0" rIns="0" bIns="0" rtlCol="0" anchor="ctr"/>
          <a:lstStyle/>
          <a:p>
            <a:pPr>
              <a:lnSpc>
                <a:spcPct val="140000"/>
              </a:lnSpc>
            </a:pPr>
            <a:r>
              <a:rPr lang="en-US" sz="1135" b="1" dirty="0">
                <a:solidFill>
                  <a:srgbClr val="4A4A4A"/>
                </a:solidFill>
                <a:latin typeface="MiSans" pitchFamily="34" charset="-122"/>
                <a:ea typeface="MiSans" pitchFamily="34" charset="-122"/>
                <a:cs typeface="MiSans" pitchFamily="34" charset="-120"/>
              </a:rPr>
              <a:t>结论：</a:t>
            </a:r>
            <a:r>
              <a:rPr lang="en-US" sz="1135" dirty="0">
                <a:solidFill>
                  <a:srgbClr val="4A4A4A"/>
                </a:solidFill>
                <a:latin typeface="MiSans" pitchFamily="34" charset="-122"/>
                <a:ea typeface="MiSans" pitchFamily="34" charset="-122"/>
                <a:cs typeface="MiSans" pitchFamily="34" charset="-120"/>
              </a:rPr>
              <a:t>实现"一石二鸟"设计目标</a:t>
            </a:r>
            <a:endParaRPr lang="en-US" sz="1600" dirty="0"/>
          </a:p>
        </p:txBody>
      </p:sp>
      <p:sp>
        <p:nvSpPr>
          <p:cNvPr id="82" name="Shape 78"/>
          <p:cNvSpPr/>
          <p:nvPr/>
        </p:nvSpPr>
        <p:spPr>
          <a:xfrm>
            <a:off x="360977" y="5414435"/>
            <a:ext cx="11470046" cy="1443908"/>
          </a:xfrm>
          <a:custGeom>
            <a:avLst/>
            <a:gdLst/>
            <a:ahLst/>
            <a:cxnLst/>
            <a:rect l="l" t="t" r="r" b="b"/>
            <a:pathLst>
              <a:path w="11470046" h="1443908">
                <a:moveTo>
                  <a:pt x="72195" y="0"/>
                </a:moveTo>
                <a:lnTo>
                  <a:pt x="11397850" y="0"/>
                </a:lnTo>
                <a:cubicBezTo>
                  <a:pt x="11437723" y="0"/>
                  <a:pt x="11470046" y="32323"/>
                  <a:pt x="11470046" y="72195"/>
                </a:cubicBezTo>
                <a:lnTo>
                  <a:pt x="11470046" y="1371713"/>
                </a:lnTo>
                <a:cubicBezTo>
                  <a:pt x="11470046" y="1411585"/>
                  <a:pt x="11437723" y="1443908"/>
                  <a:pt x="11397850" y="1443908"/>
                </a:cubicBezTo>
                <a:lnTo>
                  <a:pt x="72195" y="1443908"/>
                </a:lnTo>
                <a:cubicBezTo>
                  <a:pt x="32323" y="1443908"/>
                  <a:pt x="0" y="1411585"/>
                  <a:pt x="0" y="1371713"/>
                </a:cubicBezTo>
                <a:lnTo>
                  <a:pt x="0" y="72195"/>
                </a:lnTo>
                <a:cubicBezTo>
                  <a:pt x="0" y="32323"/>
                  <a:pt x="32323" y="0"/>
                  <a:pt x="72195" y="0"/>
                </a:cubicBezTo>
                <a:close/>
              </a:path>
            </a:pathLst>
          </a:custGeom>
          <a:gradFill flip="none" rotWithShape="1">
            <a:gsLst>
              <a:gs pos="0">
                <a:srgbClr val="4A4A4A"/>
              </a:gs>
              <a:gs pos="100000">
                <a:srgbClr val="808080"/>
              </a:gs>
            </a:gsLst>
            <a:lin ang="0" scaled="1"/>
          </a:gradFill>
        </p:spPr>
      </p:sp>
      <p:sp>
        <p:nvSpPr>
          <p:cNvPr id="83" name="Shape 79"/>
          <p:cNvSpPr/>
          <p:nvPr/>
        </p:nvSpPr>
        <p:spPr>
          <a:xfrm>
            <a:off x="541466" y="6001023"/>
            <a:ext cx="270733" cy="270733"/>
          </a:xfrm>
          <a:custGeom>
            <a:avLst/>
            <a:gdLst/>
            <a:ahLst/>
            <a:cxnLst/>
            <a:rect l="l" t="t" r="r" b="b"/>
            <a:pathLst>
              <a:path w="270733" h="270733">
                <a:moveTo>
                  <a:pt x="76302" y="0"/>
                </a:moveTo>
                <a:lnTo>
                  <a:pt x="194748" y="0"/>
                </a:lnTo>
                <a:cubicBezTo>
                  <a:pt x="208760" y="0"/>
                  <a:pt x="220182" y="11527"/>
                  <a:pt x="219653" y="25487"/>
                </a:cubicBezTo>
                <a:cubicBezTo>
                  <a:pt x="219547" y="28289"/>
                  <a:pt x="219442" y="31092"/>
                  <a:pt x="219283" y="33842"/>
                </a:cubicBezTo>
                <a:lnTo>
                  <a:pt x="245510" y="33842"/>
                </a:lnTo>
                <a:cubicBezTo>
                  <a:pt x="259311" y="33842"/>
                  <a:pt x="271473" y="45263"/>
                  <a:pt x="270416" y="60175"/>
                </a:cubicBezTo>
                <a:cubicBezTo>
                  <a:pt x="266450" y="115009"/>
                  <a:pt x="238425" y="145149"/>
                  <a:pt x="208020" y="160906"/>
                </a:cubicBezTo>
                <a:cubicBezTo>
                  <a:pt x="199665" y="165242"/>
                  <a:pt x="191152" y="168468"/>
                  <a:pt x="183062" y="170847"/>
                </a:cubicBezTo>
                <a:cubicBezTo>
                  <a:pt x="172381" y="185970"/>
                  <a:pt x="161276" y="193955"/>
                  <a:pt x="152446" y="198238"/>
                </a:cubicBezTo>
                <a:lnTo>
                  <a:pt x="152446" y="236891"/>
                </a:lnTo>
                <a:lnTo>
                  <a:pt x="186287" y="236891"/>
                </a:lnTo>
                <a:cubicBezTo>
                  <a:pt x="195647" y="236891"/>
                  <a:pt x="203208" y="244453"/>
                  <a:pt x="203208" y="253812"/>
                </a:cubicBezTo>
                <a:cubicBezTo>
                  <a:pt x="203208" y="263171"/>
                  <a:pt x="195647" y="270733"/>
                  <a:pt x="186287" y="270733"/>
                </a:cubicBezTo>
                <a:lnTo>
                  <a:pt x="84763" y="270733"/>
                </a:lnTo>
                <a:cubicBezTo>
                  <a:pt x="75403" y="270733"/>
                  <a:pt x="67842" y="263171"/>
                  <a:pt x="67842" y="253812"/>
                </a:cubicBezTo>
                <a:cubicBezTo>
                  <a:pt x="67842" y="244453"/>
                  <a:pt x="75403" y="236891"/>
                  <a:pt x="84763" y="236891"/>
                </a:cubicBezTo>
                <a:lnTo>
                  <a:pt x="118604" y="236891"/>
                </a:lnTo>
                <a:lnTo>
                  <a:pt x="118604" y="198238"/>
                </a:lnTo>
                <a:cubicBezTo>
                  <a:pt x="110144" y="194166"/>
                  <a:pt x="99621" y="186605"/>
                  <a:pt x="89363" y="172698"/>
                </a:cubicBezTo>
                <a:cubicBezTo>
                  <a:pt x="79634" y="170160"/>
                  <a:pt x="69058" y="166300"/>
                  <a:pt x="58747" y="160483"/>
                </a:cubicBezTo>
                <a:cubicBezTo>
                  <a:pt x="30140" y="144461"/>
                  <a:pt x="4336" y="114268"/>
                  <a:pt x="635" y="60069"/>
                </a:cubicBezTo>
                <a:cubicBezTo>
                  <a:pt x="-370" y="45210"/>
                  <a:pt x="11739" y="33789"/>
                  <a:pt x="25540" y="33789"/>
                </a:cubicBezTo>
                <a:lnTo>
                  <a:pt x="51767" y="33789"/>
                </a:lnTo>
                <a:cubicBezTo>
                  <a:pt x="51608" y="31039"/>
                  <a:pt x="51503" y="28289"/>
                  <a:pt x="51397" y="25434"/>
                </a:cubicBezTo>
                <a:cubicBezTo>
                  <a:pt x="50868" y="11422"/>
                  <a:pt x="62290" y="-53"/>
                  <a:pt x="76302" y="-53"/>
                </a:cubicBezTo>
                <a:close/>
                <a:moveTo>
                  <a:pt x="53671" y="59223"/>
                </a:moveTo>
                <a:lnTo>
                  <a:pt x="25963" y="59223"/>
                </a:lnTo>
                <a:cubicBezTo>
                  <a:pt x="29241" y="104010"/>
                  <a:pt x="49811" y="126430"/>
                  <a:pt x="71014" y="138328"/>
                </a:cubicBezTo>
                <a:cubicBezTo>
                  <a:pt x="63400" y="118604"/>
                  <a:pt x="57108" y="92853"/>
                  <a:pt x="53671" y="59223"/>
                </a:cubicBezTo>
                <a:close/>
                <a:moveTo>
                  <a:pt x="200934" y="135789"/>
                </a:moveTo>
                <a:cubicBezTo>
                  <a:pt x="222350" y="123205"/>
                  <a:pt x="241703" y="100837"/>
                  <a:pt x="244981" y="59223"/>
                </a:cubicBezTo>
                <a:lnTo>
                  <a:pt x="217327" y="59223"/>
                </a:lnTo>
                <a:cubicBezTo>
                  <a:pt x="214048" y="91425"/>
                  <a:pt x="208126" y="116436"/>
                  <a:pt x="200934" y="135789"/>
                </a:cubicBezTo>
                <a:close/>
              </a:path>
            </a:pathLst>
          </a:custGeom>
          <a:solidFill>
            <a:srgbClr val="FFFFFF"/>
          </a:solidFill>
        </p:spPr>
      </p:sp>
      <p:sp>
        <p:nvSpPr>
          <p:cNvPr id="84" name="Text 80"/>
          <p:cNvSpPr/>
          <p:nvPr/>
        </p:nvSpPr>
        <p:spPr>
          <a:xfrm>
            <a:off x="988175" y="5883706"/>
            <a:ext cx="4250505" cy="252684"/>
          </a:xfrm>
          <a:prstGeom prst="rect">
            <a:avLst/>
          </a:prstGeom>
          <a:noFill/>
        </p:spPr>
        <p:txBody>
          <a:bodyPr wrap="square" lIns="0" tIns="0" rIns="0" bIns="0" rtlCol="0" anchor="ctr"/>
          <a:lstStyle/>
          <a:p>
            <a:pPr>
              <a:lnSpc>
                <a:spcPct val="120000"/>
              </a:lnSpc>
            </a:pPr>
            <a:r>
              <a:rPr lang="en-US" sz="1420" b="1" dirty="0">
                <a:solidFill>
                  <a:srgbClr val="FFFFFF"/>
                </a:solidFill>
                <a:latin typeface="MiSans" pitchFamily="34" charset="-122"/>
                <a:ea typeface="MiSans" pitchFamily="34" charset="-122"/>
                <a:cs typeface="MiSans" pitchFamily="34" charset="-120"/>
              </a:rPr>
              <a:t>核心发现</a:t>
            </a:r>
            <a:endParaRPr lang="en-US" sz="1600" dirty="0"/>
          </a:p>
        </p:txBody>
      </p:sp>
      <p:sp>
        <p:nvSpPr>
          <p:cNvPr id="85" name="Text 81"/>
          <p:cNvSpPr/>
          <p:nvPr/>
        </p:nvSpPr>
        <p:spPr>
          <a:xfrm>
            <a:off x="988175" y="6172487"/>
            <a:ext cx="4232456" cy="216586"/>
          </a:xfrm>
          <a:prstGeom prst="rect">
            <a:avLst/>
          </a:prstGeom>
          <a:noFill/>
        </p:spPr>
        <p:txBody>
          <a:bodyPr wrap="square" lIns="0" tIns="0" rIns="0" bIns="0" rtlCol="0" anchor="ctr"/>
          <a:lstStyle/>
          <a:p>
            <a:pPr>
              <a:lnSpc>
                <a:spcPct val="130000"/>
              </a:lnSpc>
            </a:pPr>
            <a:r>
              <a:rPr lang="en-US" sz="1135" dirty="0">
                <a:solidFill>
                  <a:srgbClr val="FFFFFF">
                    <a:alpha val="90000"/>
                  </a:srgbClr>
                </a:solidFill>
                <a:latin typeface="MiSans" pitchFamily="34" charset="-122"/>
                <a:ea typeface="MiSans" pitchFamily="34" charset="-122"/>
                <a:cs typeface="MiSans" pitchFamily="34" charset="-120"/>
              </a:rPr>
              <a:t>CEREBRORoBERTa在所有三种场景下均显著优于现有最先进方法</a:t>
            </a:r>
            <a:endParaRPr lang="en-US" sz="1600" dirty="0"/>
          </a:p>
        </p:txBody>
      </p:sp>
      <p:sp>
        <p:nvSpPr>
          <p:cNvPr id="86" name="Text 82"/>
          <p:cNvSpPr/>
          <p:nvPr/>
        </p:nvSpPr>
        <p:spPr>
          <a:xfrm>
            <a:off x="10604603" y="5558826"/>
            <a:ext cx="1082931" cy="216586"/>
          </a:xfrm>
          <a:prstGeom prst="rect">
            <a:avLst/>
          </a:prstGeom>
          <a:noFill/>
        </p:spPr>
        <p:txBody>
          <a:bodyPr wrap="square" lIns="0" tIns="0" rIns="0" bIns="0" rtlCol="0" anchor="ctr"/>
          <a:lstStyle/>
          <a:p>
            <a:pPr algn="r">
              <a:lnSpc>
                <a:spcPct val="130000"/>
              </a:lnSpc>
            </a:pPr>
            <a:r>
              <a:rPr lang="en-US" sz="1135" dirty="0">
                <a:solidFill>
                  <a:srgbClr val="FFFFFF">
                    <a:alpha val="80000"/>
                  </a:srgbClr>
                </a:solidFill>
                <a:latin typeface="MiSans" pitchFamily="34" charset="-122"/>
                <a:ea typeface="MiSans" pitchFamily="34" charset="-122"/>
                <a:cs typeface="MiSans" pitchFamily="34" charset="-120"/>
              </a:rPr>
              <a:t>精确度平均提升</a:t>
            </a:r>
            <a:endParaRPr lang="en-US" sz="1600" dirty="0"/>
          </a:p>
        </p:txBody>
      </p:sp>
      <p:sp>
        <p:nvSpPr>
          <p:cNvPr id="87" name="Text 83"/>
          <p:cNvSpPr/>
          <p:nvPr/>
        </p:nvSpPr>
        <p:spPr>
          <a:xfrm>
            <a:off x="10541432" y="5775413"/>
            <a:ext cx="1146102" cy="324879"/>
          </a:xfrm>
          <a:prstGeom prst="rect">
            <a:avLst/>
          </a:prstGeom>
          <a:noFill/>
        </p:spPr>
        <p:txBody>
          <a:bodyPr wrap="square" lIns="0" tIns="0" rIns="0" bIns="0" rtlCol="0" anchor="ctr"/>
          <a:lstStyle/>
          <a:p>
            <a:pPr algn="r">
              <a:lnSpc>
                <a:spcPct val="100000"/>
              </a:lnSpc>
            </a:pPr>
            <a:r>
              <a:rPr lang="en-US" sz="2130" b="1" dirty="0">
                <a:solidFill>
                  <a:srgbClr val="FFFFFF"/>
                </a:solidFill>
                <a:latin typeface="MiSans" pitchFamily="34" charset="-122"/>
                <a:ea typeface="MiSans" pitchFamily="34" charset="-122"/>
                <a:cs typeface="MiSans" pitchFamily="34" charset="-120"/>
              </a:rPr>
              <a:t>0.3%</a:t>
            </a:r>
            <a:endParaRPr lang="en-US" sz="1600" dirty="0"/>
          </a:p>
        </p:txBody>
      </p:sp>
      <p:sp>
        <p:nvSpPr>
          <p:cNvPr id="88" name="Text 84"/>
          <p:cNvSpPr/>
          <p:nvPr/>
        </p:nvSpPr>
        <p:spPr>
          <a:xfrm>
            <a:off x="10604603" y="6172487"/>
            <a:ext cx="1082931" cy="216586"/>
          </a:xfrm>
          <a:prstGeom prst="rect">
            <a:avLst/>
          </a:prstGeom>
          <a:noFill/>
        </p:spPr>
        <p:txBody>
          <a:bodyPr wrap="square" lIns="0" tIns="0" rIns="0" bIns="0" rtlCol="0" anchor="ctr"/>
          <a:lstStyle/>
          <a:p>
            <a:pPr algn="r">
              <a:lnSpc>
                <a:spcPct val="130000"/>
              </a:lnSpc>
            </a:pPr>
            <a:r>
              <a:rPr lang="en-US" sz="1135" dirty="0">
                <a:solidFill>
                  <a:srgbClr val="FFFFFF">
                    <a:alpha val="80000"/>
                  </a:srgbClr>
                </a:solidFill>
                <a:latin typeface="MiSans" pitchFamily="34" charset="-122"/>
                <a:ea typeface="MiSans" pitchFamily="34" charset="-122"/>
                <a:cs typeface="MiSans" pitchFamily="34" charset="-120"/>
              </a:rPr>
              <a:t>召回率平均提升</a:t>
            </a:r>
            <a:endParaRPr lang="en-US" sz="1600" dirty="0"/>
          </a:p>
        </p:txBody>
      </p:sp>
      <p:sp>
        <p:nvSpPr>
          <p:cNvPr id="89" name="Text 85"/>
          <p:cNvSpPr/>
          <p:nvPr/>
        </p:nvSpPr>
        <p:spPr>
          <a:xfrm>
            <a:off x="10541432" y="6389074"/>
            <a:ext cx="1146102" cy="324879"/>
          </a:xfrm>
          <a:prstGeom prst="rect">
            <a:avLst/>
          </a:prstGeom>
          <a:noFill/>
        </p:spPr>
        <p:txBody>
          <a:bodyPr wrap="square" lIns="0" tIns="0" rIns="0" bIns="0" rtlCol="0" anchor="ctr"/>
          <a:lstStyle/>
          <a:p>
            <a:pPr algn="r">
              <a:lnSpc>
                <a:spcPct val="100000"/>
              </a:lnSpc>
            </a:pPr>
            <a:r>
              <a:rPr lang="en-US" sz="2130" b="1" dirty="0">
                <a:solidFill>
                  <a:srgbClr val="FFFFFF"/>
                </a:solidFill>
                <a:latin typeface="MiSans" pitchFamily="34" charset="-122"/>
                <a:ea typeface="MiSans" pitchFamily="34" charset="-122"/>
                <a:cs typeface="MiSans" pitchFamily="34" charset="-120"/>
              </a:rPr>
              <a:t>0.7%</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10-11-20:29:04-d3l4r40s8jdo4os5eok0.jpeg"/>
          <p:cNvPicPr>
            <a:picLocks noChangeAspect="1"/>
          </p:cNvPicPr>
          <p:nvPr/>
        </p:nvPicPr>
        <p:blipFill>
          <a:blip r:embed="rId1">
            <a:alphaModFix amt="34000"/>
          </a:blip>
          <a:srcRect t="46513" b="46513"/>
          <a:stretch>
            <a:fillRect/>
          </a:stretch>
        </p:blipFill>
        <p:spPr>
          <a:xfrm>
            <a:off x="799465" y="6010275"/>
            <a:ext cx="10638155" cy="215265"/>
          </a:xfrm>
          <a:prstGeom prst="rect">
            <a:avLst/>
          </a:prstGeom>
        </p:spPr>
      </p:pic>
      <p:pic>
        <p:nvPicPr>
          <p:cNvPr id="3" name="Image 1" descr="https://kimi-img.moonshot.cn/pub/slides/slides_tmpl/image/25-10-11-20:29:20-d3l4r80s8jdo4os5eomg.jpg"/>
          <p:cNvPicPr>
            <a:picLocks noChangeAspect="1"/>
          </p:cNvPicPr>
          <p:nvPr/>
        </p:nvPicPr>
        <p:blipFill>
          <a:blip r:embed="rId2"/>
          <a:stretch>
            <a:fillRect/>
          </a:stretch>
        </p:blipFill>
        <p:spPr>
          <a:xfrm>
            <a:off x="1270" y="0"/>
            <a:ext cx="12190730" cy="6858000"/>
          </a:xfrm>
          <a:prstGeom prst="rect">
            <a:avLst/>
          </a:prstGeom>
        </p:spPr>
      </p:pic>
      <p:sp>
        <p:nvSpPr>
          <p:cNvPr id="4"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08080"/>
                </a:solidFill>
                <a:latin typeface="MiSans" pitchFamily="34" charset="-122"/>
                <a:ea typeface="MiSans" pitchFamily="34" charset="-122"/>
                <a:cs typeface="MiSans" pitchFamily="34" charset="-120"/>
              </a:rPr>
              <a:t>REAL-WORLD USEFULNESS</a:t>
            </a:r>
            <a:endParaRPr lang="en-US" sz="1600" dirty="0"/>
          </a:p>
        </p:txBody>
      </p:sp>
      <p:sp>
        <p:nvSpPr>
          <p:cNvPr id="5" name="Text 1"/>
          <p:cNvSpPr/>
          <p:nvPr/>
        </p:nvSpPr>
        <p:spPr>
          <a:xfrm>
            <a:off x="381000" y="647700"/>
            <a:ext cx="11572875" cy="342900"/>
          </a:xfrm>
          <a:prstGeom prst="rect">
            <a:avLst/>
          </a:prstGeom>
          <a:noFill/>
        </p:spPr>
        <p:txBody>
          <a:bodyPr wrap="square" lIns="0" tIns="0" rIns="0" bIns="0" rtlCol="0" anchor="ctr"/>
          <a:lstStyle/>
          <a:p>
            <a:pPr>
              <a:lnSpc>
                <a:spcPct val="100000"/>
              </a:lnSpc>
            </a:pPr>
            <a:r>
              <a:rPr lang="en-US" sz="2250" b="1" dirty="0">
                <a:solidFill>
                  <a:srgbClr val="4A4A4A"/>
                </a:solidFill>
                <a:latin typeface="MiSans" pitchFamily="34" charset="-122"/>
                <a:ea typeface="MiSans" pitchFamily="34" charset="-122"/>
                <a:cs typeface="MiSans" pitchFamily="34" charset="-120"/>
              </a:rPr>
              <a:t>真实世界应用成效</a:t>
            </a:r>
            <a:endParaRPr lang="en-US" sz="1600" dirty="0"/>
          </a:p>
        </p:txBody>
      </p:sp>
      <p:sp>
        <p:nvSpPr>
          <p:cNvPr id="6" name="Shape 2"/>
          <p:cNvSpPr/>
          <p:nvPr/>
        </p:nvSpPr>
        <p:spPr>
          <a:xfrm>
            <a:off x="381000" y="10668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4A4A4A"/>
          </a:solidFill>
        </p:spPr>
      </p:sp>
      <p:sp>
        <p:nvSpPr>
          <p:cNvPr id="7" name="Shape 3"/>
          <p:cNvSpPr/>
          <p:nvPr/>
        </p:nvSpPr>
        <p:spPr>
          <a:xfrm>
            <a:off x="381000" y="1181100"/>
            <a:ext cx="5638800" cy="1390650"/>
          </a:xfrm>
          <a:custGeom>
            <a:avLst/>
            <a:gdLst/>
            <a:ahLst/>
            <a:cxnLst/>
            <a:rect l="l" t="t" r="r" b="b"/>
            <a:pathLst>
              <a:path w="5638800" h="1390650">
                <a:moveTo>
                  <a:pt x="76194" y="0"/>
                </a:moveTo>
                <a:lnTo>
                  <a:pt x="5562606" y="0"/>
                </a:lnTo>
                <a:cubicBezTo>
                  <a:pt x="5604659" y="0"/>
                  <a:pt x="5638800" y="34141"/>
                  <a:pt x="5638800" y="76194"/>
                </a:cubicBezTo>
                <a:lnTo>
                  <a:pt x="5638800" y="1314456"/>
                </a:lnTo>
                <a:cubicBezTo>
                  <a:pt x="5638800" y="1356509"/>
                  <a:pt x="5604659" y="1390650"/>
                  <a:pt x="5562606" y="1390650"/>
                </a:cubicBezTo>
                <a:lnTo>
                  <a:pt x="76194" y="1390650"/>
                </a:lnTo>
                <a:cubicBezTo>
                  <a:pt x="34141" y="1390650"/>
                  <a:pt x="0" y="1356509"/>
                  <a:pt x="0" y="1314456"/>
                </a:cubicBezTo>
                <a:lnTo>
                  <a:pt x="0" y="76194"/>
                </a:lnTo>
                <a:cubicBezTo>
                  <a:pt x="0" y="34141"/>
                  <a:pt x="34141" y="0"/>
                  <a:pt x="76194" y="0"/>
                </a:cubicBezTo>
                <a:close/>
              </a:path>
            </a:pathLst>
          </a:custGeom>
          <a:gradFill flip="none" rotWithShape="1">
            <a:gsLst>
              <a:gs pos="0">
                <a:srgbClr val="4A4A4A"/>
              </a:gs>
              <a:gs pos="100000">
                <a:srgbClr val="808080"/>
              </a:gs>
            </a:gsLst>
            <a:lin ang="2700000" scaled="1"/>
          </a:gradFill>
        </p:spPr>
      </p:sp>
      <p:sp>
        <p:nvSpPr>
          <p:cNvPr id="8" name="Shape 4"/>
          <p:cNvSpPr/>
          <p:nvPr/>
        </p:nvSpPr>
        <p:spPr>
          <a:xfrm>
            <a:off x="519113" y="1343025"/>
            <a:ext cx="171450" cy="171450"/>
          </a:xfrm>
          <a:custGeom>
            <a:avLst/>
            <a:gdLst/>
            <a:ahLst/>
            <a:cxnLst/>
            <a:rect l="l" t="t" r="r" b="b"/>
            <a:pathLst>
              <a:path w="171450" h="171450">
                <a:moveTo>
                  <a:pt x="21431" y="21431"/>
                </a:moveTo>
                <a:cubicBezTo>
                  <a:pt x="21431" y="15504"/>
                  <a:pt x="16643" y="10716"/>
                  <a:pt x="10716" y="10716"/>
                </a:cubicBezTo>
                <a:cubicBezTo>
                  <a:pt x="4789" y="10716"/>
                  <a:pt x="0" y="15504"/>
                  <a:pt x="0" y="21431"/>
                </a:cubicBezTo>
                <a:lnTo>
                  <a:pt x="0" y="133945"/>
                </a:lnTo>
                <a:cubicBezTo>
                  <a:pt x="0" y="148746"/>
                  <a:pt x="11988" y="160734"/>
                  <a:pt x="26789" y="160734"/>
                </a:cubicBezTo>
                <a:lnTo>
                  <a:pt x="160734" y="160734"/>
                </a:lnTo>
                <a:cubicBezTo>
                  <a:pt x="166661" y="160734"/>
                  <a:pt x="171450" y="155946"/>
                  <a:pt x="171450" y="150019"/>
                </a:cubicBezTo>
                <a:cubicBezTo>
                  <a:pt x="171450" y="144092"/>
                  <a:pt x="166661" y="139303"/>
                  <a:pt x="160734" y="139303"/>
                </a:cubicBezTo>
                <a:lnTo>
                  <a:pt x="26789" y="139303"/>
                </a:lnTo>
                <a:cubicBezTo>
                  <a:pt x="23842" y="139303"/>
                  <a:pt x="21431" y="136892"/>
                  <a:pt x="21431" y="133945"/>
                </a:cubicBezTo>
                <a:lnTo>
                  <a:pt x="21431" y="21431"/>
                </a:lnTo>
                <a:close/>
                <a:moveTo>
                  <a:pt x="157587" y="50430"/>
                </a:moveTo>
                <a:cubicBezTo>
                  <a:pt x="161772" y="46245"/>
                  <a:pt x="161772" y="39447"/>
                  <a:pt x="157587" y="35261"/>
                </a:cubicBezTo>
                <a:cubicBezTo>
                  <a:pt x="153401" y="31075"/>
                  <a:pt x="146603" y="31075"/>
                  <a:pt x="142417" y="35261"/>
                </a:cubicBezTo>
                <a:lnTo>
                  <a:pt x="107156" y="70556"/>
                </a:lnTo>
                <a:lnTo>
                  <a:pt x="87935" y="51368"/>
                </a:lnTo>
                <a:cubicBezTo>
                  <a:pt x="83749" y="47182"/>
                  <a:pt x="76952" y="47182"/>
                  <a:pt x="72766" y="51368"/>
                </a:cubicBezTo>
                <a:lnTo>
                  <a:pt x="40619" y="83515"/>
                </a:lnTo>
                <a:cubicBezTo>
                  <a:pt x="36433" y="87701"/>
                  <a:pt x="36433" y="94498"/>
                  <a:pt x="40619" y="98684"/>
                </a:cubicBezTo>
                <a:cubicBezTo>
                  <a:pt x="44805" y="102870"/>
                  <a:pt x="51602" y="102870"/>
                  <a:pt x="55788" y="98684"/>
                </a:cubicBezTo>
                <a:lnTo>
                  <a:pt x="80367" y="74105"/>
                </a:lnTo>
                <a:lnTo>
                  <a:pt x="99588" y="93326"/>
                </a:lnTo>
                <a:cubicBezTo>
                  <a:pt x="103774" y="97512"/>
                  <a:pt x="110572" y="97512"/>
                  <a:pt x="114758" y="93326"/>
                </a:cubicBezTo>
                <a:lnTo>
                  <a:pt x="157620" y="50464"/>
                </a:lnTo>
                <a:close/>
              </a:path>
            </a:pathLst>
          </a:custGeom>
          <a:solidFill>
            <a:srgbClr val="FFFFFF"/>
          </a:solidFill>
        </p:spPr>
      </p:sp>
      <p:sp>
        <p:nvSpPr>
          <p:cNvPr id="9" name="Text 5"/>
          <p:cNvSpPr/>
          <p:nvPr/>
        </p:nvSpPr>
        <p:spPr>
          <a:xfrm>
            <a:off x="714375" y="1295400"/>
            <a:ext cx="5276850" cy="266700"/>
          </a:xfrm>
          <a:prstGeom prst="rect">
            <a:avLst/>
          </a:prstGeom>
          <a:noFill/>
        </p:spPr>
        <p:txBody>
          <a:bodyPr wrap="square" lIns="0" tIns="0" rIns="0" bIns="0" rtlCol="0" anchor="ctr"/>
          <a:lstStyle/>
          <a:p>
            <a:pPr>
              <a:lnSpc>
                <a:spcPct val="130000"/>
              </a:lnSpc>
            </a:pPr>
            <a:r>
              <a:rPr lang="en-US" sz="1350" b="1" dirty="0">
                <a:solidFill>
                  <a:srgbClr val="FFFFFF"/>
                </a:solidFill>
                <a:latin typeface="MiSans" pitchFamily="34" charset="-122"/>
                <a:ea typeface="MiSans" pitchFamily="34" charset="-122"/>
                <a:cs typeface="MiSans" pitchFamily="34" charset="-120"/>
              </a:rPr>
              <a:t>持续监测成果</a:t>
            </a:r>
            <a:endParaRPr lang="en-US" sz="1600" dirty="0"/>
          </a:p>
        </p:txBody>
      </p:sp>
      <p:sp>
        <p:nvSpPr>
          <p:cNvPr id="10" name="Shape 6"/>
          <p:cNvSpPr/>
          <p:nvPr/>
        </p:nvSpPr>
        <p:spPr>
          <a:xfrm>
            <a:off x="495300" y="1638300"/>
            <a:ext cx="2667000" cy="685800"/>
          </a:xfrm>
          <a:custGeom>
            <a:avLst/>
            <a:gdLst/>
            <a:ahLst/>
            <a:cxnLst/>
            <a:rect l="l" t="t" r="r" b="b"/>
            <a:pathLst>
              <a:path w="2667000" h="685800">
                <a:moveTo>
                  <a:pt x="76199" y="0"/>
                </a:moveTo>
                <a:lnTo>
                  <a:pt x="2590801" y="0"/>
                </a:lnTo>
                <a:cubicBezTo>
                  <a:pt x="2632884" y="0"/>
                  <a:pt x="2667000" y="34116"/>
                  <a:pt x="2667000" y="76199"/>
                </a:cubicBezTo>
                <a:lnTo>
                  <a:pt x="2667000" y="609601"/>
                </a:lnTo>
                <a:cubicBezTo>
                  <a:pt x="2667000" y="651684"/>
                  <a:pt x="2632884" y="685800"/>
                  <a:pt x="2590801" y="685800"/>
                </a:cubicBezTo>
                <a:lnTo>
                  <a:pt x="76199" y="685800"/>
                </a:lnTo>
                <a:cubicBezTo>
                  <a:pt x="34116" y="685800"/>
                  <a:pt x="0" y="651684"/>
                  <a:pt x="0" y="609601"/>
                </a:cubicBezTo>
                <a:lnTo>
                  <a:pt x="0" y="76199"/>
                </a:lnTo>
                <a:cubicBezTo>
                  <a:pt x="0" y="34144"/>
                  <a:pt x="34144" y="0"/>
                  <a:pt x="76199" y="0"/>
                </a:cubicBezTo>
                <a:close/>
              </a:path>
            </a:pathLst>
          </a:custGeom>
          <a:solidFill>
            <a:srgbClr val="FFFFFF">
              <a:alpha val="10196"/>
            </a:srgbClr>
          </a:solidFill>
        </p:spPr>
      </p:sp>
      <p:sp>
        <p:nvSpPr>
          <p:cNvPr id="11" name="Text 7"/>
          <p:cNvSpPr/>
          <p:nvPr/>
        </p:nvSpPr>
        <p:spPr>
          <a:xfrm>
            <a:off x="514350" y="1714500"/>
            <a:ext cx="2628900" cy="304800"/>
          </a:xfrm>
          <a:prstGeom prst="rect">
            <a:avLst/>
          </a:prstGeom>
          <a:noFill/>
        </p:spPr>
        <p:txBody>
          <a:bodyPr wrap="square" lIns="0" tIns="0" rIns="0" bIns="0" rtlCol="0" anchor="ctr"/>
          <a:lstStyle/>
          <a:p>
            <a:pPr algn="ctr">
              <a:lnSpc>
                <a:spcPct val="110000"/>
              </a:lnSpc>
            </a:pPr>
            <a:r>
              <a:rPr lang="en-US" sz="1800" b="1" dirty="0">
                <a:solidFill>
                  <a:srgbClr val="FFFFFF"/>
                </a:solidFill>
                <a:latin typeface="MiSans" pitchFamily="34" charset="-122"/>
                <a:ea typeface="MiSans" pitchFamily="34" charset="-122"/>
                <a:cs typeface="MiSans" pitchFamily="34" charset="-120"/>
              </a:rPr>
              <a:t>8个月</a:t>
            </a:r>
            <a:endParaRPr lang="en-US" sz="1600" dirty="0"/>
          </a:p>
        </p:txBody>
      </p:sp>
      <p:sp>
        <p:nvSpPr>
          <p:cNvPr id="12" name="Text 8"/>
          <p:cNvSpPr/>
          <p:nvPr/>
        </p:nvSpPr>
        <p:spPr>
          <a:xfrm>
            <a:off x="533400" y="2019179"/>
            <a:ext cx="2590800" cy="228600"/>
          </a:xfrm>
          <a:prstGeom prst="rect">
            <a:avLst/>
          </a:prstGeom>
          <a:noFill/>
        </p:spPr>
        <p:txBody>
          <a:bodyPr wrap="square" lIns="0" tIns="0" rIns="0" bIns="0" rtlCol="0" anchor="ctr"/>
          <a:lstStyle/>
          <a:p>
            <a:pPr algn="ctr">
              <a:lnSpc>
                <a:spcPct val="130000"/>
              </a:lnSpc>
            </a:pPr>
            <a:r>
              <a:rPr lang="en-US" sz="1200" dirty="0">
                <a:solidFill>
                  <a:srgbClr val="FFFFFF">
                    <a:alpha val="80000"/>
                  </a:srgbClr>
                </a:solidFill>
                <a:latin typeface="MiSans" pitchFamily="34" charset="-122"/>
                <a:ea typeface="MiSans" pitchFamily="34" charset="-122"/>
                <a:cs typeface="MiSans" pitchFamily="34" charset="-120"/>
              </a:rPr>
              <a:t>PyPI监测周期</a:t>
            </a:r>
            <a:endParaRPr lang="en-US" sz="1600" dirty="0"/>
          </a:p>
        </p:txBody>
      </p:sp>
      <p:sp>
        <p:nvSpPr>
          <p:cNvPr id="13" name="Shape 9"/>
          <p:cNvSpPr/>
          <p:nvPr/>
        </p:nvSpPr>
        <p:spPr>
          <a:xfrm>
            <a:off x="3238500" y="1638300"/>
            <a:ext cx="2667000" cy="685800"/>
          </a:xfrm>
          <a:custGeom>
            <a:avLst/>
            <a:gdLst/>
            <a:ahLst/>
            <a:cxnLst/>
            <a:rect l="l" t="t" r="r" b="b"/>
            <a:pathLst>
              <a:path w="2667000" h="685800">
                <a:moveTo>
                  <a:pt x="76199" y="0"/>
                </a:moveTo>
                <a:lnTo>
                  <a:pt x="2590801" y="0"/>
                </a:lnTo>
                <a:cubicBezTo>
                  <a:pt x="2632884" y="0"/>
                  <a:pt x="2667000" y="34116"/>
                  <a:pt x="2667000" y="76199"/>
                </a:cubicBezTo>
                <a:lnTo>
                  <a:pt x="2667000" y="609601"/>
                </a:lnTo>
                <a:cubicBezTo>
                  <a:pt x="2667000" y="651684"/>
                  <a:pt x="2632884" y="685800"/>
                  <a:pt x="2590801" y="685800"/>
                </a:cubicBezTo>
                <a:lnTo>
                  <a:pt x="76199" y="685800"/>
                </a:lnTo>
                <a:cubicBezTo>
                  <a:pt x="34116" y="685800"/>
                  <a:pt x="0" y="651684"/>
                  <a:pt x="0" y="609601"/>
                </a:cubicBezTo>
                <a:lnTo>
                  <a:pt x="0" y="76199"/>
                </a:lnTo>
                <a:cubicBezTo>
                  <a:pt x="0" y="34144"/>
                  <a:pt x="34144" y="0"/>
                  <a:pt x="76199" y="0"/>
                </a:cubicBezTo>
                <a:close/>
              </a:path>
            </a:pathLst>
          </a:custGeom>
          <a:solidFill>
            <a:srgbClr val="FFFFFF">
              <a:alpha val="10196"/>
            </a:srgbClr>
          </a:solidFill>
        </p:spPr>
      </p:sp>
      <p:sp>
        <p:nvSpPr>
          <p:cNvPr id="14" name="Text 10"/>
          <p:cNvSpPr/>
          <p:nvPr/>
        </p:nvSpPr>
        <p:spPr>
          <a:xfrm>
            <a:off x="3257550" y="1714500"/>
            <a:ext cx="2628900" cy="304800"/>
          </a:xfrm>
          <a:prstGeom prst="rect">
            <a:avLst/>
          </a:prstGeom>
          <a:noFill/>
        </p:spPr>
        <p:txBody>
          <a:bodyPr wrap="square" lIns="0" tIns="0" rIns="0" bIns="0" rtlCol="0" anchor="ctr"/>
          <a:lstStyle/>
          <a:p>
            <a:pPr algn="ctr">
              <a:lnSpc>
                <a:spcPct val="110000"/>
              </a:lnSpc>
            </a:pPr>
            <a:r>
              <a:rPr lang="en-US" sz="1800" b="1" dirty="0">
                <a:solidFill>
                  <a:srgbClr val="FFFFFF"/>
                </a:solidFill>
                <a:latin typeface="MiSans" pitchFamily="34" charset="-122"/>
                <a:ea typeface="MiSans" pitchFamily="34" charset="-122"/>
                <a:cs typeface="MiSans" pitchFamily="34" charset="-120"/>
              </a:rPr>
              <a:t>7个月</a:t>
            </a:r>
            <a:endParaRPr lang="en-US" sz="1600" dirty="0"/>
          </a:p>
        </p:txBody>
      </p:sp>
      <p:sp>
        <p:nvSpPr>
          <p:cNvPr id="15" name="Text 11"/>
          <p:cNvSpPr/>
          <p:nvPr/>
        </p:nvSpPr>
        <p:spPr>
          <a:xfrm>
            <a:off x="3276600" y="2019179"/>
            <a:ext cx="2590800" cy="228600"/>
          </a:xfrm>
          <a:prstGeom prst="rect">
            <a:avLst/>
          </a:prstGeom>
          <a:noFill/>
        </p:spPr>
        <p:txBody>
          <a:bodyPr wrap="square" lIns="0" tIns="0" rIns="0" bIns="0" rtlCol="0" anchor="ctr"/>
          <a:lstStyle/>
          <a:p>
            <a:pPr algn="ctr">
              <a:lnSpc>
                <a:spcPct val="130000"/>
              </a:lnSpc>
            </a:pPr>
            <a:r>
              <a:rPr lang="en-US" sz="1200" dirty="0">
                <a:solidFill>
                  <a:srgbClr val="FFFFFF">
                    <a:alpha val="80000"/>
                  </a:srgbClr>
                </a:solidFill>
                <a:latin typeface="MiSans" pitchFamily="34" charset="-122"/>
                <a:ea typeface="MiSans" pitchFamily="34" charset="-122"/>
                <a:cs typeface="MiSans" pitchFamily="34" charset="-120"/>
              </a:rPr>
              <a:t>NPM监测周期</a:t>
            </a:r>
            <a:endParaRPr lang="en-US" sz="1600" dirty="0"/>
          </a:p>
        </p:txBody>
      </p:sp>
      <p:sp>
        <p:nvSpPr>
          <p:cNvPr id="16" name="Shape 12"/>
          <p:cNvSpPr/>
          <p:nvPr/>
        </p:nvSpPr>
        <p:spPr>
          <a:xfrm>
            <a:off x="495300" y="2400179"/>
            <a:ext cx="5410200" cy="1181100"/>
          </a:xfrm>
          <a:custGeom>
            <a:avLst/>
            <a:gdLst/>
            <a:ahLst/>
            <a:cxnLst/>
            <a:rect l="l" t="t" r="r" b="b"/>
            <a:pathLst>
              <a:path w="5410200" h="1181100">
                <a:moveTo>
                  <a:pt x="76205" y="0"/>
                </a:moveTo>
                <a:lnTo>
                  <a:pt x="5333995" y="0"/>
                </a:lnTo>
                <a:cubicBezTo>
                  <a:pt x="5376054" y="0"/>
                  <a:pt x="5410200" y="34146"/>
                  <a:pt x="5410200" y="76205"/>
                </a:cubicBezTo>
                <a:lnTo>
                  <a:pt x="5410200" y="1104895"/>
                </a:lnTo>
                <a:cubicBezTo>
                  <a:pt x="5410200" y="1146982"/>
                  <a:pt x="5376082" y="1181100"/>
                  <a:pt x="5333995" y="1181100"/>
                </a:cubicBezTo>
                <a:lnTo>
                  <a:pt x="76205" y="1181100"/>
                </a:lnTo>
                <a:cubicBezTo>
                  <a:pt x="34146" y="1181100"/>
                  <a:pt x="0" y="1146954"/>
                  <a:pt x="0" y="1104895"/>
                </a:cubicBezTo>
                <a:lnTo>
                  <a:pt x="0" y="76205"/>
                </a:lnTo>
                <a:cubicBezTo>
                  <a:pt x="0" y="34146"/>
                  <a:pt x="34146" y="0"/>
                  <a:pt x="76205" y="0"/>
                </a:cubicBezTo>
                <a:close/>
              </a:path>
            </a:pathLst>
          </a:custGeom>
          <a:solidFill>
            <a:srgbClr val="FFFFFF">
              <a:alpha val="10196"/>
            </a:srgbClr>
          </a:solidFill>
        </p:spPr>
      </p:sp>
      <p:sp>
        <p:nvSpPr>
          <p:cNvPr id="17" name="Text 13"/>
          <p:cNvSpPr/>
          <p:nvPr/>
        </p:nvSpPr>
        <p:spPr>
          <a:xfrm>
            <a:off x="609600" y="2514479"/>
            <a:ext cx="5353050" cy="381000"/>
          </a:xfrm>
          <a:prstGeom prst="rect">
            <a:avLst/>
          </a:prstGeom>
          <a:noFill/>
        </p:spPr>
        <p:txBody>
          <a:bodyPr wrap="square" lIns="0" tIns="0" rIns="0" bIns="0" rtlCol="0" anchor="ctr"/>
          <a:lstStyle/>
          <a:p>
            <a:pPr>
              <a:lnSpc>
                <a:spcPct val="90000"/>
              </a:lnSpc>
            </a:pPr>
            <a:r>
              <a:rPr lang="en-US" sz="2700" b="1" dirty="0">
                <a:solidFill>
                  <a:srgbClr val="FFFFFF"/>
                </a:solidFill>
                <a:latin typeface="MiSans" pitchFamily="34" charset="-122"/>
                <a:ea typeface="MiSans" pitchFamily="34" charset="-122"/>
                <a:cs typeface="MiSans" pitchFamily="34" charset="-120"/>
              </a:rPr>
              <a:t>923,638</a:t>
            </a:r>
            <a:endParaRPr lang="en-US" sz="1600" dirty="0"/>
          </a:p>
        </p:txBody>
      </p:sp>
      <p:sp>
        <p:nvSpPr>
          <p:cNvPr id="18" name="Text 14"/>
          <p:cNvSpPr/>
          <p:nvPr/>
        </p:nvSpPr>
        <p:spPr>
          <a:xfrm>
            <a:off x="609600" y="2933579"/>
            <a:ext cx="5267325" cy="266700"/>
          </a:xfrm>
          <a:prstGeom prst="rect">
            <a:avLst/>
          </a:prstGeom>
          <a:noFill/>
        </p:spPr>
        <p:txBody>
          <a:bodyPr wrap="square" lIns="0" tIns="0" rIns="0" bIns="0" rtlCol="0" anchor="ctr"/>
          <a:lstStyle/>
          <a:p>
            <a:pPr>
              <a:lnSpc>
                <a:spcPct val="130000"/>
              </a:lnSpc>
            </a:pPr>
            <a:r>
              <a:rPr lang="en-US" sz="1350" dirty="0">
                <a:solidFill>
                  <a:srgbClr val="FFFFFF">
                    <a:alpha val="90000"/>
                  </a:srgbClr>
                </a:solidFill>
                <a:latin typeface="MiSans" pitchFamily="34" charset="-122"/>
                <a:ea typeface="MiSans" pitchFamily="34" charset="-122"/>
                <a:cs typeface="MiSans" pitchFamily="34" charset="-120"/>
              </a:rPr>
              <a:t>扫描的新发布包版本总数</a:t>
            </a:r>
            <a:endParaRPr lang="en-US" sz="1600" dirty="0"/>
          </a:p>
        </p:txBody>
      </p:sp>
      <p:sp>
        <p:nvSpPr>
          <p:cNvPr id="19" name="Text 15"/>
          <p:cNvSpPr/>
          <p:nvPr/>
        </p:nvSpPr>
        <p:spPr>
          <a:xfrm>
            <a:off x="609600" y="3238379"/>
            <a:ext cx="2628900" cy="228600"/>
          </a:xfrm>
          <a:prstGeom prst="rect">
            <a:avLst/>
          </a:prstGeom>
          <a:noFill/>
        </p:spPr>
        <p:txBody>
          <a:bodyPr wrap="square" lIns="0" tIns="0" rIns="0" bIns="0" rtlCol="0" anchor="ctr"/>
          <a:lstStyle/>
          <a:p>
            <a:pPr>
              <a:lnSpc>
                <a:spcPct val="130000"/>
              </a:lnSpc>
            </a:pPr>
            <a:r>
              <a:rPr lang="en-US" sz="1200" dirty="0">
                <a:solidFill>
                  <a:srgbClr val="FFFFFF"/>
                </a:solidFill>
                <a:latin typeface="MiSans" pitchFamily="34" charset="-122"/>
                <a:ea typeface="MiSans" pitchFamily="34" charset="-122"/>
                <a:cs typeface="MiSans" pitchFamily="34" charset="-120"/>
              </a:rPr>
              <a:t>PyPI: 599,493</a:t>
            </a:r>
            <a:endParaRPr lang="en-US" sz="1600" dirty="0"/>
          </a:p>
        </p:txBody>
      </p:sp>
      <p:sp>
        <p:nvSpPr>
          <p:cNvPr id="20" name="Text 16"/>
          <p:cNvSpPr/>
          <p:nvPr/>
        </p:nvSpPr>
        <p:spPr>
          <a:xfrm>
            <a:off x="3238500" y="3238379"/>
            <a:ext cx="2628900" cy="228600"/>
          </a:xfrm>
          <a:prstGeom prst="rect">
            <a:avLst/>
          </a:prstGeom>
          <a:noFill/>
        </p:spPr>
        <p:txBody>
          <a:bodyPr wrap="square" lIns="0" tIns="0" rIns="0" bIns="0" rtlCol="0" anchor="ctr"/>
          <a:lstStyle/>
          <a:p>
            <a:pPr>
              <a:lnSpc>
                <a:spcPct val="130000"/>
              </a:lnSpc>
            </a:pPr>
            <a:r>
              <a:rPr lang="en-US" sz="1200" dirty="0">
                <a:solidFill>
                  <a:srgbClr val="FFFFFF"/>
                </a:solidFill>
                <a:latin typeface="MiSans" pitchFamily="34" charset="-122"/>
                <a:ea typeface="MiSans" pitchFamily="34" charset="-122"/>
                <a:cs typeface="MiSans" pitchFamily="34" charset="-120"/>
              </a:rPr>
              <a:t>NPM: 324,145</a:t>
            </a:r>
            <a:endParaRPr lang="en-US" sz="1600" dirty="0"/>
          </a:p>
        </p:txBody>
      </p:sp>
      <p:sp>
        <p:nvSpPr>
          <p:cNvPr id="21" name="Shape 17"/>
          <p:cNvSpPr/>
          <p:nvPr/>
        </p:nvSpPr>
        <p:spPr>
          <a:xfrm>
            <a:off x="495300" y="3657479"/>
            <a:ext cx="5410200" cy="1181100"/>
          </a:xfrm>
          <a:custGeom>
            <a:avLst/>
            <a:gdLst/>
            <a:ahLst/>
            <a:cxnLst/>
            <a:rect l="l" t="t" r="r" b="b"/>
            <a:pathLst>
              <a:path w="5410200" h="1181100">
                <a:moveTo>
                  <a:pt x="76205" y="0"/>
                </a:moveTo>
                <a:lnTo>
                  <a:pt x="5333995" y="0"/>
                </a:lnTo>
                <a:cubicBezTo>
                  <a:pt x="5376054" y="0"/>
                  <a:pt x="5410200" y="34146"/>
                  <a:pt x="5410200" y="76205"/>
                </a:cubicBezTo>
                <a:lnTo>
                  <a:pt x="5410200" y="1104895"/>
                </a:lnTo>
                <a:cubicBezTo>
                  <a:pt x="5410200" y="1146982"/>
                  <a:pt x="5376082" y="1181100"/>
                  <a:pt x="5333995" y="1181100"/>
                </a:cubicBezTo>
                <a:lnTo>
                  <a:pt x="76205" y="1181100"/>
                </a:lnTo>
                <a:cubicBezTo>
                  <a:pt x="34146" y="1181100"/>
                  <a:pt x="0" y="1146954"/>
                  <a:pt x="0" y="1104895"/>
                </a:cubicBezTo>
                <a:lnTo>
                  <a:pt x="0" y="76205"/>
                </a:lnTo>
                <a:cubicBezTo>
                  <a:pt x="0" y="34146"/>
                  <a:pt x="34146" y="0"/>
                  <a:pt x="76205" y="0"/>
                </a:cubicBezTo>
                <a:close/>
              </a:path>
            </a:pathLst>
          </a:custGeom>
          <a:solidFill>
            <a:srgbClr val="FFFFFF">
              <a:alpha val="10196"/>
            </a:srgbClr>
          </a:solidFill>
        </p:spPr>
      </p:sp>
      <p:sp>
        <p:nvSpPr>
          <p:cNvPr id="22" name="Text 18"/>
          <p:cNvSpPr/>
          <p:nvPr/>
        </p:nvSpPr>
        <p:spPr>
          <a:xfrm>
            <a:off x="609600" y="3771779"/>
            <a:ext cx="5353050" cy="381000"/>
          </a:xfrm>
          <a:prstGeom prst="rect">
            <a:avLst/>
          </a:prstGeom>
          <a:noFill/>
        </p:spPr>
        <p:txBody>
          <a:bodyPr wrap="square" lIns="0" tIns="0" rIns="0" bIns="0" rtlCol="0" anchor="ctr"/>
          <a:lstStyle/>
          <a:p>
            <a:pPr>
              <a:lnSpc>
                <a:spcPct val="90000"/>
              </a:lnSpc>
            </a:pPr>
            <a:r>
              <a:rPr lang="en-US" sz="2700" b="1" dirty="0">
                <a:solidFill>
                  <a:srgbClr val="FFFFFF"/>
                </a:solidFill>
                <a:latin typeface="MiSans" pitchFamily="34" charset="-122"/>
                <a:ea typeface="MiSans" pitchFamily="34" charset="-122"/>
                <a:cs typeface="MiSans" pitchFamily="34" charset="-120"/>
              </a:rPr>
              <a:t>5,976</a:t>
            </a:r>
            <a:endParaRPr lang="en-US" sz="1600" dirty="0"/>
          </a:p>
        </p:txBody>
      </p:sp>
      <p:sp>
        <p:nvSpPr>
          <p:cNvPr id="23" name="Text 19"/>
          <p:cNvSpPr/>
          <p:nvPr/>
        </p:nvSpPr>
        <p:spPr>
          <a:xfrm>
            <a:off x="609600" y="4190879"/>
            <a:ext cx="5267325" cy="266700"/>
          </a:xfrm>
          <a:prstGeom prst="rect">
            <a:avLst/>
          </a:prstGeom>
          <a:noFill/>
        </p:spPr>
        <p:txBody>
          <a:bodyPr wrap="square" lIns="0" tIns="0" rIns="0" bIns="0" rtlCol="0" anchor="ctr"/>
          <a:lstStyle/>
          <a:p>
            <a:pPr>
              <a:lnSpc>
                <a:spcPct val="130000"/>
              </a:lnSpc>
            </a:pPr>
            <a:r>
              <a:rPr lang="en-US" sz="1350" dirty="0">
                <a:solidFill>
                  <a:srgbClr val="FFFFFF">
                    <a:alpha val="90000"/>
                  </a:srgbClr>
                </a:solidFill>
                <a:latin typeface="MiSans" pitchFamily="34" charset="-122"/>
                <a:ea typeface="MiSans" pitchFamily="34" charset="-122"/>
                <a:cs typeface="MiSans" pitchFamily="34" charset="-120"/>
              </a:rPr>
              <a:t>标记的潜在恶意版本</a:t>
            </a:r>
            <a:endParaRPr lang="en-US" sz="1600" dirty="0"/>
          </a:p>
        </p:txBody>
      </p:sp>
      <p:sp>
        <p:nvSpPr>
          <p:cNvPr id="24" name="Text 20"/>
          <p:cNvSpPr/>
          <p:nvPr/>
        </p:nvSpPr>
        <p:spPr>
          <a:xfrm>
            <a:off x="609600" y="4495679"/>
            <a:ext cx="2628900" cy="228600"/>
          </a:xfrm>
          <a:prstGeom prst="rect">
            <a:avLst/>
          </a:prstGeom>
          <a:noFill/>
        </p:spPr>
        <p:txBody>
          <a:bodyPr wrap="square" lIns="0" tIns="0" rIns="0" bIns="0" rtlCol="0" anchor="ctr"/>
          <a:lstStyle/>
          <a:p>
            <a:pPr>
              <a:lnSpc>
                <a:spcPct val="130000"/>
              </a:lnSpc>
            </a:pPr>
            <a:r>
              <a:rPr lang="en-US" sz="1200" dirty="0">
                <a:solidFill>
                  <a:srgbClr val="FFFFFF"/>
                </a:solidFill>
                <a:latin typeface="MiSans" pitchFamily="34" charset="-122"/>
                <a:ea typeface="MiSans" pitchFamily="34" charset="-122"/>
                <a:cs typeface="MiSans" pitchFamily="34" charset="-120"/>
              </a:rPr>
              <a:t>PyPI: 3,746</a:t>
            </a:r>
            <a:endParaRPr lang="en-US" sz="1600" dirty="0"/>
          </a:p>
        </p:txBody>
      </p:sp>
      <p:sp>
        <p:nvSpPr>
          <p:cNvPr id="25" name="Text 21"/>
          <p:cNvSpPr/>
          <p:nvPr/>
        </p:nvSpPr>
        <p:spPr>
          <a:xfrm>
            <a:off x="3238500" y="4495679"/>
            <a:ext cx="2628900" cy="228600"/>
          </a:xfrm>
          <a:prstGeom prst="rect">
            <a:avLst/>
          </a:prstGeom>
          <a:noFill/>
        </p:spPr>
        <p:txBody>
          <a:bodyPr wrap="square" lIns="0" tIns="0" rIns="0" bIns="0" rtlCol="0" anchor="ctr"/>
          <a:lstStyle/>
          <a:p>
            <a:pPr>
              <a:lnSpc>
                <a:spcPct val="130000"/>
              </a:lnSpc>
            </a:pPr>
            <a:r>
              <a:rPr lang="en-US" sz="1200" dirty="0">
                <a:solidFill>
                  <a:srgbClr val="FFFFFF"/>
                </a:solidFill>
                <a:latin typeface="MiSans" pitchFamily="34" charset="-122"/>
                <a:ea typeface="MiSans" pitchFamily="34" charset="-122"/>
                <a:cs typeface="MiSans" pitchFamily="34" charset="-120"/>
              </a:rPr>
              <a:t>NPM: 2,230</a:t>
            </a:r>
            <a:endParaRPr lang="en-US" sz="1600" dirty="0"/>
          </a:p>
        </p:txBody>
      </p:sp>
      <p:sp>
        <p:nvSpPr>
          <p:cNvPr id="26" name="Shape 22"/>
          <p:cNvSpPr/>
          <p:nvPr/>
        </p:nvSpPr>
        <p:spPr>
          <a:xfrm>
            <a:off x="400050" y="2686171"/>
            <a:ext cx="5619750" cy="2990850"/>
          </a:xfrm>
          <a:custGeom>
            <a:avLst/>
            <a:gdLst/>
            <a:ahLst/>
            <a:cxnLst/>
            <a:rect l="l" t="t" r="r" b="b"/>
            <a:pathLst>
              <a:path w="5619750" h="2990850">
                <a:moveTo>
                  <a:pt x="38100" y="0"/>
                </a:moveTo>
                <a:lnTo>
                  <a:pt x="5543543" y="0"/>
                </a:lnTo>
                <a:cubicBezTo>
                  <a:pt x="5585631" y="0"/>
                  <a:pt x="5619750" y="34119"/>
                  <a:pt x="5619750" y="76207"/>
                </a:cubicBezTo>
                <a:lnTo>
                  <a:pt x="5619750" y="2914643"/>
                </a:lnTo>
                <a:cubicBezTo>
                  <a:pt x="5619750" y="2956731"/>
                  <a:pt x="5585631" y="2990850"/>
                  <a:pt x="5543543" y="2990850"/>
                </a:cubicBezTo>
                <a:lnTo>
                  <a:pt x="38100" y="2990850"/>
                </a:lnTo>
                <a:cubicBezTo>
                  <a:pt x="17072" y="2990850"/>
                  <a:pt x="0" y="2973778"/>
                  <a:pt x="0" y="2952750"/>
                </a:cubicBezTo>
                <a:lnTo>
                  <a:pt x="0" y="38100"/>
                </a:lnTo>
                <a:cubicBezTo>
                  <a:pt x="0" y="17072"/>
                  <a:pt x="17072" y="0"/>
                  <a:pt x="38100" y="0"/>
                </a:cubicBezTo>
                <a:close/>
              </a:path>
            </a:pathLst>
          </a:custGeom>
          <a:solidFill>
            <a:srgbClr val="4A4A4A">
              <a:alpha val="5098"/>
            </a:srgbClr>
          </a:solidFill>
        </p:spPr>
      </p:sp>
      <p:sp>
        <p:nvSpPr>
          <p:cNvPr id="27" name="Shape 23"/>
          <p:cNvSpPr/>
          <p:nvPr/>
        </p:nvSpPr>
        <p:spPr>
          <a:xfrm>
            <a:off x="400050" y="2686171"/>
            <a:ext cx="38100" cy="2990850"/>
          </a:xfrm>
          <a:custGeom>
            <a:avLst/>
            <a:gdLst/>
            <a:ahLst/>
            <a:cxnLst/>
            <a:rect l="l" t="t" r="r" b="b"/>
            <a:pathLst>
              <a:path w="38100" h="2990850">
                <a:moveTo>
                  <a:pt x="38100" y="0"/>
                </a:moveTo>
                <a:lnTo>
                  <a:pt x="38100" y="0"/>
                </a:lnTo>
                <a:lnTo>
                  <a:pt x="38100" y="2990850"/>
                </a:lnTo>
                <a:lnTo>
                  <a:pt x="38100" y="2990850"/>
                </a:lnTo>
                <a:cubicBezTo>
                  <a:pt x="17072" y="2990850"/>
                  <a:pt x="0" y="2973778"/>
                  <a:pt x="0" y="2952750"/>
                </a:cubicBezTo>
                <a:lnTo>
                  <a:pt x="0" y="38100"/>
                </a:lnTo>
                <a:cubicBezTo>
                  <a:pt x="0" y="17072"/>
                  <a:pt x="17072" y="0"/>
                  <a:pt x="38100" y="0"/>
                </a:cubicBezTo>
                <a:close/>
              </a:path>
            </a:pathLst>
          </a:custGeom>
          <a:solidFill>
            <a:srgbClr val="4A4A4A"/>
          </a:solidFill>
        </p:spPr>
      </p:sp>
      <p:sp>
        <p:nvSpPr>
          <p:cNvPr id="28" name="Shape 24"/>
          <p:cNvSpPr/>
          <p:nvPr/>
        </p:nvSpPr>
        <p:spPr>
          <a:xfrm>
            <a:off x="535781" y="2848096"/>
            <a:ext cx="214313" cy="171450"/>
          </a:xfrm>
          <a:custGeom>
            <a:avLst/>
            <a:gdLst/>
            <a:ahLst/>
            <a:cxnLst/>
            <a:rect l="l" t="t" r="r" b="b"/>
            <a:pathLst>
              <a:path w="214313" h="171450">
                <a:moveTo>
                  <a:pt x="45541" y="42863"/>
                </a:moveTo>
                <a:cubicBezTo>
                  <a:pt x="45541" y="20685"/>
                  <a:pt x="63547" y="2679"/>
                  <a:pt x="85725" y="2679"/>
                </a:cubicBezTo>
                <a:cubicBezTo>
                  <a:pt x="107903" y="2679"/>
                  <a:pt x="125909" y="20685"/>
                  <a:pt x="125909" y="42862"/>
                </a:cubicBezTo>
                <a:cubicBezTo>
                  <a:pt x="125909" y="65040"/>
                  <a:pt x="107903" y="83046"/>
                  <a:pt x="85725" y="83046"/>
                </a:cubicBezTo>
                <a:cubicBezTo>
                  <a:pt x="63547" y="83046"/>
                  <a:pt x="45541" y="65040"/>
                  <a:pt x="45541" y="42863"/>
                </a:cubicBezTo>
                <a:close/>
                <a:moveTo>
                  <a:pt x="16073" y="161505"/>
                </a:moveTo>
                <a:cubicBezTo>
                  <a:pt x="16073" y="128521"/>
                  <a:pt x="42796" y="101798"/>
                  <a:pt x="75780" y="101798"/>
                </a:cubicBezTo>
                <a:lnTo>
                  <a:pt x="95670" y="101798"/>
                </a:lnTo>
                <a:cubicBezTo>
                  <a:pt x="128654" y="101798"/>
                  <a:pt x="155377" y="128521"/>
                  <a:pt x="155377" y="161505"/>
                </a:cubicBezTo>
                <a:cubicBezTo>
                  <a:pt x="155377" y="166996"/>
                  <a:pt x="150923" y="171450"/>
                  <a:pt x="145431" y="171450"/>
                </a:cubicBezTo>
                <a:lnTo>
                  <a:pt x="26019" y="171450"/>
                </a:lnTo>
                <a:cubicBezTo>
                  <a:pt x="20527" y="171450"/>
                  <a:pt x="16073" y="166996"/>
                  <a:pt x="16073" y="161505"/>
                </a:cubicBezTo>
                <a:close/>
                <a:moveTo>
                  <a:pt x="205070" y="44436"/>
                </a:moveTo>
                <a:lnTo>
                  <a:pt x="178281" y="87299"/>
                </a:lnTo>
                <a:cubicBezTo>
                  <a:pt x="176875" y="89542"/>
                  <a:pt x="174464" y="90949"/>
                  <a:pt x="171818" y="91083"/>
                </a:cubicBezTo>
                <a:cubicBezTo>
                  <a:pt x="169173" y="91217"/>
                  <a:pt x="166628" y="90011"/>
                  <a:pt x="165054" y="87868"/>
                </a:cubicBezTo>
                <a:lnTo>
                  <a:pt x="148981" y="66437"/>
                </a:lnTo>
                <a:cubicBezTo>
                  <a:pt x="146302" y="62887"/>
                  <a:pt x="147038" y="57864"/>
                  <a:pt x="150588" y="55185"/>
                </a:cubicBezTo>
                <a:cubicBezTo>
                  <a:pt x="154138" y="52507"/>
                  <a:pt x="159161" y="53243"/>
                  <a:pt x="161839" y="56793"/>
                </a:cubicBezTo>
                <a:lnTo>
                  <a:pt x="170881" y="68848"/>
                </a:lnTo>
                <a:lnTo>
                  <a:pt x="191441" y="35931"/>
                </a:lnTo>
                <a:cubicBezTo>
                  <a:pt x="193785" y="32180"/>
                  <a:pt x="198741" y="31008"/>
                  <a:pt x="202525" y="33386"/>
                </a:cubicBezTo>
                <a:cubicBezTo>
                  <a:pt x="206309" y="35763"/>
                  <a:pt x="207448" y="40686"/>
                  <a:pt x="205070" y="44470"/>
                </a:cubicBezTo>
                <a:close/>
              </a:path>
            </a:pathLst>
          </a:custGeom>
          <a:solidFill>
            <a:srgbClr val="4A4A4A"/>
          </a:solidFill>
        </p:spPr>
      </p:sp>
      <p:sp>
        <p:nvSpPr>
          <p:cNvPr id="29" name="Text 25"/>
          <p:cNvSpPr/>
          <p:nvPr/>
        </p:nvSpPr>
        <p:spPr>
          <a:xfrm>
            <a:off x="752475" y="2800471"/>
            <a:ext cx="5238750"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人工验证与官方确认</a:t>
            </a:r>
            <a:endParaRPr lang="en-US" sz="1600" dirty="0"/>
          </a:p>
        </p:txBody>
      </p:sp>
      <p:sp>
        <p:nvSpPr>
          <p:cNvPr id="30" name="Shape 26"/>
          <p:cNvSpPr/>
          <p:nvPr/>
        </p:nvSpPr>
        <p:spPr>
          <a:xfrm>
            <a:off x="533400" y="3143371"/>
            <a:ext cx="5372100" cy="2419350"/>
          </a:xfrm>
          <a:custGeom>
            <a:avLst/>
            <a:gdLst/>
            <a:ahLst/>
            <a:cxnLst/>
            <a:rect l="l" t="t" r="r" b="b"/>
            <a:pathLst>
              <a:path w="5372100" h="2419350">
                <a:moveTo>
                  <a:pt x="76210" y="0"/>
                </a:moveTo>
                <a:lnTo>
                  <a:pt x="5295890" y="0"/>
                </a:lnTo>
                <a:cubicBezTo>
                  <a:pt x="5337980" y="0"/>
                  <a:pt x="5372100" y="34120"/>
                  <a:pt x="5372100" y="76210"/>
                </a:cubicBezTo>
                <a:lnTo>
                  <a:pt x="5372100" y="2343140"/>
                </a:lnTo>
                <a:cubicBezTo>
                  <a:pt x="5372100" y="2385230"/>
                  <a:pt x="5337980" y="2419350"/>
                  <a:pt x="5295890" y="2419350"/>
                </a:cubicBezTo>
                <a:lnTo>
                  <a:pt x="76210" y="2419350"/>
                </a:lnTo>
                <a:cubicBezTo>
                  <a:pt x="34120" y="2419350"/>
                  <a:pt x="0" y="2385230"/>
                  <a:pt x="0" y="2343140"/>
                </a:cubicBezTo>
                <a:lnTo>
                  <a:pt x="0" y="76210"/>
                </a:lnTo>
                <a:cubicBezTo>
                  <a:pt x="0" y="34148"/>
                  <a:pt x="34148" y="0"/>
                  <a:pt x="76210" y="0"/>
                </a:cubicBezTo>
                <a:close/>
              </a:path>
            </a:pathLst>
          </a:custGeom>
          <a:solidFill>
            <a:srgbClr val="FFFFFF"/>
          </a:solidFill>
          <a:effectLst>
            <a:outerShdw blurRad="28575" dist="9525" dir="5400000" algn="bl" rotWithShape="0">
              <a:srgbClr val="000000">
                <a:alpha val="10196"/>
              </a:srgbClr>
            </a:outerShdw>
          </a:effectLst>
        </p:spPr>
      </p:sp>
      <p:sp>
        <p:nvSpPr>
          <p:cNvPr id="31" name="Text 27"/>
          <p:cNvSpPr/>
          <p:nvPr/>
        </p:nvSpPr>
        <p:spPr>
          <a:xfrm>
            <a:off x="647700" y="3295650"/>
            <a:ext cx="129540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最终确认的恶意包</a:t>
            </a:r>
            <a:endParaRPr lang="en-US" sz="1600" dirty="0"/>
          </a:p>
        </p:txBody>
      </p:sp>
      <p:sp>
        <p:nvSpPr>
          <p:cNvPr id="32" name="Text 28"/>
          <p:cNvSpPr/>
          <p:nvPr/>
        </p:nvSpPr>
        <p:spPr>
          <a:xfrm>
            <a:off x="5010031" y="3257671"/>
            <a:ext cx="895350" cy="304800"/>
          </a:xfrm>
          <a:prstGeom prst="rect">
            <a:avLst/>
          </a:prstGeom>
          <a:noFill/>
        </p:spPr>
        <p:txBody>
          <a:bodyPr wrap="square" lIns="0" tIns="0" rIns="0" bIns="0" rtlCol="0" anchor="ctr"/>
          <a:lstStyle/>
          <a:p>
            <a:pPr>
              <a:lnSpc>
                <a:spcPct val="110000"/>
              </a:lnSpc>
            </a:pPr>
            <a:r>
              <a:rPr lang="en-US" sz="1800" b="1" dirty="0">
                <a:solidFill>
                  <a:srgbClr val="4A4A4A"/>
                </a:solidFill>
                <a:latin typeface="MiSans" pitchFamily="34" charset="-122"/>
                <a:ea typeface="MiSans" pitchFamily="34" charset="-122"/>
                <a:cs typeface="MiSans" pitchFamily="34" charset="-120"/>
              </a:rPr>
              <a:t>1,482个</a:t>
            </a:r>
            <a:endParaRPr lang="en-US" sz="1600" dirty="0"/>
          </a:p>
        </p:txBody>
      </p:sp>
      <p:sp>
        <p:nvSpPr>
          <p:cNvPr id="33" name="Shape 29"/>
          <p:cNvSpPr/>
          <p:nvPr/>
        </p:nvSpPr>
        <p:spPr>
          <a:xfrm>
            <a:off x="647700" y="3638550"/>
            <a:ext cx="2533650" cy="571500"/>
          </a:xfrm>
          <a:custGeom>
            <a:avLst/>
            <a:gdLst/>
            <a:ahLst/>
            <a:cxnLst/>
            <a:rect l="l" t="t" r="r" b="b"/>
            <a:pathLst>
              <a:path w="2533650" h="571500">
                <a:moveTo>
                  <a:pt x="38102" y="0"/>
                </a:moveTo>
                <a:lnTo>
                  <a:pt x="2495548" y="0"/>
                </a:lnTo>
                <a:cubicBezTo>
                  <a:pt x="2516591" y="0"/>
                  <a:pt x="2533650" y="17059"/>
                  <a:pt x="2533650" y="38102"/>
                </a:cubicBezTo>
                <a:lnTo>
                  <a:pt x="2533650" y="533398"/>
                </a:lnTo>
                <a:cubicBezTo>
                  <a:pt x="2533650" y="554441"/>
                  <a:pt x="2516591" y="571500"/>
                  <a:pt x="2495548" y="571500"/>
                </a:cubicBezTo>
                <a:lnTo>
                  <a:pt x="38102" y="571500"/>
                </a:lnTo>
                <a:cubicBezTo>
                  <a:pt x="17059" y="571500"/>
                  <a:pt x="0" y="554441"/>
                  <a:pt x="0" y="533398"/>
                </a:cubicBezTo>
                <a:lnTo>
                  <a:pt x="0" y="38102"/>
                </a:lnTo>
                <a:cubicBezTo>
                  <a:pt x="0" y="17073"/>
                  <a:pt x="17073" y="0"/>
                  <a:pt x="38102" y="0"/>
                </a:cubicBezTo>
                <a:close/>
              </a:path>
            </a:pathLst>
          </a:custGeom>
          <a:solidFill>
            <a:srgbClr val="4A4A4A">
              <a:alpha val="10196"/>
            </a:srgbClr>
          </a:solidFill>
        </p:spPr>
      </p:sp>
      <p:sp>
        <p:nvSpPr>
          <p:cNvPr id="34" name="Text 30"/>
          <p:cNvSpPr/>
          <p:nvPr/>
        </p:nvSpPr>
        <p:spPr>
          <a:xfrm>
            <a:off x="685800" y="3714750"/>
            <a:ext cx="2457450" cy="228600"/>
          </a:xfrm>
          <a:prstGeom prst="rect">
            <a:avLst/>
          </a:prstGeom>
          <a:noFill/>
        </p:spPr>
        <p:txBody>
          <a:bodyPr wrap="square" lIns="0" tIns="0" rIns="0" bIns="0" rtlCol="0" anchor="ctr"/>
          <a:lstStyle/>
          <a:p>
            <a:pPr algn="ctr">
              <a:lnSpc>
                <a:spcPct val="130000"/>
              </a:lnSpc>
            </a:pPr>
            <a:r>
              <a:rPr lang="en-US" sz="1200" b="1" dirty="0">
                <a:solidFill>
                  <a:srgbClr val="4A4A4A"/>
                </a:solidFill>
                <a:latin typeface="MiSans" pitchFamily="34" charset="-122"/>
                <a:ea typeface="MiSans" pitchFamily="34" charset="-122"/>
                <a:cs typeface="MiSans" pitchFamily="34" charset="-120"/>
              </a:rPr>
              <a:t>683</a:t>
            </a:r>
            <a:endParaRPr lang="en-US" sz="1600" dirty="0"/>
          </a:p>
        </p:txBody>
      </p:sp>
      <p:sp>
        <p:nvSpPr>
          <p:cNvPr id="35" name="Text 31"/>
          <p:cNvSpPr/>
          <p:nvPr/>
        </p:nvSpPr>
        <p:spPr>
          <a:xfrm>
            <a:off x="690563" y="3943350"/>
            <a:ext cx="2447925" cy="190500"/>
          </a:xfrm>
          <a:prstGeom prst="rect">
            <a:avLst/>
          </a:prstGeom>
          <a:noFill/>
        </p:spPr>
        <p:txBody>
          <a:bodyPr wrap="square" lIns="0" tIns="0" rIns="0" bIns="0" rtlCol="0" anchor="ctr"/>
          <a:lstStyle/>
          <a:p>
            <a:pPr algn="ctr">
              <a:lnSpc>
                <a:spcPct val="120000"/>
              </a:lnSpc>
            </a:pPr>
            <a:r>
              <a:rPr lang="en-US" sz="1050" dirty="0">
                <a:solidFill>
                  <a:srgbClr val="808080"/>
                </a:solidFill>
                <a:latin typeface="MiSans" pitchFamily="34" charset="-122"/>
                <a:ea typeface="MiSans" pitchFamily="34" charset="-122"/>
                <a:cs typeface="MiSans" pitchFamily="34" charset="-120"/>
              </a:rPr>
              <a:t>PyPI</a:t>
            </a:r>
            <a:endParaRPr lang="en-US" sz="1600" dirty="0"/>
          </a:p>
        </p:txBody>
      </p:sp>
      <p:sp>
        <p:nvSpPr>
          <p:cNvPr id="36" name="Shape 32"/>
          <p:cNvSpPr/>
          <p:nvPr/>
        </p:nvSpPr>
        <p:spPr>
          <a:xfrm>
            <a:off x="3257550" y="3638550"/>
            <a:ext cx="2533650" cy="571500"/>
          </a:xfrm>
          <a:custGeom>
            <a:avLst/>
            <a:gdLst/>
            <a:ahLst/>
            <a:cxnLst/>
            <a:rect l="l" t="t" r="r" b="b"/>
            <a:pathLst>
              <a:path w="2533650" h="571500">
                <a:moveTo>
                  <a:pt x="38102" y="0"/>
                </a:moveTo>
                <a:lnTo>
                  <a:pt x="2495548" y="0"/>
                </a:lnTo>
                <a:cubicBezTo>
                  <a:pt x="2516591" y="0"/>
                  <a:pt x="2533650" y="17059"/>
                  <a:pt x="2533650" y="38102"/>
                </a:cubicBezTo>
                <a:lnTo>
                  <a:pt x="2533650" y="533398"/>
                </a:lnTo>
                <a:cubicBezTo>
                  <a:pt x="2533650" y="554441"/>
                  <a:pt x="2516591" y="571500"/>
                  <a:pt x="2495548" y="571500"/>
                </a:cubicBezTo>
                <a:lnTo>
                  <a:pt x="38102" y="571500"/>
                </a:lnTo>
                <a:cubicBezTo>
                  <a:pt x="17059" y="571500"/>
                  <a:pt x="0" y="554441"/>
                  <a:pt x="0" y="533398"/>
                </a:cubicBezTo>
                <a:lnTo>
                  <a:pt x="0" y="38102"/>
                </a:lnTo>
                <a:cubicBezTo>
                  <a:pt x="0" y="17073"/>
                  <a:pt x="17073" y="0"/>
                  <a:pt x="38102" y="0"/>
                </a:cubicBezTo>
                <a:close/>
              </a:path>
            </a:pathLst>
          </a:custGeom>
          <a:solidFill>
            <a:srgbClr val="4A4A4A">
              <a:alpha val="10196"/>
            </a:srgbClr>
          </a:solidFill>
        </p:spPr>
      </p:sp>
      <p:sp>
        <p:nvSpPr>
          <p:cNvPr id="37" name="Text 33"/>
          <p:cNvSpPr/>
          <p:nvPr/>
        </p:nvSpPr>
        <p:spPr>
          <a:xfrm>
            <a:off x="3295650" y="3714750"/>
            <a:ext cx="2457450" cy="228600"/>
          </a:xfrm>
          <a:prstGeom prst="rect">
            <a:avLst/>
          </a:prstGeom>
          <a:noFill/>
        </p:spPr>
        <p:txBody>
          <a:bodyPr wrap="square" lIns="0" tIns="0" rIns="0" bIns="0" rtlCol="0" anchor="ctr"/>
          <a:lstStyle/>
          <a:p>
            <a:pPr algn="ctr">
              <a:lnSpc>
                <a:spcPct val="130000"/>
              </a:lnSpc>
            </a:pPr>
            <a:r>
              <a:rPr lang="en-US" sz="1200" b="1" dirty="0">
                <a:solidFill>
                  <a:srgbClr val="4A4A4A"/>
                </a:solidFill>
                <a:latin typeface="MiSans" pitchFamily="34" charset="-122"/>
                <a:ea typeface="MiSans" pitchFamily="34" charset="-122"/>
                <a:cs typeface="MiSans" pitchFamily="34" charset="-120"/>
              </a:rPr>
              <a:t>799</a:t>
            </a:r>
            <a:endParaRPr lang="en-US" sz="1600" dirty="0"/>
          </a:p>
        </p:txBody>
      </p:sp>
      <p:sp>
        <p:nvSpPr>
          <p:cNvPr id="38" name="Text 34"/>
          <p:cNvSpPr/>
          <p:nvPr/>
        </p:nvSpPr>
        <p:spPr>
          <a:xfrm>
            <a:off x="3300413" y="3943350"/>
            <a:ext cx="2447925" cy="190500"/>
          </a:xfrm>
          <a:prstGeom prst="rect">
            <a:avLst/>
          </a:prstGeom>
          <a:noFill/>
        </p:spPr>
        <p:txBody>
          <a:bodyPr wrap="square" lIns="0" tIns="0" rIns="0" bIns="0" rtlCol="0" anchor="ctr"/>
          <a:lstStyle/>
          <a:p>
            <a:pPr algn="ctr">
              <a:lnSpc>
                <a:spcPct val="120000"/>
              </a:lnSpc>
            </a:pPr>
            <a:r>
              <a:rPr lang="en-US" sz="1050" dirty="0">
                <a:solidFill>
                  <a:srgbClr val="808080"/>
                </a:solidFill>
                <a:latin typeface="MiSans" pitchFamily="34" charset="-122"/>
                <a:ea typeface="MiSans" pitchFamily="34" charset="-122"/>
                <a:cs typeface="MiSans" pitchFamily="34" charset="-120"/>
              </a:rPr>
              <a:t>NPM</a:t>
            </a:r>
            <a:endParaRPr lang="en-US" sz="1600" dirty="0"/>
          </a:p>
        </p:txBody>
      </p:sp>
      <p:sp>
        <p:nvSpPr>
          <p:cNvPr id="39" name="Shape 35"/>
          <p:cNvSpPr/>
          <p:nvPr/>
        </p:nvSpPr>
        <p:spPr>
          <a:xfrm>
            <a:off x="647700" y="4286250"/>
            <a:ext cx="5143500" cy="361950"/>
          </a:xfrm>
          <a:custGeom>
            <a:avLst/>
            <a:gdLst/>
            <a:ahLst/>
            <a:cxnLst/>
            <a:rect l="l" t="t" r="r" b="b"/>
            <a:pathLst>
              <a:path w="5143500" h="361950">
                <a:moveTo>
                  <a:pt x="38099" y="0"/>
                </a:moveTo>
                <a:lnTo>
                  <a:pt x="5105401" y="0"/>
                </a:lnTo>
                <a:cubicBezTo>
                  <a:pt x="5126428" y="0"/>
                  <a:pt x="5143500" y="17072"/>
                  <a:pt x="5143500" y="38099"/>
                </a:cubicBezTo>
                <a:lnTo>
                  <a:pt x="5143500" y="323851"/>
                </a:lnTo>
                <a:cubicBezTo>
                  <a:pt x="5143500" y="344878"/>
                  <a:pt x="5126428" y="361950"/>
                  <a:pt x="5105401" y="361950"/>
                </a:cubicBezTo>
                <a:lnTo>
                  <a:pt x="38099" y="361950"/>
                </a:lnTo>
                <a:cubicBezTo>
                  <a:pt x="17072" y="361950"/>
                  <a:pt x="0" y="344878"/>
                  <a:pt x="0" y="323851"/>
                </a:cubicBezTo>
                <a:lnTo>
                  <a:pt x="0" y="38099"/>
                </a:lnTo>
                <a:cubicBezTo>
                  <a:pt x="0" y="17072"/>
                  <a:pt x="17072" y="0"/>
                  <a:pt x="38099" y="0"/>
                </a:cubicBezTo>
                <a:close/>
              </a:path>
            </a:pathLst>
          </a:custGeom>
          <a:solidFill>
            <a:srgbClr val="4A4A4A">
              <a:alpha val="10196"/>
            </a:srgbClr>
          </a:solidFill>
        </p:spPr>
      </p:sp>
      <p:sp>
        <p:nvSpPr>
          <p:cNvPr id="40" name="Shape 36"/>
          <p:cNvSpPr/>
          <p:nvPr/>
        </p:nvSpPr>
        <p:spPr>
          <a:xfrm>
            <a:off x="762000" y="4385304"/>
            <a:ext cx="114300" cy="152400"/>
          </a:xfrm>
          <a:custGeom>
            <a:avLst/>
            <a:gdLst/>
            <a:ahLst/>
            <a:cxnLst/>
            <a:rect l="l" t="t" r="r" b="b"/>
            <a:pathLst>
              <a:path w="114300" h="152400">
                <a:moveTo>
                  <a:pt x="74384" y="19883"/>
                </a:moveTo>
                <a:cubicBezTo>
                  <a:pt x="77480" y="15627"/>
                  <a:pt x="76527" y="9674"/>
                  <a:pt x="72271" y="6578"/>
                </a:cubicBezTo>
                <a:cubicBezTo>
                  <a:pt x="68014" y="3483"/>
                  <a:pt x="62061" y="4435"/>
                  <a:pt x="58966" y="8692"/>
                </a:cubicBezTo>
                <a:lnTo>
                  <a:pt x="27414" y="52060"/>
                </a:lnTo>
                <a:lnTo>
                  <a:pt x="16252" y="40898"/>
                </a:lnTo>
                <a:cubicBezTo>
                  <a:pt x="12531" y="37177"/>
                  <a:pt x="6489" y="37177"/>
                  <a:pt x="2768" y="40898"/>
                </a:cubicBezTo>
                <a:cubicBezTo>
                  <a:pt x="-952" y="44619"/>
                  <a:pt x="-952" y="50661"/>
                  <a:pt x="2768" y="54382"/>
                </a:cubicBezTo>
                <a:lnTo>
                  <a:pt x="21818" y="73432"/>
                </a:lnTo>
                <a:cubicBezTo>
                  <a:pt x="23783" y="75396"/>
                  <a:pt x="26521" y="76408"/>
                  <a:pt x="29289" y="76200"/>
                </a:cubicBezTo>
                <a:cubicBezTo>
                  <a:pt x="32058" y="75992"/>
                  <a:pt x="34617" y="74563"/>
                  <a:pt x="36255" y="72301"/>
                </a:cubicBezTo>
                <a:lnTo>
                  <a:pt x="74355" y="19913"/>
                </a:lnTo>
                <a:close/>
                <a:moveTo>
                  <a:pt x="112484" y="60365"/>
                </a:moveTo>
                <a:cubicBezTo>
                  <a:pt x="115580" y="56108"/>
                  <a:pt x="114627" y="50155"/>
                  <a:pt x="110371" y="47059"/>
                </a:cubicBezTo>
                <a:cubicBezTo>
                  <a:pt x="106114" y="43964"/>
                  <a:pt x="100161" y="44916"/>
                  <a:pt x="97066" y="49173"/>
                </a:cubicBezTo>
                <a:lnTo>
                  <a:pt x="46464" y="118735"/>
                </a:lnTo>
                <a:lnTo>
                  <a:pt x="25777" y="98048"/>
                </a:lnTo>
                <a:cubicBezTo>
                  <a:pt x="22056" y="94327"/>
                  <a:pt x="16014" y="94327"/>
                  <a:pt x="12293" y="98048"/>
                </a:cubicBezTo>
                <a:cubicBezTo>
                  <a:pt x="8572" y="101769"/>
                  <a:pt x="8572" y="107811"/>
                  <a:pt x="12293" y="111532"/>
                </a:cubicBezTo>
                <a:lnTo>
                  <a:pt x="40868" y="140107"/>
                </a:lnTo>
                <a:cubicBezTo>
                  <a:pt x="42833" y="142071"/>
                  <a:pt x="45571" y="143083"/>
                  <a:pt x="48339" y="142875"/>
                </a:cubicBezTo>
                <a:cubicBezTo>
                  <a:pt x="51108" y="142667"/>
                  <a:pt x="53667" y="141238"/>
                  <a:pt x="55305" y="138976"/>
                </a:cubicBezTo>
                <a:lnTo>
                  <a:pt x="112455" y="60394"/>
                </a:lnTo>
                <a:close/>
              </a:path>
            </a:pathLst>
          </a:custGeom>
          <a:solidFill>
            <a:srgbClr val="4A4A4A"/>
          </a:solidFill>
        </p:spPr>
      </p:sp>
      <p:sp>
        <p:nvSpPr>
          <p:cNvPr id="41" name="Text 37"/>
          <p:cNvSpPr/>
          <p:nvPr/>
        </p:nvSpPr>
        <p:spPr>
          <a:xfrm>
            <a:off x="971550" y="4362450"/>
            <a:ext cx="4819650" cy="209550"/>
          </a:xfrm>
          <a:prstGeom prst="rect">
            <a:avLst/>
          </a:prstGeom>
          <a:noFill/>
        </p:spPr>
        <p:txBody>
          <a:bodyPr wrap="square" lIns="0" tIns="0" rIns="0" bIns="0" rtlCol="0" anchor="ctr"/>
          <a:lstStyle/>
          <a:p>
            <a:pPr>
              <a:lnSpc>
                <a:spcPct val="110000"/>
              </a:lnSpc>
            </a:pPr>
            <a:r>
              <a:rPr lang="en-US" sz="1200" dirty="0">
                <a:solidFill>
                  <a:srgbClr val="4A4A4A"/>
                </a:solidFill>
                <a:latin typeface="MiSans" pitchFamily="34" charset="-122"/>
                <a:ea typeface="MiSans" pitchFamily="34" charset="-122"/>
                <a:cs typeface="MiSans" pitchFamily="34" charset="-120"/>
              </a:rPr>
              <a:t>全部被官方采纳并移除</a:t>
            </a:r>
            <a:endParaRPr lang="en-US" sz="1600" dirty="0"/>
          </a:p>
        </p:txBody>
      </p:sp>
      <p:sp>
        <p:nvSpPr>
          <p:cNvPr id="42" name="Shape 38"/>
          <p:cNvSpPr/>
          <p:nvPr/>
        </p:nvSpPr>
        <p:spPr>
          <a:xfrm>
            <a:off x="647700" y="4724400"/>
            <a:ext cx="5143500" cy="723900"/>
          </a:xfrm>
          <a:custGeom>
            <a:avLst/>
            <a:gdLst/>
            <a:ahLst/>
            <a:cxnLst/>
            <a:rect l="l" t="t" r="r" b="b"/>
            <a:pathLst>
              <a:path w="5143500" h="723900">
                <a:moveTo>
                  <a:pt x="38099" y="0"/>
                </a:moveTo>
                <a:lnTo>
                  <a:pt x="5105401" y="0"/>
                </a:lnTo>
                <a:cubicBezTo>
                  <a:pt x="5126428" y="0"/>
                  <a:pt x="5143500" y="17072"/>
                  <a:pt x="5143500" y="38099"/>
                </a:cubicBezTo>
                <a:lnTo>
                  <a:pt x="5143500" y="685801"/>
                </a:lnTo>
                <a:cubicBezTo>
                  <a:pt x="5143500" y="706828"/>
                  <a:pt x="5126428" y="723900"/>
                  <a:pt x="5105401" y="723900"/>
                </a:cubicBezTo>
                <a:lnTo>
                  <a:pt x="38099" y="723900"/>
                </a:lnTo>
                <a:cubicBezTo>
                  <a:pt x="17072" y="723900"/>
                  <a:pt x="0" y="706828"/>
                  <a:pt x="0" y="685801"/>
                </a:cubicBezTo>
                <a:lnTo>
                  <a:pt x="0" y="38099"/>
                </a:lnTo>
                <a:cubicBezTo>
                  <a:pt x="0" y="17072"/>
                  <a:pt x="17072" y="0"/>
                  <a:pt x="38099" y="0"/>
                </a:cubicBezTo>
                <a:close/>
              </a:path>
            </a:pathLst>
          </a:custGeom>
          <a:gradFill flip="none" rotWithShape="1">
            <a:gsLst>
              <a:gs pos="0">
                <a:srgbClr val="4A4A4A"/>
              </a:gs>
              <a:gs pos="100000">
                <a:srgbClr val="808080"/>
              </a:gs>
            </a:gsLst>
            <a:lin ang="0" scaled="1"/>
          </a:gradFill>
        </p:spPr>
      </p:sp>
      <p:sp>
        <p:nvSpPr>
          <p:cNvPr id="43" name="Text 39"/>
          <p:cNvSpPr/>
          <p:nvPr/>
        </p:nvSpPr>
        <p:spPr>
          <a:xfrm>
            <a:off x="652463" y="4800600"/>
            <a:ext cx="5133975" cy="342900"/>
          </a:xfrm>
          <a:prstGeom prst="rect">
            <a:avLst/>
          </a:prstGeom>
          <a:noFill/>
        </p:spPr>
        <p:txBody>
          <a:bodyPr wrap="square" lIns="0" tIns="0" rIns="0" bIns="0" rtlCol="0" anchor="ctr"/>
          <a:lstStyle/>
          <a:p>
            <a:pPr algn="ctr">
              <a:lnSpc>
                <a:spcPct val="100000"/>
              </a:lnSpc>
            </a:pPr>
            <a:r>
              <a:rPr lang="en-US" sz="2250" b="1" dirty="0">
                <a:solidFill>
                  <a:srgbClr val="FFFFFF"/>
                </a:solidFill>
                <a:latin typeface="MiSans" pitchFamily="34" charset="-122"/>
                <a:ea typeface="MiSans" pitchFamily="34" charset="-122"/>
                <a:cs typeface="MiSans" pitchFamily="34" charset="-120"/>
              </a:rPr>
              <a:t>707</a:t>
            </a:r>
            <a:endParaRPr lang="en-US" sz="1600" dirty="0"/>
          </a:p>
        </p:txBody>
      </p:sp>
      <p:sp>
        <p:nvSpPr>
          <p:cNvPr id="44" name="Text 40"/>
          <p:cNvSpPr/>
          <p:nvPr/>
        </p:nvSpPr>
        <p:spPr>
          <a:xfrm>
            <a:off x="685800" y="5143500"/>
            <a:ext cx="5067300" cy="228600"/>
          </a:xfrm>
          <a:prstGeom prst="rect">
            <a:avLst/>
          </a:prstGeom>
          <a:noFill/>
        </p:spPr>
        <p:txBody>
          <a:bodyPr wrap="square" lIns="0" tIns="0" rIns="0" bIns="0" rtlCol="0" anchor="ctr"/>
          <a:lstStyle/>
          <a:p>
            <a:pPr algn="ctr">
              <a:lnSpc>
                <a:spcPct val="130000"/>
              </a:lnSpc>
            </a:pPr>
            <a:r>
              <a:rPr lang="en-US" sz="1200" dirty="0">
                <a:solidFill>
                  <a:srgbClr val="FFFFFF"/>
                </a:solidFill>
                <a:latin typeface="MiSans" pitchFamily="34" charset="-122"/>
                <a:ea typeface="MiSans" pitchFamily="34" charset="-122"/>
                <a:cs typeface="MiSans" pitchFamily="34" charset="-120"/>
              </a:rPr>
              <a:t>收到官方感谢信</a:t>
            </a:r>
            <a:endParaRPr lang="en-US" sz="1600" dirty="0"/>
          </a:p>
        </p:txBody>
      </p:sp>
      <p:sp>
        <p:nvSpPr>
          <p:cNvPr id="45" name="Shape 41"/>
          <p:cNvSpPr/>
          <p:nvPr/>
        </p:nvSpPr>
        <p:spPr>
          <a:xfrm>
            <a:off x="6191250" y="1181100"/>
            <a:ext cx="5619750" cy="2190750"/>
          </a:xfrm>
          <a:custGeom>
            <a:avLst/>
            <a:gdLst/>
            <a:ahLst/>
            <a:cxnLst/>
            <a:rect l="l" t="t" r="r" b="b"/>
            <a:pathLst>
              <a:path w="5619750" h="2190750">
                <a:moveTo>
                  <a:pt x="38100" y="0"/>
                </a:moveTo>
                <a:lnTo>
                  <a:pt x="5543556" y="0"/>
                </a:lnTo>
                <a:cubicBezTo>
                  <a:pt x="5585608" y="0"/>
                  <a:pt x="5619750" y="34142"/>
                  <a:pt x="5619750" y="76194"/>
                </a:cubicBezTo>
                <a:lnTo>
                  <a:pt x="5619750" y="2114556"/>
                </a:lnTo>
                <a:cubicBezTo>
                  <a:pt x="5619750" y="2156637"/>
                  <a:pt x="5585637" y="2190750"/>
                  <a:pt x="5543556" y="2190750"/>
                </a:cubicBezTo>
                <a:lnTo>
                  <a:pt x="38100" y="2190750"/>
                </a:lnTo>
                <a:cubicBezTo>
                  <a:pt x="17072" y="2190750"/>
                  <a:pt x="0" y="2173678"/>
                  <a:pt x="0" y="2152650"/>
                </a:cubicBezTo>
                <a:lnTo>
                  <a:pt x="0" y="38100"/>
                </a:lnTo>
                <a:cubicBezTo>
                  <a:pt x="0" y="17072"/>
                  <a:pt x="17072" y="0"/>
                  <a:pt x="38100" y="0"/>
                </a:cubicBezTo>
                <a:close/>
              </a:path>
            </a:pathLst>
          </a:custGeom>
          <a:solidFill>
            <a:srgbClr val="808080">
              <a:alpha val="10196"/>
            </a:srgbClr>
          </a:solidFill>
        </p:spPr>
      </p:sp>
      <p:sp>
        <p:nvSpPr>
          <p:cNvPr id="46" name="Shape 42"/>
          <p:cNvSpPr/>
          <p:nvPr/>
        </p:nvSpPr>
        <p:spPr>
          <a:xfrm>
            <a:off x="6191250" y="1181100"/>
            <a:ext cx="38100" cy="2190750"/>
          </a:xfrm>
          <a:custGeom>
            <a:avLst/>
            <a:gdLst/>
            <a:ahLst/>
            <a:cxnLst/>
            <a:rect l="l" t="t" r="r" b="b"/>
            <a:pathLst>
              <a:path w="38100" h="2190750">
                <a:moveTo>
                  <a:pt x="38100" y="0"/>
                </a:moveTo>
                <a:lnTo>
                  <a:pt x="38100" y="0"/>
                </a:lnTo>
                <a:lnTo>
                  <a:pt x="38100" y="2190750"/>
                </a:lnTo>
                <a:lnTo>
                  <a:pt x="38100" y="2190750"/>
                </a:lnTo>
                <a:cubicBezTo>
                  <a:pt x="17072" y="2190750"/>
                  <a:pt x="0" y="2173678"/>
                  <a:pt x="0" y="2152650"/>
                </a:cubicBezTo>
                <a:lnTo>
                  <a:pt x="0" y="38100"/>
                </a:lnTo>
                <a:cubicBezTo>
                  <a:pt x="0" y="17072"/>
                  <a:pt x="17072" y="0"/>
                  <a:pt x="38100" y="0"/>
                </a:cubicBezTo>
                <a:close/>
              </a:path>
            </a:pathLst>
          </a:custGeom>
          <a:solidFill>
            <a:srgbClr val="808080"/>
          </a:solidFill>
        </p:spPr>
      </p:sp>
      <p:sp>
        <p:nvSpPr>
          <p:cNvPr id="47" name="Shape 43"/>
          <p:cNvSpPr/>
          <p:nvPr/>
        </p:nvSpPr>
        <p:spPr>
          <a:xfrm>
            <a:off x="6348413" y="1343025"/>
            <a:ext cx="171450" cy="171450"/>
          </a:xfrm>
          <a:custGeom>
            <a:avLst/>
            <a:gdLst/>
            <a:ahLst/>
            <a:cxnLst/>
            <a:rect l="l" t="t" r="r" b="b"/>
            <a:pathLst>
              <a:path w="171450" h="171450">
                <a:moveTo>
                  <a:pt x="160768" y="64294"/>
                </a:moveTo>
                <a:lnTo>
                  <a:pt x="163413" y="64294"/>
                </a:lnTo>
                <a:cubicBezTo>
                  <a:pt x="167867" y="64294"/>
                  <a:pt x="171450" y="60711"/>
                  <a:pt x="171450" y="56257"/>
                </a:cubicBezTo>
                <a:lnTo>
                  <a:pt x="171450" y="8037"/>
                </a:lnTo>
                <a:cubicBezTo>
                  <a:pt x="171450" y="4789"/>
                  <a:pt x="169508" y="1842"/>
                  <a:pt x="166494" y="603"/>
                </a:cubicBezTo>
                <a:cubicBezTo>
                  <a:pt x="163480" y="-636"/>
                  <a:pt x="160031" y="67"/>
                  <a:pt x="157721" y="2344"/>
                </a:cubicBezTo>
                <a:lnTo>
                  <a:pt x="140408" y="19690"/>
                </a:lnTo>
                <a:cubicBezTo>
                  <a:pt x="125574" y="7400"/>
                  <a:pt x="106487" y="0"/>
                  <a:pt x="85725" y="0"/>
                </a:cubicBezTo>
                <a:cubicBezTo>
                  <a:pt x="42528" y="0"/>
                  <a:pt x="6798" y="31946"/>
                  <a:pt x="871" y="73502"/>
                </a:cubicBezTo>
                <a:cubicBezTo>
                  <a:pt x="33" y="79363"/>
                  <a:pt x="4085" y="84787"/>
                  <a:pt x="9945" y="85625"/>
                </a:cubicBezTo>
                <a:cubicBezTo>
                  <a:pt x="15806" y="86462"/>
                  <a:pt x="21230" y="82376"/>
                  <a:pt x="22067" y="76550"/>
                </a:cubicBezTo>
                <a:cubicBezTo>
                  <a:pt x="26521" y="45374"/>
                  <a:pt x="53344" y="21431"/>
                  <a:pt x="85725" y="21431"/>
                </a:cubicBezTo>
                <a:cubicBezTo>
                  <a:pt x="100593" y="21431"/>
                  <a:pt x="114255" y="26454"/>
                  <a:pt x="125138" y="34926"/>
                </a:cubicBezTo>
                <a:lnTo>
                  <a:pt x="109500" y="50564"/>
                </a:lnTo>
                <a:cubicBezTo>
                  <a:pt x="107190" y="52875"/>
                  <a:pt x="106520" y="56324"/>
                  <a:pt x="107759" y="59338"/>
                </a:cubicBezTo>
                <a:cubicBezTo>
                  <a:pt x="108998" y="62352"/>
                  <a:pt x="111945" y="64294"/>
                  <a:pt x="115193" y="64294"/>
                </a:cubicBezTo>
                <a:lnTo>
                  <a:pt x="160768" y="64294"/>
                </a:lnTo>
                <a:close/>
                <a:moveTo>
                  <a:pt x="170613" y="97948"/>
                </a:moveTo>
                <a:cubicBezTo>
                  <a:pt x="171450" y="92087"/>
                  <a:pt x="167365" y="86663"/>
                  <a:pt x="161538" y="85825"/>
                </a:cubicBezTo>
                <a:cubicBezTo>
                  <a:pt x="155711" y="84988"/>
                  <a:pt x="150253" y="89074"/>
                  <a:pt x="149416" y="94900"/>
                </a:cubicBezTo>
                <a:cubicBezTo>
                  <a:pt x="144962" y="126043"/>
                  <a:pt x="118140" y="149985"/>
                  <a:pt x="85758" y="149985"/>
                </a:cubicBezTo>
                <a:cubicBezTo>
                  <a:pt x="70891" y="149985"/>
                  <a:pt x="57228" y="144962"/>
                  <a:pt x="46345" y="136490"/>
                </a:cubicBezTo>
                <a:lnTo>
                  <a:pt x="61950" y="120886"/>
                </a:lnTo>
                <a:cubicBezTo>
                  <a:pt x="64260" y="118575"/>
                  <a:pt x="64930" y="115126"/>
                  <a:pt x="63691" y="112112"/>
                </a:cubicBezTo>
                <a:cubicBezTo>
                  <a:pt x="62452" y="109098"/>
                  <a:pt x="59505" y="107156"/>
                  <a:pt x="56257" y="107156"/>
                </a:cubicBezTo>
                <a:lnTo>
                  <a:pt x="8037" y="107156"/>
                </a:lnTo>
                <a:cubicBezTo>
                  <a:pt x="3583" y="107156"/>
                  <a:pt x="0" y="110739"/>
                  <a:pt x="0" y="115193"/>
                </a:cubicBezTo>
                <a:lnTo>
                  <a:pt x="0" y="163413"/>
                </a:lnTo>
                <a:cubicBezTo>
                  <a:pt x="0" y="166661"/>
                  <a:pt x="1942" y="169608"/>
                  <a:pt x="4956" y="170847"/>
                </a:cubicBezTo>
                <a:cubicBezTo>
                  <a:pt x="7970" y="172086"/>
                  <a:pt x="11419" y="171383"/>
                  <a:pt x="13729" y="169106"/>
                </a:cubicBezTo>
                <a:lnTo>
                  <a:pt x="31075" y="151760"/>
                </a:lnTo>
                <a:cubicBezTo>
                  <a:pt x="45876" y="164050"/>
                  <a:pt x="64963" y="171450"/>
                  <a:pt x="85725" y="171450"/>
                </a:cubicBezTo>
                <a:cubicBezTo>
                  <a:pt x="128922" y="171450"/>
                  <a:pt x="164652" y="139504"/>
                  <a:pt x="170579" y="97948"/>
                </a:cubicBezTo>
                <a:close/>
              </a:path>
            </a:pathLst>
          </a:custGeom>
          <a:solidFill>
            <a:srgbClr val="808080"/>
          </a:solidFill>
        </p:spPr>
      </p:sp>
      <p:sp>
        <p:nvSpPr>
          <p:cNvPr id="48" name="Text 44"/>
          <p:cNvSpPr/>
          <p:nvPr/>
        </p:nvSpPr>
        <p:spPr>
          <a:xfrm>
            <a:off x="6543675" y="1295400"/>
            <a:ext cx="5238750"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增量学习效果</a:t>
            </a:r>
            <a:endParaRPr lang="en-US" sz="1600" dirty="0"/>
          </a:p>
        </p:txBody>
      </p:sp>
      <p:sp>
        <p:nvSpPr>
          <p:cNvPr id="49" name="Shape 45"/>
          <p:cNvSpPr/>
          <p:nvPr/>
        </p:nvSpPr>
        <p:spPr>
          <a:xfrm>
            <a:off x="6324600" y="1638300"/>
            <a:ext cx="5372100" cy="2571750"/>
          </a:xfrm>
          <a:custGeom>
            <a:avLst/>
            <a:gdLst/>
            <a:ahLst/>
            <a:cxnLst/>
            <a:rect l="l" t="t" r="r" b="b"/>
            <a:pathLst>
              <a:path w="5372100" h="2571750">
                <a:moveTo>
                  <a:pt x="76201" y="0"/>
                </a:moveTo>
                <a:lnTo>
                  <a:pt x="5295899" y="0"/>
                </a:lnTo>
                <a:cubicBezTo>
                  <a:pt x="5337984" y="0"/>
                  <a:pt x="5372100" y="34116"/>
                  <a:pt x="5372100" y="76201"/>
                </a:cubicBezTo>
                <a:lnTo>
                  <a:pt x="5372100" y="2495549"/>
                </a:lnTo>
                <a:cubicBezTo>
                  <a:pt x="5372100" y="2537634"/>
                  <a:pt x="5337984" y="2571750"/>
                  <a:pt x="5295899" y="2571750"/>
                </a:cubicBezTo>
                <a:lnTo>
                  <a:pt x="76201" y="2571750"/>
                </a:lnTo>
                <a:cubicBezTo>
                  <a:pt x="34116" y="2571750"/>
                  <a:pt x="0" y="2537634"/>
                  <a:pt x="0" y="2495549"/>
                </a:cubicBezTo>
                <a:lnTo>
                  <a:pt x="0" y="76201"/>
                </a:lnTo>
                <a:cubicBezTo>
                  <a:pt x="0" y="34145"/>
                  <a:pt x="34145" y="0"/>
                  <a:pt x="76201" y="0"/>
                </a:cubicBezTo>
                <a:close/>
              </a:path>
            </a:pathLst>
          </a:custGeom>
          <a:solidFill>
            <a:srgbClr val="FFFFFF"/>
          </a:solidFill>
          <a:effectLst>
            <a:outerShdw blurRad="28575" dist="9525" dir="5400000" algn="bl" rotWithShape="0">
              <a:srgbClr val="000000">
                <a:alpha val="10196"/>
              </a:srgbClr>
            </a:outerShdw>
          </a:effectLst>
        </p:spPr>
      </p:sp>
      <p:sp>
        <p:nvSpPr>
          <p:cNvPr id="50" name="Text 46"/>
          <p:cNvSpPr/>
          <p:nvPr/>
        </p:nvSpPr>
        <p:spPr>
          <a:xfrm>
            <a:off x="6438900" y="1752600"/>
            <a:ext cx="5219700" cy="209550"/>
          </a:xfrm>
          <a:prstGeom prst="rect">
            <a:avLst/>
          </a:prstGeom>
          <a:noFill/>
        </p:spPr>
        <p:txBody>
          <a:bodyPr wrap="square" lIns="0" tIns="0" rIns="0" bIns="0" rtlCol="0" anchor="ctr"/>
          <a:lstStyle/>
          <a:p>
            <a:pPr>
              <a:lnSpc>
                <a:spcPct val="110000"/>
              </a:lnSpc>
            </a:pPr>
            <a:r>
              <a:rPr lang="en-US" sz="1200" dirty="0">
                <a:solidFill>
                  <a:srgbClr val="808080"/>
                </a:solidFill>
                <a:latin typeface="MiSans" pitchFamily="34" charset="-122"/>
                <a:ea typeface="MiSans" pitchFamily="34" charset="-122"/>
                <a:cs typeface="MiSans" pitchFamily="34" charset="-120"/>
              </a:rPr>
              <a:t>将确认的新恶意包和良性包加入训练集重新训练， </a:t>
            </a:r>
            <a:r>
              <a:rPr lang="en-US" sz="1200" b="1" dirty="0">
                <a:solidFill>
                  <a:srgbClr val="4A4A4A"/>
                </a:solidFill>
                <a:latin typeface="MiSans" pitchFamily="34" charset="-122"/>
                <a:ea typeface="MiSans" pitchFamily="34" charset="-122"/>
                <a:cs typeface="MiSans" pitchFamily="34" charset="-120"/>
              </a:rPr>
              <a:t>显著提升检测精度</a:t>
            </a:r>
            <a:endParaRPr lang="en-US" sz="1600" dirty="0"/>
          </a:p>
        </p:txBody>
      </p:sp>
      <p:sp>
        <p:nvSpPr>
          <p:cNvPr id="51" name="Text 47"/>
          <p:cNvSpPr/>
          <p:nvPr/>
        </p:nvSpPr>
        <p:spPr>
          <a:xfrm>
            <a:off x="6438900" y="2038350"/>
            <a:ext cx="8382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PyPI精确度</a:t>
            </a:r>
            <a:endParaRPr lang="en-US" sz="1600" dirty="0"/>
          </a:p>
        </p:txBody>
      </p:sp>
      <p:sp>
        <p:nvSpPr>
          <p:cNvPr id="52" name="Shape 48"/>
          <p:cNvSpPr/>
          <p:nvPr/>
        </p:nvSpPr>
        <p:spPr>
          <a:xfrm>
            <a:off x="6438900" y="2343150"/>
            <a:ext cx="4610100" cy="152400"/>
          </a:xfrm>
          <a:custGeom>
            <a:avLst/>
            <a:gdLst/>
            <a:ahLst/>
            <a:cxnLst/>
            <a:rect l="l" t="t" r="r" b="b"/>
            <a:pathLst>
              <a:path w="4610100" h="152400">
                <a:moveTo>
                  <a:pt x="76200" y="0"/>
                </a:moveTo>
                <a:lnTo>
                  <a:pt x="4533900" y="0"/>
                </a:lnTo>
                <a:cubicBezTo>
                  <a:pt x="4575956" y="0"/>
                  <a:pt x="4610100" y="34144"/>
                  <a:pt x="4610100" y="76200"/>
                </a:cubicBezTo>
                <a:lnTo>
                  <a:pt x="4610100" y="76200"/>
                </a:lnTo>
                <a:cubicBezTo>
                  <a:pt x="4610100" y="118256"/>
                  <a:pt x="4575956" y="152400"/>
                  <a:pt x="4533900" y="152400"/>
                </a:cubicBezTo>
                <a:lnTo>
                  <a:pt x="76200" y="152400"/>
                </a:lnTo>
                <a:cubicBezTo>
                  <a:pt x="34144" y="152400"/>
                  <a:pt x="0" y="118256"/>
                  <a:pt x="0" y="76200"/>
                </a:cubicBezTo>
                <a:lnTo>
                  <a:pt x="0" y="76200"/>
                </a:lnTo>
                <a:cubicBezTo>
                  <a:pt x="0" y="34144"/>
                  <a:pt x="34144" y="0"/>
                  <a:pt x="76200" y="0"/>
                </a:cubicBezTo>
                <a:close/>
              </a:path>
            </a:pathLst>
          </a:custGeom>
          <a:solidFill>
            <a:srgbClr val="808080">
              <a:alpha val="20000"/>
            </a:srgbClr>
          </a:solidFill>
        </p:spPr>
      </p:sp>
      <p:sp>
        <p:nvSpPr>
          <p:cNvPr id="53" name="Shape 49"/>
          <p:cNvSpPr/>
          <p:nvPr/>
        </p:nvSpPr>
        <p:spPr>
          <a:xfrm>
            <a:off x="6438900" y="2343150"/>
            <a:ext cx="333375" cy="152400"/>
          </a:xfrm>
          <a:custGeom>
            <a:avLst/>
            <a:gdLst/>
            <a:ahLst/>
            <a:cxnLst/>
            <a:rect l="l" t="t" r="r" b="b"/>
            <a:pathLst>
              <a:path w="333375" h="152400">
                <a:moveTo>
                  <a:pt x="76200" y="0"/>
                </a:moveTo>
                <a:lnTo>
                  <a:pt x="257175" y="0"/>
                </a:lnTo>
                <a:cubicBezTo>
                  <a:pt x="299231" y="0"/>
                  <a:pt x="333375" y="34144"/>
                  <a:pt x="333375" y="76200"/>
                </a:cubicBezTo>
                <a:lnTo>
                  <a:pt x="333375" y="76200"/>
                </a:lnTo>
                <a:cubicBezTo>
                  <a:pt x="333375" y="118256"/>
                  <a:pt x="299231" y="152400"/>
                  <a:pt x="257175" y="152400"/>
                </a:cubicBezTo>
                <a:lnTo>
                  <a:pt x="76200" y="152400"/>
                </a:lnTo>
                <a:cubicBezTo>
                  <a:pt x="34144" y="152400"/>
                  <a:pt x="0" y="118256"/>
                  <a:pt x="0" y="76200"/>
                </a:cubicBezTo>
                <a:lnTo>
                  <a:pt x="0" y="76200"/>
                </a:lnTo>
                <a:cubicBezTo>
                  <a:pt x="0" y="34144"/>
                  <a:pt x="34144" y="0"/>
                  <a:pt x="76200" y="0"/>
                </a:cubicBezTo>
                <a:close/>
              </a:path>
            </a:pathLst>
          </a:custGeom>
          <a:solidFill>
            <a:srgbClr val="808080"/>
          </a:solidFill>
        </p:spPr>
      </p:sp>
      <p:sp>
        <p:nvSpPr>
          <p:cNvPr id="54" name="Text 50"/>
          <p:cNvSpPr/>
          <p:nvPr/>
        </p:nvSpPr>
        <p:spPr>
          <a:xfrm>
            <a:off x="11049000" y="2305050"/>
            <a:ext cx="533400" cy="228600"/>
          </a:xfrm>
          <a:prstGeom prst="rect">
            <a:avLst/>
          </a:prstGeom>
          <a:noFill/>
        </p:spPr>
        <p:txBody>
          <a:bodyPr wrap="square" lIns="0" tIns="0" rIns="0" bIns="0" rtlCol="0" anchor="ctr"/>
          <a:lstStyle/>
          <a:p>
            <a:pPr algn="r">
              <a:lnSpc>
                <a:spcPct val="130000"/>
              </a:lnSpc>
            </a:pPr>
            <a:r>
              <a:rPr lang="en-US" sz="1200" dirty="0">
                <a:solidFill>
                  <a:srgbClr val="808080"/>
                </a:solidFill>
                <a:latin typeface="MiSans" pitchFamily="34" charset="-122"/>
                <a:ea typeface="MiSans" pitchFamily="34" charset="-122"/>
                <a:cs typeface="MiSans" pitchFamily="34" charset="-120"/>
              </a:rPr>
              <a:t>7.2%</a:t>
            </a:r>
            <a:endParaRPr lang="en-US" sz="1600" dirty="0"/>
          </a:p>
        </p:txBody>
      </p:sp>
      <p:sp>
        <p:nvSpPr>
          <p:cNvPr id="55" name="Shape 51"/>
          <p:cNvSpPr/>
          <p:nvPr/>
        </p:nvSpPr>
        <p:spPr>
          <a:xfrm>
            <a:off x="6438900" y="2609850"/>
            <a:ext cx="4610100" cy="152400"/>
          </a:xfrm>
          <a:custGeom>
            <a:avLst/>
            <a:gdLst/>
            <a:ahLst/>
            <a:cxnLst/>
            <a:rect l="l" t="t" r="r" b="b"/>
            <a:pathLst>
              <a:path w="4610100" h="152400">
                <a:moveTo>
                  <a:pt x="76200" y="0"/>
                </a:moveTo>
                <a:lnTo>
                  <a:pt x="4533900" y="0"/>
                </a:lnTo>
                <a:cubicBezTo>
                  <a:pt x="4575956" y="0"/>
                  <a:pt x="4610100" y="34144"/>
                  <a:pt x="4610100" y="76200"/>
                </a:cubicBezTo>
                <a:lnTo>
                  <a:pt x="4610100" y="76200"/>
                </a:lnTo>
                <a:cubicBezTo>
                  <a:pt x="4610100" y="118256"/>
                  <a:pt x="4575956" y="152400"/>
                  <a:pt x="4533900" y="152400"/>
                </a:cubicBezTo>
                <a:lnTo>
                  <a:pt x="76200" y="152400"/>
                </a:lnTo>
                <a:cubicBezTo>
                  <a:pt x="34144" y="152400"/>
                  <a:pt x="0" y="118256"/>
                  <a:pt x="0" y="76200"/>
                </a:cubicBezTo>
                <a:lnTo>
                  <a:pt x="0" y="76200"/>
                </a:lnTo>
                <a:cubicBezTo>
                  <a:pt x="0" y="34144"/>
                  <a:pt x="34144" y="0"/>
                  <a:pt x="76200" y="0"/>
                </a:cubicBezTo>
                <a:close/>
              </a:path>
            </a:pathLst>
          </a:custGeom>
          <a:solidFill>
            <a:srgbClr val="4A4A4A">
              <a:alpha val="20000"/>
            </a:srgbClr>
          </a:solidFill>
        </p:spPr>
      </p:sp>
      <p:sp>
        <p:nvSpPr>
          <p:cNvPr id="56" name="Shape 52"/>
          <p:cNvSpPr/>
          <p:nvPr/>
        </p:nvSpPr>
        <p:spPr>
          <a:xfrm>
            <a:off x="6438900" y="2609850"/>
            <a:ext cx="2686050" cy="152400"/>
          </a:xfrm>
          <a:custGeom>
            <a:avLst/>
            <a:gdLst/>
            <a:ahLst/>
            <a:cxnLst/>
            <a:rect l="l" t="t" r="r" b="b"/>
            <a:pathLst>
              <a:path w="2686050" h="152400">
                <a:moveTo>
                  <a:pt x="76200" y="0"/>
                </a:moveTo>
                <a:lnTo>
                  <a:pt x="2609850" y="0"/>
                </a:lnTo>
                <a:cubicBezTo>
                  <a:pt x="2651906" y="0"/>
                  <a:pt x="2686050" y="34144"/>
                  <a:pt x="2686050" y="76200"/>
                </a:cubicBezTo>
                <a:lnTo>
                  <a:pt x="2686050" y="76200"/>
                </a:lnTo>
                <a:cubicBezTo>
                  <a:pt x="2686050" y="118256"/>
                  <a:pt x="2651906" y="152400"/>
                  <a:pt x="2609850" y="152400"/>
                </a:cubicBezTo>
                <a:lnTo>
                  <a:pt x="76200" y="152400"/>
                </a:lnTo>
                <a:cubicBezTo>
                  <a:pt x="34144" y="152400"/>
                  <a:pt x="0" y="118256"/>
                  <a:pt x="0" y="76200"/>
                </a:cubicBezTo>
                <a:lnTo>
                  <a:pt x="0" y="76200"/>
                </a:lnTo>
                <a:cubicBezTo>
                  <a:pt x="0" y="34144"/>
                  <a:pt x="34144" y="0"/>
                  <a:pt x="76200" y="0"/>
                </a:cubicBezTo>
                <a:close/>
              </a:path>
            </a:pathLst>
          </a:custGeom>
          <a:solidFill>
            <a:srgbClr val="4A4A4A"/>
          </a:solidFill>
        </p:spPr>
      </p:sp>
      <p:sp>
        <p:nvSpPr>
          <p:cNvPr id="57" name="Text 53"/>
          <p:cNvSpPr/>
          <p:nvPr/>
        </p:nvSpPr>
        <p:spPr>
          <a:xfrm>
            <a:off x="11049000" y="2571750"/>
            <a:ext cx="533400" cy="228600"/>
          </a:xfrm>
          <a:prstGeom prst="rect">
            <a:avLst/>
          </a:prstGeom>
          <a:noFill/>
        </p:spPr>
        <p:txBody>
          <a:bodyPr wrap="square" lIns="0" tIns="0" rIns="0" bIns="0" rtlCol="0" anchor="ctr"/>
          <a:lstStyle/>
          <a:p>
            <a:pPr algn="r">
              <a:lnSpc>
                <a:spcPct val="130000"/>
              </a:lnSpc>
            </a:pPr>
            <a:r>
              <a:rPr lang="en-US" sz="1200" b="1" dirty="0">
                <a:solidFill>
                  <a:srgbClr val="4A4A4A"/>
                </a:solidFill>
                <a:latin typeface="MiSans" pitchFamily="34" charset="-122"/>
                <a:ea typeface="MiSans" pitchFamily="34" charset="-122"/>
                <a:cs typeface="MiSans" pitchFamily="34" charset="-120"/>
              </a:rPr>
              <a:t>58.2%</a:t>
            </a:r>
            <a:endParaRPr lang="en-US" sz="1600" dirty="0"/>
          </a:p>
        </p:txBody>
      </p:sp>
      <p:sp>
        <p:nvSpPr>
          <p:cNvPr id="58" name="Text 54"/>
          <p:cNvSpPr/>
          <p:nvPr/>
        </p:nvSpPr>
        <p:spPr>
          <a:xfrm>
            <a:off x="6438900" y="2876550"/>
            <a:ext cx="8763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NPM精确度</a:t>
            </a:r>
            <a:endParaRPr lang="en-US" sz="1600" dirty="0"/>
          </a:p>
        </p:txBody>
      </p:sp>
      <p:sp>
        <p:nvSpPr>
          <p:cNvPr id="59" name="Shape 55"/>
          <p:cNvSpPr/>
          <p:nvPr/>
        </p:nvSpPr>
        <p:spPr>
          <a:xfrm>
            <a:off x="6438900" y="3181350"/>
            <a:ext cx="4610100" cy="152400"/>
          </a:xfrm>
          <a:custGeom>
            <a:avLst/>
            <a:gdLst/>
            <a:ahLst/>
            <a:cxnLst/>
            <a:rect l="l" t="t" r="r" b="b"/>
            <a:pathLst>
              <a:path w="4610100" h="152400">
                <a:moveTo>
                  <a:pt x="76200" y="0"/>
                </a:moveTo>
                <a:lnTo>
                  <a:pt x="4533900" y="0"/>
                </a:lnTo>
                <a:cubicBezTo>
                  <a:pt x="4575956" y="0"/>
                  <a:pt x="4610100" y="34144"/>
                  <a:pt x="4610100" y="76200"/>
                </a:cubicBezTo>
                <a:lnTo>
                  <a:pt x="4610100" y="76200"/>
                </a:lnTo>
                <a:cubicBezTo>
                  <a:pt x="4610100" y="118256"/>
                  <a:pt x="4575956" y="152400"/>
                  <a:pt x="4533900" y="152400"/>
                </a:cubicBezTo>
                <a:lnTo>
                  <a:pt x="76200" y="152400"/>
                </a:lnTo>
                <a:cubicBezTo>
                  <a:pt x="34144" y="152400"/>
                  <a:pt x="0" y="118256"/>
                  <a:pt x="0" y="76200"/>
                </a:cubicBezTo>
                <a:lnTo>
                  <a:pt x="0" y="76200"/>
                </a:lnTo>
                <a:cubicBezTo>
                  <a:pt x="0" y="34144"/>
                  <a:pt x="34144" y="0"/>
                  <a:pt x="76200" y="0"/>
                </a:cubicBezTo>
                <a:close/>
              </a:path>
            </a:pathLst>
          </a:custGeom>
          <a:solidFill>
            <a:srgbClr val="808080">
              <a:alpha val="20000"/>
            </a:srgbClr>
          </a:solidFill>
        </p:spPr>
      </p:sp>
      <p:sp>
        <p:nvSpPr>
          <p:cNvPr id="60" name="Shape 56"/>
          <p:cNvSpPr/>
          <p:nvPr/>
        </p:nvSpPr>
        <p:spPr>
          <a:xfrm>
            <a:off x="6438900" y="3181350"/>
            <a:ext cx="1485900" cy="152400"/>
          </a:xfrm>
          <a:custGeom>
            <a:avLst/>
            <a:gdLst/>
            <a:ahLst/>
            <a:cxnLst/>
            <a:rect l="l" t="t" r="r" b="b"/>
            <a:pathLst>
              <a:path w="1485900" h="152400">
                <a:moveTo>
                  <a:pt x="76200" y="0"/>
                </a:moveTo>
                <a:lnTo>
                  <a:pt x="1409700" y="0"/>
                </a:lnTo>
                <a:cubicBezTo>
                  <a:pt x="1451756" y="0"/>
                  <a:pt x="1485900" y="34144"/>
                  <a:pt x="1485900" y="76200"/>
                </a:cubicBezTo>
                <a:lnTo>
                  <a:pt x="1485900" y="76200"/>
                </a:lnTo>
                <a:cubicBezTo>
                  <a:pt x="1485900" y="118256"/>
                  <a:pt x="1451756" y="152400"/>
                  <a:pt x="1409700" y="152400"/>
                </a:cubicBezTo>
                <a:lnTo>
                  <a:pt x="76200" y="152400"/>
                </a:lnTo>
                <a:cubicBezTo>
                  <a:pt x="34144" y="152400"/>
                  <a:pt x="0" y="118256"/>
                  <a:pt x="0" y="76200"/>
                </a:cubicBezTo>
                <a:lnTo>
                  <a:pt x="0" y="76200"/>
                </a:lnTo>
                <a:cubicBezTo>
                  <a:pt x="0" y="34144"/>
                  <a:pt x="34144" y="0"/>
                  <a:pt x="76200" y="0"/>
                </a:cubicBezTo>
                <a:close/>
              </a:path>
            </a:pathLst>
          </a:custGeom>
          <a:solidFill>
            <a:srgbClr val="808080"/>
          </a:solidFill>
        </p:spPr>
      </p:sp>
      <p:sp>
        <p:nvSpPr>
          <p:cNvPr id="61" name="Text 57"/>
          <p:cNvSpPr/>
          <p:nvPr/>
        </p:nvSpPr>
        <p:spPr>
          <a:xfrm>
            <a:off x="11049000" y="3143250"/>
            <a:ext cx="533400" cy="228600"/>
          </a:xfrm>
          <a:prstGeom prst="rect">
            <a:avLst/>
          </a:prstGeom>
          <a:noFill/>
        </p:spPr>
        <p:txBody>
          <a:bodyPr wrap="square" lIns="0" tIns="0" rIns="0" bIns="0" rtlCol="0" anchor="ctr"/>
          <a:lstStyle/>
          <a:p>
            <a:pPr algn="r">
              <a:lnSpc>
                <a:spcPct val="130000"/>
              </a:lnSpc>
            </a:pPr>
            <a:r>
              <a:rPr lang="en-US" sz="1200" dirty="0">
                <a:solidFill>
                  <a:srgbClr val="808080"/>
                </a:solidFill>
                <a:latin typeface="MiSans" pitchFamily="34" charset="-122"/>
                <a:ea typeface="MiSans" pitchFamily="34" charset="-122"/>
                <a:cs typeface="MiSans" pitchFamily="34" charset="-120"/>
              </a:rPr>
              <a:t>32.2%</a:t>
            </a:r>
            <a:endParaRPr lang="en-US" sz="1600" dirty="0"/>
          </a:p>
        </p:txBody>
      </p:sp>
      <p:sp>
        <p:nvSpPr>
          <p:cNvPr id="62" name="Shape 58"/>
          <p:cNvSpPr/>
          <p:nvPr/>
        </p:nvSpPr>
        <p:spPr>
          <a:xfrm>
            <a:off x="6438900" y="3448050"/>
            <a:ext cx="4610100" cy="152400"/>
          </a:xfrm>
          <a:custGeom>
            <a:avLst/>
            <a:gdLst/>
            <a:ahLst/>
            <a:cxnLst/>
            <a:rect l="l" t="t" r="r" b="b"/>
            <a:pathLst>
              <a:path w="4610100" h="152400">
                <a:moveTo>
                  <a:pt x="76200" y="0"/>
                </a:moveTo>
                <a:lnTo>
                  <a:pt x="4533900" y="0"/>
                </a:lnTo>
                <a:cubicBezTo>
                  <a:pt x="4575956" y="0"/>
                  <a:pt x="4610100" y="34144"/>
                  <a:pt x="4610100" y="76200"/>
                </a:cubicBezTo>
                <a:lnTo>
                  <a:pt x="4610100" y="76200"/>
                </a:lnTo>
                <a:cubicBezTo>
                  <a:pt x="4610100" y="118256"/>
                  <a:pt x="4575956" y="152400"/>
                  <a:pt x="4533900" y="152400"/>
                </a:cubicBezTo>
                <a:lnTo>
                  <a:pt x="76200" y="152400"/>
                </a:lnTo>
                <a:cubicBezTo>
                  <a:pt x="34144" y="152400"/>
                  <a:pt x="0" y="118256"/>
                  <a:pt x="0" y="76200"/>
                </a:cubicBezTo>
                <a:lnTo>
                  <a:pt x="0" y="76200"/>
                </a:lnTo>
                <a:cubicBezTo>
                  <a:pt x="0" y="34144"/>
                  <a:pt x="34144" y="0"/>
                  <a:pt x="76200" y="0"/>
                </a:cubicBezTo>
                <a:close/>
              </a:path>
            </a:pathLst>
          </a:custGeom>
          <a:solidFill>
            <a:srgbClr val="4A4A4A">
              <a:alpha val="20000"/>
            </a:srgbClr>
          </a:solidFill>
        </p:spPr>
      </p:sp>
      <p:sp>
        <p:nvSpPr>
          <p:cNvPr id="63" name="Shape 59"/>
          <p:cNvSpPr/>
          <p:nvPr/>
        </p:nvSpPr>
        <p:spPr>
          <a:xfrm>
            <a:off x="6438900" y="3448050"/>
            <a:ext cx="3724275" cy="152400"/>
          </a:xfrm>
          <a:custGeom>
            <a:avLst/>
            <a:gdLst/>
            <a:ahLst/>
            <a:cxnLst/>
            <a:rect l="l" t="t" r="r" b="b"/>
            <a:pathLst>
              <a:path w="3724275" h="152400">
                <a:moveTo>
                  <a:pt x="76200" y="0"/>
                </a:moveTo>
                <a:lnTo>
                  <a:pt x="3648075" y="0"/>
                </a:lnTo>
                <a:cubicBezTo>
                  <a:pt x="3690131" y="0"/>
                  <a:pt x="3724275" y="34144"/>
                  <a:pt x="3724275" y="76200"/>
                </a:cubicBezTo>
                <a:lnTo>
                  <a:pt x="3724275" y="76200"/>
                </a:lnTo>
                <a:cubicBezTo>
                  <a:pt x="3724275" y="118256"/>
                  <a:pt x="3690131" y="152400"/>
                  <a:pt x="3648075" y="152400"/>
                </a:cubicBezTo>
                <a:lnTo>
                  <a:pt x="76200" y="152400"/>
                </a:lnTo>
                <a:cubicBezTo>
                  <a:pt x="34144" y="152400"/>
                  <a:pt x="0" y="118256"/>
                  <a:pt x="0" y="76200"/>
                </a:cubicBezTo>
                <a:lnTo>
                  <a:pt x="0" y="76200"/>
                </a:lnTo>
                <a:cubicBezTo>
                  <a:pt x="0" y="34144"/>
                  <a:pt x="34144" y="0"/>
                  <a:pt x="76200" y="0"/>
                </a:cubicBezTo>
                <a:close/>
              </a:path>
            </a:pathLst>
          </a:custGeom>
          <a:solidFill>
            <a:srgbClr val="4A4A4A"/>
          </a:solidFill>
        </p:spPr>
      </p:sp>
      <p:sp>
        <p:nvSpPr>
          <p:cNvPr id="64" name="Text 60"/>
          <p:cNvSpPr/>
          <p:nvPr/>
        </p:nvSpPr>
        <p:spPr>
          <a:xfrm>
            <a:off x="11049000" y="3409950"/>
            <a:ext cx="533400" cy="228600"/>
          </a:xfrm>
          <a:prstGeom prst="rect">
            <a:avLst/>
          </a:prstGeom>
          <a:noFill/>
        </p:spPr>
        <p:txBody>
          <a:bodyPr wrap="square" lIns="0" tIns="0" rIns="0" bIns="0" rtlCol="0" anchor="ctr"/>
          <a:lstStyle/>
          <a:p>
            <a:pPr algn="r">
              <a:lnSpc>
                <a:spcPct val="130000"/>
              </a:lnSpc>
            </a:pPr>
            <a:r>
              <a:rPr lang="en-US" sz="1200" b="1" dirty="0">
                <a:solidFill>
                  <a:srgbClr val="4A4A4A"/>
                </a:solidFill>
                <a:latin typeface="MiSans" pitchFamily="34" charset="-122"/>
                <a:ea typeface="MiSans" pitchFamily="34" charset="-122"/>
                <a:cs typeface="MiSans" pitchFamily="34" charset="-120"/>
              </a:rPr>
              <a:t>80.7%</a:t>
            </a:r>
            <a:endParaRPr lang="en-US" sz="1600" dirty="0"/>
          </a:p>
        </p:txBody>
      </p:sp>
      <p:sp>
        <p:nvSpPr>
          <p:cNvPr id="65" name="Shape 61"/>
          <p:cNvSpPr/>
          <p:nvPr/>
        </p:nvSpPr>
        <p:spPr>
          <a:xfrm>
            <a:off x="6438900" y="3714750"/>
            <a:ext cx="5143500" cy="381000"/>
          </a:xfrm>
          <a:custGeom>
            <a:avLst/>
            <a:gdLst/>
            <a:ahLst/>
            <a:cxnLst/>
            <a:rect l="l" t="t" r="r" b="b"/>
            <a:pathLst>
              <a:path w="5143500" h="381000">
                <a:moveTo>
                  <a:pt x="38100" y="0"/>
                </a:moveTo>
                <a:lnTo>
                  <a:pt x="5105400" y="0"/>
                </a:lnTo>
                <a:cubicBezTo>
                  <a:pt x="5126428" y="0"/>
                  <a:pt x="5143500" y="17072"/>
                  <a:pt x="5143500" y="38100"/>
                </a:cubicBezTo>
                <a:lnTo>
                  <a:pt x="5143500" y="342900"/>
                </a:lnTo>
                <a:cubicBezTo>
                  <a:pt x="5143500" y="363928"/>
                  <a:pt x="5126428" y="381000"/>
                  <a:pt x="5105400" y="381000"/>
                </a:cubicBezTo>
                <a:lnTo>
                  <a:pt x="38100" y="381000"/>
                </a:lnTo>
                <a:cubicBezTo>
                  <a:pt x="17072" y="381000"/>
                  <a:pt x="0" y="363928"/>
                  <a:pt x="0" y="342900"/>
                </a:cubicBezTo>
                <a:lnTo>
                  <a:pt x="0" y="38100"/>
                </a:lnTo>
                <a:cubicBezTo>
                  <a:pt x="0" y="17072"/>
                  <a:pt x="17072" y="0"/>
                  <a:pt x="38100" y="0"/>
                </a:cubicBezTo>
                <a:close/>
              </a:path>
            </a:pathLst>
          </a:custGeom>
          <a:solidFill>
            <a:srgbClr val="808080">
              <a:alpha val="20000"/>
            </a:srgbClr>
          </a:solidFill>
        </p:spPr>
      </p:sp>
      <p:sp>
        <p:nvSpPr>
          <p:cNvPr id="66" name="Shape 62"/>
          <p:cNvSpPr/>
          <p:nvPr/>
        </p:nvSpPr>
        <p:spPr>
          <a:xfrm>
            <a:off x="6553200" y="3821432"/>
            <a:ext cx="114300" cy="152400"/>
          </a:xfrm>
          <a:custGeom>
            <a:avLst/>
            <a:gdLst/>
            <a:ahLst/>
            <a:cxnLst/>
            <a:rect l="l" t="t" r="r" b="b"/>
            <a:pathLst>
              <a:path w="114300" h="152400">
                <a:moveTo>
                  <a:pt x="63877" y="5179"/>
                </a:moveTo>
                <a:cubicBezTo>
                  <a:pt x="60156" y="1459"/>
                  <a:pt x="54114" y="1459"/>
                  <a:pt x="50393" y="5179"/>
                </a:cubicBezTo>
                <a:lnTo>
                  <a:pt x="2768" y="52804"/>
                </a:lnTo>
                <a:cubicBezTo>
                  <a:pt x="-952" y="56525"/>
                  <a:pt x="-952" y="62567"/>
                  <a:pt x="2768" y="66288"/>
                </a:cubicBezTo>
                <a:cubicBezTo>
                  <a:pt x="6489" y="70009"/>
                  <a:pt x="12531" y="70009"/>
                  <a:pt x="16252" y="66288"/>
                </a:cubicBezTo>
                <a:lnTo>
                  <a:pt x="47625" y="34915"/>
                </a:lnTo>
                <a:lnTo>
                  <a:pt x="47625" y="145256"/>
                </a:lnTo>
                <a:cubicBezTo>
                  <a:pt x="47625" y="150525"/>
                  <a:pt x="51881" y="154781"/>
                  <a:pt x="57150" y="154781"/>
                </a:cubicBezTo>
                <a:cubicBezTo>
                  <a:pt x="62419" y="154781"/>
                  <a:pt x="66675" y="150525"/>
                  <a:pt x="66675" y="145256"/>
                </a:cubicBezTo>
                <a:lnTo>
                  <a:pt x="66675" y="34915"/>
                </a:lnTo>
                <a:lnTo>
                  <a:pt x="98048" y="66288"/>
                </a:lnTo>
                <a:cubicBezTo>
                  <a:pt x="101769" y="70009"/>
                  <a:pt x="107811" y="70009"/>
                  <a:pt x="111532" y="66288"/>
                </a:cubicBezTo>
                <a:cubicBezTo>
                  <a:pt x="115253" y="62567"/>
                  <a:pt x="115253" y="56525"/>
                  <a:pt x="111532" y="52804"/>
                </a:cubicBezTo>
                <a:lnTo>
                  <a:pt x="63907" y="5179"/>
                </a:lnTo>
                <a:close/>
              </a:path>
            </a:pathLst>
          </a:custGeom>
          <a:solidFill>
            <a:srgbClr val="4A4A4A"/>
          </a:solidFill>
        </p:spPr>
      </p:sp>
      <p:sp>
        <p:nvSpPr>
          <p:cNvPr id="67" name="Text 63"/>
          <p:cNvSpPr/>
          <p:nvPr/>
        </p:nvSpPr>
        <p:spPr>
          <a:xfrm>
            <a:off x="6686550" y="3714750"/>
            <a:ext cx="4972050" cy="381000"/>
          </a:xfrm>
          <a:prstGeom prst="rect">
            <a:avLst/>
          </a:prstGeom>
          <a:noFill/>
        </p:spPr>
        <p:txBody>
          <a:bodyPr wrap="square" lIns="76200" tIns="76200" rIns="76200" bIns="76200" rtlCol="0" anchor="ctr"/>
          <a:lstStyle/>
          <a:p>
            <a:pPr>
              <a:lnSpc>
                <a:spcPct val="130000"/>
              </a:lnSpc>
            </a:pPr>
            <a:r>
              <a:rPr lang="en-US" sz="1200" dirty="0">
                <a:solidFill>
                  <a:srgbClr val="4A4A4A"/>
                </a:solidFill>
                <a:latin typeface="MiSans" pitchFamily="34" charset="-122"/>
                <a:ea typeface="MiSans" pitchFamily="34" charset="-122"/>
                <a:cs typeface="MiSans" pitchFamily="34" charset="-120"/>
              </a:rPr>
              <a:t>提升幅度：PyPI +51.0%，NPM +48.5%</a:t>
            </a:r>
            <a:endParaRPr lang="en-US" sz="1600" dirty="0"/>
          </a:p>
        </p:txBody>
      </p:sp>
      <p:sp>
        <p:nvSpPr>
          <p:cNvPr id="68" name="Shape 64"/>
          <p:cNvSpPr/>
          <p:nvPr/>
        </p:nvSpPr>
        <p:spPr>
          <a:xfrm>
            <a:off x="6191250" y="3486150"/>
            <a:ext cx="5619750" cy="2190750"/>
          </a:xfrm>
          <a:custGeom>
            <a:avLst/>
            <a:gdLst/>
            <a:ahLst/>
            <a:cxnLst/>
            <a:rect l="l" t="t" r="r" b="b"/>
            <a:pathLst>
              <a:path w="5619750" h="2190750">
                <a:moveTo>
                  <a:pt x="38100" y="0"/>
                </a:moveTo>
                <a:lnTo>
                  <a:pt x="5543556" y="0"/>
                </a:lnTo>
                <a:cubicBezTo>
                  <a:pt x="5585608" y="0"/>
                  <a:pt x="5619750" y="34142"/>
                  <a:pt x="5619750" y="76194"/>
                </a:cubicBezTo>
                <a:lnTo>
                  <a:pt x="5619750" y="2114556"/>
                </a:lnTo>
                <a:cubicBezTo>
                  <a:pt x="5619750" y="2156637"/>
                  <a:pt x="5585637" y="2190750"/>
                  <a:pt x="5543556" y="2190750"/>
                </a:cubicBezTo>
                <a:lnTo>
                  <a:pt x="38100" y="2190750"/>
                </a:lnTo>
                <a:cubicBezTo>
                  <a:pt x="17072" y="2190750"/>
                  <a:pt x="0" y="2173678"/>
                  <a:pt x="0" y="2152650"/>
                </a:cubicBezTo>
                <a:lnTo>
                  <a:pt x="0" y="38100"/>
                </a:lnTo>
                <a:cubicBezTo>
                  <a:pt x="0" y="17072"/>
                  <a:pt x="17072" y="0"/>
                  <a:pt x="38100" y="0"/>
                </a:cubicBezTo>
                <a:close/>
              </a:path>
            </a:pathLst>
          </a:custGeom>
          <a:solidFill>
            <a:srgbClr val="BDBDBD">
              <a:alpha val="20000"/>
            </a:srgbClr>
          </a:solidFill>
        </p:spPr>
      </p:sp>
      <p:sp>
        <p:nvSpPr>
          <p:cNvPr id="69" name="Shape 65"/>
          <p:cNvSpPr/>
          <p:nvPr/>
        </p:nvSpPr>
        <p:spPr>
          <a:xfrm>
            <a:off x="6191250" y="3486150"/>
            <a:ext cx="38100" cy="2190750"/>
          </a:xfrm>
          <a:custGeom>
            <a:avLst/>
            <a:gdLst/>
            <a:ahLst/>
            <a:cxnLst/>
            <a:rect l="l" t="t" r="r" b="b"/>
            <a:pathLst>
              <a:path w="38100" h="2190750">
                <a:moveTo>
                  <a:pt x="38100" y="0"/>
                </a:moveTo>
                <a:lnTo>
                  <a:pt x="38100" y="0"/>
                </a:lnTo>
                <a:lnTo>
                  <a:pt x="38100" y="2190750"/>
                </a:lnTo>
                <a:lnTo>
                  <a:pt x="38100" y="2190750"/>
                </a:lnTo>
                <a:cubicBezTo>
                  <a:pt x="17072" y="2190750"/>
                  <a:pt x="0" y="2173678"/>
                  <a:pt x="0" y="2152650"/>
                </a:cubicBezTo>
                <a:lnTo>
                  <a:pt x="0" y="38100"/>
                </a:lnTo>
                <a:cubicBezTo>
                  <a:pt x="0" y="17072"/>
                  <a:pt x="17072" y="0"/>
                  <a:pt x="38100" y="0"/>
                </a:cubicBezTo>
                <a:close/>
              </a:path>
            </a:pathLst>
          </a:custGeom>
          <a:solidFill>
            <a:srgbClr val="BDBDBD"/>
          </a:solidFill>
        </p:spPr>
      </p:sp>
      <p:sp>
        <p:nvSpPr>
          <p:cNvPr id="70" name="Shape 66"/>
          <p:cNvSpPr/>
          <p:nvPr/>
        </p:nvSpPr>
        <p:spPr>
          <a:xfrm>
            <a:off x="6348413" y="3648075"/>
            <a:ext cx="171450" cy="171450"/>
          </a:xfrm>
          <a:custGeom>
            <a:avLst/>
            <a:gdLst/>
            <a:ahLst/>
            <a:cxnLst/>
            <a:rect l="l" t="t" r="r" b="b"/>
            <a:pathLst>
              <a:path w="171450" h="171450">
                <a:moveTo>
                  <a:pt x="139303" y="69652"/>
                </a:moveTo>
                <a:cubicBezTo>
                  <a:pt x="139303" y="85022"/>
                  <a:pt x="134314" y="99220"/>
                  <a:pt x="125909" y="110739"/>
                </a:cubicBezTo>
                <a:lnTo>
                  <a:pt x="168302" y="153166"/>
                </a:lnTo>
                <a:cubicBezTo>
                  <a:pt x="172488" y="157352"/>
                  <a:pt x="172488" y="164150"/>
                  <a:pt x="168302" y="168336"/>
                </a:cubicBezTo>
                <a:cubicBezTo>
                  <a:pt x="164116" y="172522"/>
                  <a:pt x="157319" y="172522"/>
                  <a:pt x="153133" y="168336"/>
                </a:cubicBezTo>
                <a:lnTo>
                  <a:pt x="110739" y="125909"/>
                </a:lnTo>
                <a:cubicBezTo>
                  <a:pt x="99220" y="134314"/>
                  <a:pt x="85022" y="139303"/>
                  <a:pt x="69652" y="139303"/>
                </a:cubicBezTo>
                <a:cubicBezTo>
                  <a:pt x="31176" y="139303"/>
                  <a:pt x="0" y="108127"/>
                  <a:pt x="0" y="69652"/>
                </a:cubicBezTo>
                <a:cubicBezTo>
                  <a:pt x="0" y="31176"/>
                  <a:pt x="31176" y="0"/>
                  <a:pt x="69652" y="0"/>
                </a:cubicBezTo>
                <a:cubicBezTo>
                  <a:pt x="108127" y="0"/>
                  <a:pt x="139303" y="31176"/>
                  <a:pt x="139303" y="69652"/>
                </a:cubicBezTo>
                <a:close/>
                <a:moveTo>
                  <a:pt x="69652" y="117872"/>
                </a:moveTo>
                <a:cubicBezTo>
                  <a:pt x="96265" y="117872"/>
                  <a:pt x="117872" y="96265"/>
                  <a:pt x="117872" y="69652"/>
                </a:cubicBezTo>
                <a:cubicBezTo>
                  <a:pt x="117872" y="43038"/>
                  <a:pt x="96265" y="21431"/>
                  <a:pt x="69652" y="21431"/>
                </a:cubicBezTo>
                <a:cubicBezTo>
                  <a:pt x="43038" y="21431"/>
                  <a:pt x="21431" y="43038"/>
                  <a:pt x="21431" y="69652"/>
                </a:cubicBezTo>
                <a:cubicBezTo>
                  <a:pt x="21431" y="96265"/>
                  <a:pt x="43038" y="117872"/>
                  <a:pt x="69652" y="117872"/>
                </a:cubicBezTo>
                <a:close/>
              </a:path>
            </a:pathLst>
          </a:custGeom>
          <a:solidFill>
            <a:srgbClr val="BDBDBD"/>
          </a:solidFill>
        </p:spPr>
      </p:sp>
      <p:sp>
        <p:nvSpPr>
          <p:cNvPr id="71" name="Text 67"/>
          <p:cNvSpPr/>
          <p:nvPr/>
        </p:nvSpPr>
        <p:spPr>
          <a:xfrm>
            <a:off x="6543675" y="3600450"/>
            <a:ext cx="5238750"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新发现恶意包特征分析</a:t>
            </a:r>
            <a:endParaRPr lang="en-US" sz="1600" dirty="0"/>
          </a:p>
        </p:txBody>
      </p:sp>
      <p:sp>
        <p:nvSpPr>
          <p:cNvPr id="72" name="Shape 68"/>
          <p:cNvSpPr/>
          <p:nvPr/>
        </p:nvSpPr>
        <p:spPr>
          <a:xfrm>
            <a:off x="6324600" y="3943350"/>
            <a:ext cx="5372100" cy="1295400"/>
          </a:xfrm>
          <a:custGeom>
            <a:avLst/>
            <a:gdLst/>
            <a:ahLst/>
            <a:cxnLst/>
            <a:rect l="l" t="t" r="r" b="b"/>
            <a:pathLst>
              <a:path w="5372100" h="1295400">
                <a:moveTo>
                  <a:pt x="76195" y="0"/>
                </a:moveTo>
                <a:lnTo>
                  <a:pt x="5295905" y="0"/>
                </a:lnTo>
                <a:cubicBezTo>
                  <a:pt x="5337958" y="0"/>
                  <a:pt x="5372100" y="34142"/>
                  <a:pt x="5372100" y="76195"/>
                </a:cubicBezTo>
                <a:lnTo>
                  <a:pt x="5372100" y="1219205"/>
                </a:lnTo>
                <a:cubicBezTo>
                  <a:pt x="5372100" y="1261286"/>
                  <a:pt x="5337986" y="1295400"/>
                  <a:pt x="5295905" y="1295400"/>
                </a:cubicBezTo>
                <a:lnTo>
                  <a:pt x="76195" y="1295400"/>
                </a:lnTo>
                <a:cubicBezTo>
                  <a:pt x="34142" y="1295400"/>
                  <a:pt x="0" y="1261258"/>
                  <a:pt x="0" y="1219205"/>
                </a:cubicBezTo>
                <a:lnTo>
                  <a:pt x="0" y="76195"/>
                </a:lnTo>
                <a:cubicBezTo>
                  <a:pt x="0" y="34142"/>
                  <a:pt x="34142" y="0"/>
                  <a:pt x="76195" y="0"/>
                </a:cubicBezTo>
                <a:close/>
              </a:path>
            </a:pathLst>
          </a:custGeom>
          <a:solidFill>
            <a:srgbClr val="FFFFFF"/>
          </a:solidFill>
          <a:effectLst>
            <a:outerShdw blurRad="28575" dist="9525" dir="5400000" algn="bl" rotWithShape="0">
              <a:srgbClr val="000000">
                <a:alpha val="10196"/>
              </a:srgbClr>
            </a:outerShdw>
          </a:effectLst>
        </p:spPr>
      </p:sp>
      <p:sp>
        <p:nvSpPr>
          <p:cNvPr id="73" name="Text 69"/>
          <p:cNvSpPr/>
          <p:nvPr/>
        </p:nvSpPr>
        <p:spPr>
          <a:xfrm>
            <a:off x="6438900" y="4057650"/>
            <a:ext cx="52197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触发场景分布</a:t>
            </a:r>
            <a:endParaRPr lang="en-US" sz="1600" dirty="0"/>
          </a:p>
        </p:txBody>
      </p:sp>
      <p:sp>
        <p:nvSpPr>
          <p:cNvPr id="74" name="Text 70"/>
          <p:cNvSpPr/>
          <p:nvPr/>
        </p:nvSpPr>
        <p:spPr>
          <a:xfrm>
            <a:off x="6438900" y="4343400"/>
            <a:ext cx="127635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安装时触发 (PyPI)</a:t>
            </a:r>
            <a:endParaRPr lang="en-US" sz="1600" dirty="0"/>
          </a:p>
        </p:txBody>
      </p:sp>
      <p:sp>
        <p:nvSpPr>
          <p:cNvPr id="75" name="Text 71"/>
          <p:cNvSpPr/>
          <p:nvPr/>
        </p:nvSpPr>
        <p:spPr>
          <a:xfrm>
            <a:off x="11084839" y="4324350"/>
            <a:ext cx="581025"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69.8%</a:t>
            </a:r>
            <a:endParaRPr lang="en-US" sz="1600" dirty="0"/>
          </a:p>
        </p:txBody>
      </p:sp>
      <p:sp>
        <p:nvSpPr>
          <p:cNvPr id="76" name="Shape 72"/>
          <p:cNvSpPr/>
          <p:nvPr/>
        </p:nvSpPr>
        <p:spPr>
          <a:xfrm>
            <a:off x="6438900" y="4629150"/>
            <a:ext cx="5143500" cy="76200"/>
          </a:xfrm>
          <a:custGeom>
            <a:avLst/>
            <a:gdLst/>
            <a:ahLst/>
            <a:cxnLst/>
            <a:rect l="l" t="t" r="r" b="b"/>
            <a:pathLst>
              <a:path w="5143500" h="76200">
                <a:moveTo>
                  <a:pt x="38100" y="0"/>
                </a:moveTo>
                <a:lnTo>
                  <a:pt x="5105400" y="0"/>
                </a:lnTo>
                <a:cubicBezTo>
                  <a:pt x="5126428" y="0"/>
                  <a:pt x="5143500" y="17072"/>
                  <a:pt x="5143500" y="38100"/>
                </a:cubicBezTo>
                <a:lnTo>
                  <a:pt x="5143500" y="38100"/>
                </a:lnTo>
                <a:cubicBezTo>
                  <a:pt x="5143500" y="59128"/>
                  <a:pt x="5126428" y="76200"/>
                  <a:pt x="5105400" y="76200"/>
                </a:cubicBezTo>
                <a:lnTo>
                  <a:pt x="38100" y="76200"/>
                </a:lnTo>
                <a:cubicBezTo>
                  <a:pt x="17072" y="76200"/>
                  <a:pt x="0" y="59128"/>
                  <a:pt x="0" y="38100"/>
                </a:cubicBezTo>
                <a:lnTo>
                  <a:pt x="0" y="38100"/>
                </a:lnTo>
                <a:cubicBezTo>
                  <a:pt x="0" y="17072"/>
                  <a:pt x="17072" y="0"/>
                  <a:pt x="38100" y="0"/>
                </a:cubicBezTo>
                <a:close/>
              </a:path>
            </a:pathLst>
          </a:custGeom>
          <a:solidFill>
            <a:srgbClr val="BDBDBD">
              <a:alpha val="30196"/>
            </a:srgbClr>
          </a:solidFill>
        </p:spPr>
      </p:sp>
      <p:sp>
        <p:nvSpPr>
          <p:cNvPr id="77" name="Shape 73"/>
          <p:cNvSpPr/>
          <p:nvPr/>
        </p:nvSpPr>
        <p:spPr>
          <a:xfrm>
            <a:off x="6438900" y="4629150"/>
            <a:ext cx="3590925" cy="76200"/>
          </a:xfrm>
          <a:custGeom>
            <a:avLst/>
            <a:gdLst/>
            <a:ahLst/>
            <a:cxnLst/>
            <a:rect l="l" t="t" r="r" b="b"/>
            <a:pathLst>
              <a:path w="3590925" h="76200">
                <a:moveTo>
                  <a:pt x="38100" y="0"/>
                </a:moveTo>
                <a:lnTo>
                  <a:pt x="3552825" y="0"/>
                </a:lnTo>
                <a:cubicBezTo>
                  <a:pt x="3573853" y="0"/>
                  <a:pt x="3590925" y="17072"/>
                  <a:pt x="3590925" y="38100"/>
                </a:cubicBezTo>
                <a:lnTo>
                  <a:pt x="3590925" y="38100"/>
                </a:lnTo>
                <a:cubicBezTo>
                  <a:pt x="3590925" y="59128"/>
                  <a:pt x="3573853" y="76200"/>
                  <a:pt x="3552825" y="76200"/>
                </a:cubicBezTo>
                <a:lnTo>
                  <a:pt x="38100" y="76200"/>
                </a:lnTo>
                <a:cubicBezTo>
                  <a:pt x="17072" y="76200"/>
                  <a:pt x="0" y="59128"/>
                  <a:pt x="0" y="38100"/>
                </a:cubicBezTo>
                <a:lnTo>
                  <a:pt x="0" y="38100"/>
                </a:lnTo>
                <a:cubicBezTo>
                  <a:pt x="0" y="17072"/>
                  <a:pt x="17072" y="0"/>
                  <a:pt x="38100" y="0"/>
                </a:cubicBezTo>
                <a:close/>
              </a:path>
            </a:pathLst>
          </a:custGeom>
          <a:solidFill>
            <a:srgbClr val="4A4A4A"/>
          </a:solidFill>
        </p:spPr>
      </p:sp>
      <p:sp>
        <p:nvSpPr>
          <p:cNvPr id="78" name="Text 74"/>
          <p:cNvSpPr/>
          <p:nvPr/>
        </p:nvSpPr>
        <p:spPr>
          <a:xfrm>
            <a:off x="6438900" y="4762500"/>
            <a:ext cx="131445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安装时触发 (NPM)</a:t>
            </a:r>
            <a:endParaRPr lang="en-US" sz="1600" dirty="0"/>
          </a:p>
        </p:txBody>
      </p:sp>
      <p:sp>
        <p:nvSpPr>
          <p:cNvPr id="79" name="Text 75"/>
          <p:cNvSpPr/>
          <p:nvPr/>
        </p:nvSpPr>
        <p:spPr>
          <a:xfrm>
            <a:off x="11092219" y="4743450"/>
            <a:ext cx="571500"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94.9%</a:t>
            </a:r>
            <a:endParaRPr lang="en-US" sz="1600" dirty="0"/>
          </a:p>
        </p:txBody>
      </p:sp>
      <p:sp>
        <p:nvSpPr>
          <p:cNvPr id="80" name="Shape 76"/>
          <p:cNvSpPr/>
          <p:nvPr/>
        </p:nvSpPr>
        <p:spPr>
          <a:xfrm>
            <a:off x="6438900" y="5048250"/>
            <a:ext cx="5143500" cy="76200"/>
          </a:xfrm>
          <a:custGeom>
            <a:avLst/>
            <a:gdLst/>
            <a:ahLst/>
            <a:cxnLst/>
            <a:rect l="l" t="t" r="r" b="b"/>
            <a:pathLst>
              <a:path w="5143500" h="76200">
                <a:moveTo>
                  <a:pt x="38100" y="0"/>
                </a:moveTo>
                <a:lnTo>
                  <a:pt x="5105400" y="0"/>
                </a:lnTo>
                <a:cubicBezTo>
                  <a:pt x="5126428" y="0"/>
                  <a:pt x="5143500" y="17072"/>
                  <a:pt x="5143500" y="38100"/>
                </a:cubicBezTo>
                <a:lnTo>
                  <a:pt x="5143500" y="38100"/>
                </a:lnTo>
                <a:cubicBezTo>
                  <a:pt x="5143500" y="59128"/>
                  <a:pt x="5126428" y="76200"/>
                  <a:pt x="5105400" y="76200"/>
                </a:cubicBezTo>
                <a:lnTo>
                  <a:pt x="38100" y="76200"/>
                </a:lnTo>
                <a:cubicBezTo>
                  <a:pt x="17072" y="76200"/>
                  <a:pt x="0" y="59128"/>
                  <a:pt x="0" y="38100"/>
                </a:cubicBezTo>
                <a:lnTo>
                  <a:pt x="0" y="38100"/>
                </a:lnTo>
                <a:cubicBezTo>
                  <a:pt x="0" y="17072"/>
                  <a:pt x="17072" y="0"/>
                  <a:pt x="38100" y="0"/>
                </a:cubicBezTo>
                <a:close/>
              </a:path>
            </a:pathLst>
          </a:custGeom>
          <a:solidFill>
            <a:srgbClr val="BDBDBD">
              <a:alpha val="30196"/>
            </a:srgbClr>
          </a:solidFill>
        </p:spPr>
      </p:sp>
      <p:sp>
        <p:nvSpPr>
          <p:cNvPr id="81" name="Shape 77"/>
          <p:cNvSpPr/>
          <p:nvPr/>
        </p:nvSpPr>
        <p:spPr>
          <a:xfrm>
            <a:off x="6438900" y="5048250"/>
            <a:ext cx="4876800" cy="76200"/>
          </a:xfrm>
          <a:custGeom>
            <a:avLst/>
            <a:gdLst/>
            <a:ahLst/>
            <a:cxnLst/>
            <a:rect l="l" t="t" r="r" b="b"/>
            <a:pathLst>
              <a:path w="4876800" h="76200">
                <a:moveTo>
                  <a:pt x="38100" y="0"/>
                </a:moveTo>
                <a:lnTo>
                  <a:pt x="4838700" y="0"/>
                </a:lnTo>
                <a:cubicBezTo>
                  <a:pt x="4859728" y="0"/>
                  <a:pt x="4876800" y="17072"/>
                  <a:pt x="4876800" y="38100"/>
                </a:cubicBezTo>
                <a:lnTo>
                  <a:pt x="4876800" y="38100"/>
                </a:lnTo>
                <a:cubicBezTo>
                  <a:pt x="4876800" y="59128"/>
                  <a:pt x="4859728" y="76200"/>
                  <a:pt x="4838700" y="76200"/>
                </a:cubicBezTo>
                <a:lnTo>
                  <a:pt x="38100" y="76200"/>
                </a:lnTo>
                <a:cubicBezTo>
                  <a:pt x="17072" y="76200"/>
                  <a:pt x="0" y="59128"/>
                  <a:pt x="0" y="38100"/>
                </a:cubicBezTo>
                <a:lnTo>
                  <a:pt x="0" y="38100"/>
                </a:lnTo>
                <a:cubicBezTo>
                  <a:pt x="0" y="17072"/>
                  <a:pt x="17072" y="0"/>
                  <a:pt x="38100" y="0"/>
                </a:cubicBezTo>
                <a:close/>
              </a:path>
            </a:pathLst>
          </a:custGeom>
          <a:solidFill>
            <a:srgbClr val="4A4A4A"/>
          </a:solidFill>
        </p:spPr>
      </p:sp>
      <p:sp>
        <p:nvSpPr>
          <p:cNvPr id="82" name="Shape 78"/>
          <p:cNvSpPr/>
          <p:nvPr/>
        </p:nvSpPr>
        <p:spPr>
          <a:xfrm>
            <a:off x="6324600" y="5314950"/>
            <a:ext cx="5372100" cy="1181100"/>
          </a:xfrm>
          <a:custGeom>
            <a:avLst/>
            <a:gdLst/>
            <a:ahLst/>
            <a:cxnLst/>
            <a:rect l="l" t="t" r="r" b="b"/>
            <a:pathLst>
              <a:path w="5372100" h="1181100">
                <a:moveTo>
                  <a:pt x="76205" y="0"/>
                </a:moveTo>
                <a:lnTo>
                  <a:pt x="5295895" y="0"/>
                </a:lnTo>
                <a:cubicBezTo>
                  <a:pt x="5337954" y="0"/>
                  <a:pt x="5372100" y="34146"/>
                  <a:pt x="5372100" y="76205"/>
                </a:cubicBezTo>
                <a:lnTo>
                  <a:pt x="5372100" y="1104895"/>
                </a:lnTo>
                <a:cubicBezTo>
                  <a:pt x="5372100" y="1146982"/>
                  <a:pt x="5337982" y="1181100"/>
                  <a:pt x="5295895" y="1181100"/>
                </a:cubicBezTo>
                <a:lnTo>
                  <a:pt x="76205" y="1181100"/>
                </a:lnTo>
                <a:cubicBezTo>
                  <a:pt x="34146" y="1181100"/>
                  <a:pt x="0" y="1146954"/>
                  <a:pt x="0" y="1104895"/>
                </a:cubicBezTo>
                <a:lnTo>
                  <a:pt x="0" y="76205"/>
                </a:lnTo>
                <a:cubicBezTo>
                  <a:pt x="0" y="34146"/>
                  <a:pt x="34146" y="0"/>
                  <a:pt x="76205" y="0"/>
                </a:cubicBezTo>
                <a:close/>
              </a:path>
            </a:pathLst>
          </a:custGeom>
          <a:solidFill>
            <a:srgbClr val="FFFFFF"/>
          </a:solidFill>
          <a:effectLst>
            <a:outerShdw blurRad="28575" dist="9525" dir="5400000" algn="bl" rotWithShape="0">
              <a:srgbClr val="000000">
                <a:alpha val="10196"/>
              </a:srgbClr>
            </a:outerShdw>
          </a:effectLst>
        </p:spPr>
      </p:sp>
      <p:sp>
        <p:nvSpPr>
          <p:cNvPr id="83" name="Text 79"/>
          <p:cNvSpPr/>
          <p:nvPr/>
        </p:nvSpPr>
        <p:spPr>
          <a:xfrm>
            <a:off x="6438900" y="5429250"/>
            <a:ext cx="5219700" cy="228600"/>
          </a:xfrm>
          <a:prstGeom prst="rect">
            <a:avLst/>
          </a:prstGeom>
          <a:noFill/>
        </p:spPr>
        <p:txBody>
          <a:bodyPr wrap="square" lIns="0" tIns="0" rIns="0" bIns="0" rtlCol="0" anchor="ctr"/>
          <a:lstStyle/>
          <a:p>
            <a:pPr>
              <a:lnSpc>
                <a:spcPct val="130000"/>
              </a:lnSpc>
            </a:pPr>
            <a:r>
              <a:rPr lang="en-US" sz="1200" b="1" dirty="0">
                <a:solidFill>
                  <a:srgbClr val="4A4A4A"/>
                </a:solidFill>
                <a:latin typeface="MiSans" pitchFamily="34" charset="-122"/>
                <a:ea typeface="MiSans" pitchFamily="34" charset="-122"/>
                <a:cs typeface="MiSans" pitchFamily="34" charset="-120"/>
              </a:rPr>
              <a:t>主要攻击意图</a:t>
            </a:r>
            <a:endParaRPr lang="en-US" sz="1600" dirty="0"/>
          </a:p>
        </p:txBody>
      </p:sp>
      <p:sp>
        <p:nvSpPr>
          <p:cNvPr id="84" name="Text 80"/>
          <p:cNvSpPr/>
          <p:nvPr/>
        </p:nvSpPr>
        <p:spPr>
          <a:xfrm>
            <a:off x="6438900" y="5715000"/>
            <a:ext cx="990600" cy="228600"/>
          </a:xfrm>
          <a:prstGeom prst="rect">
            <a:avLst/>
          </a:prstGeom>
          <a:noFill/>
        </p:spPr>
        <p:txBody>
          <a:bodyPr wrap="square" lIns="0" tIns="0" rIns="0" bIns="0" rtlCol="0" anchor="ctr"/>
          <a:lstStyle/>
          <a:p>
            <a:pPr>
              <a:lnSpc>
                <a:spcPct val="130000"/>
              </a:lnSpc>
            </a:pPr>
            <a:r>
              <a:rPr lang="en-US" sz="1200" dirty="0">
                <a:solidFill>
                  <a:srgbClr val="808080"/>
                </a:solidFill>
                <a:latin typeface="MiSans" pitchFamily="34" charset="-122"/>
                <a:ea typeface="MiSans" pitchFamily="34" charset="-122"/>
                <a:cs typeface="MiSans" pitchFamily="34" charset="-120"/>
              </a:rPr>
              <a:t>窃取敏感信息</a:t>
            </a:r>
            <a:endParaRPr lang="en-US" sz="1600" dirty="0"/>
          </a:p>
        </p:txBody>
      </p:sp>
      <p:sp>
        <p:nvSpPr>
          <p:cNvPr id="85" name="Text 81"/>
          <p:cNvSpPr/>
          <p:nvPr/>
        </p:nvSpPr>
        <p:spPr>
          <a:xfrm>
            <a:off x="11098292" y="5695950"/>
            <a:ext cx="571500" cy="266700"/>
          </a:xfrm>
          <a:prstGeom prst="rect">
            <a:avLst/>
          </a:prstGeom>
          <a:noFill/>
        </p:spPr>
        <p:txBody>
          <a:bodyPr wrap="square" lIns="0" tIns="0" rIns="0" bIns="0" rtlCol="0" anchor="ctr"/>
          <a:lstStyle/>
          <a:p>
            <a:pPr>
              <a:lnSpc>
                <a:spcPct val="130000"/>
              </a:lnSpc>
            </a:pPr>
            <a:r>
              <a:rPr lang="en-US" sz="1350" b="1" dirty="0">
                <a:solidFill>
                  <a:srgbClr val="4A4A4A"/>
                </a:solidFill>
                <a:latin typeface="MiSans" pitchFamily="34" charset="-122"/>
                <a:ea typeface="MiSans" pitchFamily="34" charset="-122"/>
                <a:cs typeface="MiSans" pitchFamily="34" charset="-120"/>
              </a:rPr>
              <a:t>70.9%</a:t>
            </a:r>
            <a:endParaRPr lang="en-US" sz="1600" dirty="0"/>
          </a:p>
        </p:txBody>
      </p:sp>
      <p:sp>
        <p:nvSpPr>
          <p:cNvPr id="86" name="Shape 82"/>
          <p:cNvSpPr/>
          <p:nvPr/>
        </p:nvSpPr>
        <p:spPr>
          <a:xfrm>
            <a:off x="6438900" y="6000750"/>
            <a:ext cx="5143500" cy="76200"/>
          </a:xfrm>
          <a:custGeom>
            <a:avLst/>
            <a:gdLst/>
            <a:ahLst/>
            <a:cxnLst/>
            <a:rect l="l" t="t" r="r" b="b"/>
            <a:pathLst>
              <a:path w="5143500" h="76200">
                <a:moveTo>
                  <a:pt x="38100" y="0"/>
                </a:moveTo>
                <a:lnTo>
                  <a:pt x="5105400" y="0"/>
                </a:lnTo>
                <a:cubicBezTo>
                  <a:pt x="5126428" y="0"/>
                  <a:pt x="5143500" y="17072"/>
                  <a:pt x="5143500" y="38100"/>
                </a:cubicBezTo>
                <a:lnTo>
                  <a:pt x="5143500" y="38100"/>
                </a:lnTo>
                <a:cubicBezTo>
                  <a:pt x="5143500" y="59128"/>
                  <a:pt x="5126428" y="76200"/>
                  <a:pt x="5105400" y="76200"/>
                </a:cubicBezTo>
                <a:lnTo>
                  <a:pt x="38100" y="76200"/>
                </a:lnTo>
                <a:cubicBezTo>
                  <a:pt x="17072" y="76200"/>
                  <a:pt x="0" y="59128"/>
                  <a:pt x="0" y="38100"/>
                </a:cubicBezTo>
                <a:lnTo>
                  <a:pt x="0" y="38100"/>
                </a:lnTo>
                <a:cubicBezTo>
                  <a:pt x="0" y="17072"/>
                  <a:pt x="17072" y="0"/>
                  <a:pt x="38100" y="0"/>
                </a:cubicBezTo>
                <a:close/>
              </a:path>
            </a:pathLst>
          </a:custGeom>
          <a:solidFill>
            <a:srgbClr val="BDBDBD">
              <a:alpha val="30196"/>
            </a:srgbClr>
          </a:solidFill>
        </p:spPr>
      </p:sp>
      <p:sp>
        <p:nvSpPr>
          <p:cNvPr id="87" name="Shape 83"/>
          <p:cNvSpPr/>
          <p:nvPr/>
        </p:nvSpPr>
        <p:spPr>
          <a:xfrm>
            <a:off x="6438900" y="6000750"/>
            <a:ext cx="3648075" cy="76200"/>
          </a:xfrm>
          <a:custGeom>
            <a:avLst/>
            <a:gdLst/>
            <a:ahLst/>
            <a:cxnLst/>
            <a:rect l="l" t="t" r="r" b="b"/>
            <a:pathLst>
              <a:path w="3648075" h="76200">
                <a:moveTo>
                  <a:pt x="38100" y="0"/>
                </a:moveTo>
                <a:lnTo>
                  <a:pt x="3609975" y="0"/>
                </a:lnTo>
                <a:cubicBezTo>
                  <a:pt x="3631003" y="0"/>
                  <a:pt x="3648075" y="17072"/>
                  <a:pt x="3648075" y="38100"/>
                </a:cubicBezTo>
                <a:lnTo>
                  <a:pt x="3648075" y="38100"/>
                </a:lnTo>
                <a:cubicBezTo>
                  <a:pt x="3648075" y="59128"/>
                  <a:pt x="3631003" y="76200"/>
                  <a:pt x="3609975" y="76200"/>
                </a:cubicBezTo>
                <a:lnTo>
                  <a:pt x="38100" y="76200"/>
                </a:lnTo>
                <a:cubicBezTo>
                  <a:pt x="17072" y="76200"/>
                  <a:pt x="0" y="59128"/>
                  <a:pt x="0" y="38100"/>
                </a:cubicBezTo>
                <a:lnTo>
                  <a:pt x="0" y="38100"/>
                </a:lnTo>
                <a:cubicBezTo>
                  <a:pt x="0" y="17072"/>
                  <a:pt x="17072" y="0"/>
                  <a:pt x="38100" y="0"/>
                </a:cubicBezTo>
                <a:close/>
              </a:path>
            </a:pathLst>
          </a:custGeom>
          <a:solidFill>
            <a:srgbClr val="4A4A4A"/>
          </a:solidFill>
        </p:spPr>
      </p:sp>
      <p:sp>
        <p:nvSpPr>
          <p:cNvPr id="88" name="Shape 84"/>
          <p:cNvSpPr/>
          <p:nvPr/>
        </p:nvSpPr>
        <p:spPr>
          <a:xfrm>
            <a:off x="6438900" y="6115050"/>
            <a:ext cx="2533650" cy="266700"/>
          </a:xfrm>
          <a:custGeom>
            <a:avLst/>
            <a:gdLst/>
            <a:ahLst/>
            <a:cxnLst/>
            <a:rect l="l" t="t" r="r" b="b"/>
            <a:pathLst>
              <a:path w="2533650" h="266700">
                <a:moveTo>
                  <a:pt x="38101" y="0"/>
                </a:moveTo>
                <a:lnTo>
                  <a:pt x="2495549" y="0"/>
                </a:lnTo>
                <a:cubicBezTo>
                  <a:pt x="2516592" y="0"/>
                  <a:pt x="2533650" y="17058"/>
                  <a:pt x="2533650" y="38101"/>
                </a:cubicBezTo>
                <a:lnTo>
                  <a:pt x="2533650" y="228599"/>
                </a:lnTo>
                <a:cubicBezTo>
                  <a:pt x="2533650" y="249642"/>
                  <a:pt x="2516592" y="266700"/>
                  <a:pt x="2495549" y="266700"/>
                </a:cubicBezTo>
                <a:lnTo>
                  <a:pt x="38101" y="266700"/>
                </a:lnTo>
                <a:cubicBezTo>
                  <a:pt x="17058" y="266700"/>
                  <a:pt x="0" y="249642"/>
                  <a:pt x="0" y="228599"/>
                </a:cubicBezTo>
                <a:lnTo>
                  <a:pt x="0" y="38101"/>
                </a:lnTo>
                <a:cubicBezTo>
                  <a:pt x="0" y="17072"/>
                  <a:pt x="17072" y="0"/>
                  <a:pt x="38101" y="0"/>
                </a:cubicBezTo>
                <a:close/>
              </a:path>
            </a:pathLst>
          </a:custGeom>
          <a:solidFill>
            <a:srgbClr val="BDBDBD">
              <a:alpha val="20000"/>
            </a:srgbClr>
          </a:solidFill>
        </p:spPr>
      </p:sp>
      <p:sp>
        <p:nvSpPr>
          <p:cNvPr id="89" name="Text 85"/>
          <p:cNvSpPr/>
          <p:nvPr/>
        </p:nvSpPr>
        <p:spPr>
          <a:xfrm>
            <a:off x="6443663" y="6153150"/>
            <a:ext cx="2524125" cy="190500"/>
          </a:xfrm>
          <a:prstGeom prst="rect">
            <a:avLst/>
          </a:prstGeom>
          <a:noFill/>
        </p:spPr>
        <p:txBody>
          <a:bodyPr wrap="square" lIns="0" tIns="0" rIns="0" bIns="0" rtlCol="0" anchor="ctr"/>
          <a:lstStyle/>
          <a:p>
            <a:pPr algn="ctr">
              <a:lnSpc>
                <a:spcPct val="120000"/>
              </a:lnSpc>
            </a:pPr>
            <a:r>
              <a:rPr lang="en-US" sz="1050" b="1" dirty="0">
                <a:solidFill>
                  <a:srgbClr val="4A4A4A"/>
                </a:solidFill>
                <a:latin typeface="MiSans" pitchFamily="34" charset="-122"/>
                <a:ea typeface="MiSans" pitchFamily="34" charset="-122"/>
                <a:cs typeface="MiSans" pitchFamily="34" charset="-120"/>
              </a:rPr>
              <a:t>破坏系统</a:t>
            </a:r>
            <a:endParaRPr lang="en-US" sz="1600" dirty="0"/>
          </a:p>
        </p:txBody>
      </p:sp>
      <p:sp>
        <p:nvSpPr>
          <p:cNvPr id="90" name="Shape 86"/>
          <p:cNvSpPr/>
          <p:nvPr/>
        </p:nvSpPr>
        <p:spPr>
          <a:xfrm>
            <a:off x="9048750" y="6115050"/>
            <a:ext cx="2533650" cy="266700"/>
          </a:xfrm>
          <a:custGeom>
            <a:avLst/>
            <a:gdLst/>
            <a:ahLst/>
            <a:cxnLst/>
            <a:rect l="l" t="t" r="r" b="b"/>
            <a:pathLst>
              <a:path w="2533650" h="266700">
                <a:moveTo>
                  <a:pt x="38101" y="0"/>
                </a:moveTo>
                <a:lnTo>
                  <a:pt x="2495549" y="0"/>
                </a:lnTo>
                <a:cubicBezTo>
                  <a:pt x="2516592" y="0"/>
                  <a:pt x="2533650" y="17058"/>
                  <a:pt x="2533650" y="38101"/>
                </a:cubicBezTo>
                <a:lnTo>
                  <a:pt x="2533650" y="228599"/>
                </a:lnTo>
                <a:cubicBezTo>
                  <a:pt x="2533650" y="249642"/>
                  <a:pt x="2516592" y="266700"/>
                  <a:pt x="2495549" y="266700"/>
                </a:cubicBezTo>
                <a:lnTo>
                  <a:pt x="38101" y="266700"/>
                </a:lnTo>
                <a:cubicBezTo>
                  <a:pt x="17058" y="266700"/>
                  <a:pt x="0" y="249642"/>
                  <a:pt x="0" y="228599"/>
                </a:cubicBezTo>
                <a:lnTo>
                  <a:pt x="0" y="38101"/>
                </a:lnTo>
                <a:cubicBezTo>
                  <a:pt x="0" y="17072"/>
                  <a:pt x="17072" y="0"/>
                  <a:pt x="38101" y="0"/>
                </a:cubicBezTo>
                <a:close/>
              </a:path>
            </a:pathLst>
          </a:custGeom>
          <a:solidFill>
            <a:srgbClr val="BDBDBD">
              <a:alpha val="20000"/>
            </a:srgbClr>
          </a:solidFill>
        </p:spPr>
      </p:sp>
      <p:sp>
        <p:nvSpPr>
          <p:cNvPr id="91" name="Text 87"/>
          <p:cNvSpPr/>
          <p:nvPr/>
        </p:nvSpPr>
        <p:spPr>
          <a:xfrm>
            <a:off x="9053513" y="6153150"/>
            <a:ext cx="2524125" cy="190500"/>
          </a:xfrm>
          <a:prstGeom prst="rect">
            <a:avLst/>
          </a:prstGeom>
          <a:noFill/>
        </p:spPr>
        <p:txBody>
          <a:bodyPr wrap="square" lIns="0" tIns="0" rIns="0" bIns="0" rtlCol="0" anchor="ctr"/>
          <a:lstStyle/>
          <a:p>
            <a:pPr algn="ctr">
              <a:lnSpc>
                <a:spcPct val="120000"/>
              </a:lnSpc>
            </a:pPr>
            <a:r>
              <a:rPr lang="en-US" sz="1050" b="1" dirty="0">
                <a:solidFill>
                  <a:srgbClr val="4A4A4A"/>
                </a:solidFill>
                <a:latin typeface="MiSans" pitchFamily="34" charset="-122"/>
                <a:ea typeface="MiSans" pitchFamily="34" charset="-122"/>
                <a:cs typeface="MiSans" pitchFamily="34" charset="-120"/>
              </a:rPr>
              <a:t>植入后门</a:t>
            </a:r>
            <a:endParaRPr lang="en-US" sz="1600" dirty="0"/>
          </a:p>
        </p:txBody>
      </p:sp>
      <p:sp>
        <p:nvSpPr>
          <p:cNvPr id="92" name="Shape 88"/>
          <p:cNvSpPr/>
          <p:nvPr/>
        </p:nvSpPr>
        <p:spPr>
          <a:xfrm>
            <a:off x="381000" y="5753100"/>
            <a:ext cx="11430000" cy="723900"/>
          </a:xfrm>
          <a:custGeom>
            <a:avLst/>
            <a:gdLst/>
            <a:ahLst/>
            <a:cxnLst/>
            <a:rect l="l" t="t" r="r" b="b"/>
            <a:pathLst>
              <a:path w="11430000" h="723900">
                <a:moveTo>
                  <a:pt x="76198" y="0"/>
                </a:moveTo>
                <a:lnTo>
                  <a:pt x="11353802" y="0"/>
                </a:lnTo>
                <a:cubicBezTo>
                  <a:pt x="11395857" y="0"/>
                  <a:pt x="11430000" y="34143"/>
                  <a:pt x="11430000" y="76198"/>
                </a:cubicBezTo>
                <a:lnTo>
                  <a:pt x="11430000" y="647702"/>
                </a:lnTo>
                <a:cubicBezTo>
                  <a:pt x="11430000" y="689757"/>
                  <a:pt x="11395857" y="723900"/>
                  <a:pt x="11353802" y="723900"/>
                </a:cubicBezTo>
                <a:lnTo>
                  <a:pt x="76198" y="723900"/>
                </a:lnTo>
                <a:cubicBezTo>
                  <a:pt x="34143" y="723900"/>
                  <a:pt x="0" y="689757"/>
                  <a:pt x="0" y="647702"/>
                </a:cubicBezTo>
                <a:lnTo>
                  <a:pt x="0" y="76198"/>
                </a:lnTo>
                <a:cubicBezTo>
                  <a:pt x="0" y="34143"/>
                  <a:pt x="34143" y="0"/>
                  <a:pt x="76198" y="0"/>
                </a:cubicBezTo>
                <a:close/>
              </a:path>
            </a:pathLst>
          </a:custGeom>
          <a:gradFill flip="none" rotWithShape="1">
            <a:gsLst>
              <a:gs pos="0">
                <a:srgbClr val="4A4A4A"/>
              </a:gs>
              <a:gs pos="100000">
                <a:srgbClr val="808080"/>
              </a:gs>
            </a:gsLst>
            <a:lin ang="0" scaled="1"/>
          </a:gradFill>
        </p:spPr>
      </p:sp>
      <p:sp>
        <p:nvSpPr>
          <p:cNvPr id="93" name="Shape 89"/>
          <p:cNvSpPr/>
          <p:nvPr/>
        </p:nvSpPr>
        <p:spPr>
          <a:xfrm>
            <a:off x="523875" y="6000750"/>
            <a:ext cx="228600" cy="228600"/>
          </a:xfrm>
          <a:custGeom>
            <a:avLst/>
            <a:gdLst/>
            <a:ahLst/>
            <a:cxnLst/>
            <a:rect l="l" t="t" r="r" b="b"/>
            <a:pathLst>
              <a:path w="228600" h="228600">
                <a:moveTo>
                  <a:pt x="114300" y="0"/>
                </a:moveTo>
                <a:cubicBezTo>
                  <a:pt x="116354" y="0"/>
                  <a:pt x="118408" y="446"/>
                  <a:pt x="120283" y="1295"/>
                </a:cubicBezTo>
                <a:lnTo>
                  <a:pt x="204401" y="36969"/>
                </a:lnTo>
                <a:cubicBezTo>
                  <a:pt x="214223" y="41121"/>
                  <a:pt x="221546" y="50810"/>
                  <a:pt x="221501" y="62508"/>
                </a:cubicBezTo>
                <a:cubicBezTo>
                  <a:pt x="221278" y="106799"/>
                  <a:pt x="203061" y="187836"/>
                  <a:pt x="126132" y="224671"/>
                </a:cubicBezTo>
                <a:cubicBezTo>
                  <a:pt x="118676" y="228243"/>
                  <a:pt x="110014" y="228243"/>
                  <a:pt x="102557" y="224671"/>
                </a:cubicBezTo>
                <a:cubicBezTo>
                  <a:pt x="25584" y="187836"/>
                  <a:pt x="7412" y="106799"/>
                  <a:pt x="7188" y="62508"/>
                </a:cubicBezTo>
                <a:cubicBezTo>
                  <a:pt x="7144" y="50810"/>
                  <a:pt x="14466" y="41121"/>
                  <a:pt x="24289" y="36969"/>
                </a:cubicBezTo>
                <a:lnTo>
                  <a:pt x="108362" y="1295"/>
                </a:lnTo>
                <a:cubicBezTo>
                  <a:pt x="110237" y="446"/>
                  <a:pt x="112246" y="0"/>
                  <a:pt x="114300" y="0"/>
                </a:cubicBezTo>
                <a:close/>
                <a:moveTo>
                  <a:pt x="114300" y="29825"/>
                </a:moveTo>
                <a:lnTo>
                  <a:pt x="114300" y="198641"/>
                </a:lnTo>
                <a:cubicBezTo>
                  <a:pt x="175915" y="168816"/>
                  <a:pt x="192479" y="102736"/>
                  <a:pt x="192881" y="63178"/>
                </a:cubicBezTo>
                <a:lnTo>
                  <a:pt x="114300" y="29870"/>
                </a:lnTo>
                <a:lnTo>
                  <a:pt x="114300" y="29870"/>
                </a:lnTo>
                <a:close/>
              </a:path>
            </a:pathLst>
          </a:custGeom>
          <a:solidFill>
            <a:srgbClr val="FFFFFF"/>
          </a:solidFill>
        </p:spPr>
      </p:sp>
      <p:sp>
        <p:nvSpPr>
          <p:cNvPr id="94" name="Text 90"/>
          <p:cNvSpPr/>
          <p:nvPr/>
        </p:nvSpPr>
        <p:spPr>
          <a:xfrm>
            <a:off x="895350" y="6000750"/>
            <a:ext cx="5191125" cy="228600"/>
          </a:xfrm>
          <a:prstGeom prst="rect">
            <a:avLst/>
          </a:prstGeom>
          <a:noFill/>
        </p:spPr>
        <p:txBody>
          <a:bodyPr wrap="square" lIns="0" tIns="0" rIns="0" bIns="0" rtlCol="0" anchor="ctr"/>
          <a:lstStyle/>
          <a:p>
            <a:pPr>
              <a:lnSpc>
                <a:spcPct val="130000"/>
              </a:lnSpc>
            </a:pPr>
            <a:r>
              <a:rPr lang="en-US" sz="1200" b="1" dirty="0">
                <a:solidFill>
                  <a:srgbClr val="FFFFFF"/>
                </a:solidFill>
                <a:latin typeface="MiSans" pitchFamily="34" charset="-122"/>
                <a:ea typeface="MiSans" pitchFamily="34" charset="-122"/>
                <a:cs typeface="MiSans" pitchFamily="34" charset="-120"/>
              </a:rPr>
              <a:t>CEREBRO为开源软件注册中心提供了可用的、自动化的恶意包实时防御方案</a:t>
            </a:r>
            <a:endParaRPr lang="en-US" sz="1600" dirty="0"/>
          </a:p>
        </p:txBody>
      </p:sp>
      <p:sp>
        <p:nvSpPr>
          <p:cNvPr id="95" name="Text 91"/>
          <p:cNvSpPr/>
          <p:nvPr/>
        </p:nvSpPr>
        <p:spPr>
          <a:xfrm>
            <a:off x="10706100" y="5867400"/>
            <a:ext cx="990600" cy="228600"/>
          </a:xfrm>
          <a:prstGeom prst="rect">
            <a:avLst/>
          </a:prstGeom>
          <a:noFill/>
        </p:spPr>
        <p:txBody>
          <a:bodyPr wrap="square" lIns="0" tIns="0" rIns="0" bIns="0" rtlCol="0" anchor="ctr"/>
          <a:lstStyle/>
          <a:p>
            <a:pPr algn="r">
              <a:lnSpc>
                <a:spcPct val="130000"/>
              </a:lnSpc>
            </a:pPr>
            <a:r>
              <a:rPr lang="en-US" sz="1200" dirty="0">
                <a:solidFill>
                  <a:srgbClr val="FFFFFF">
                    <a:alpha val="80000"/>
                  </a:srgbClr>
                </a:solidFill>
                <a:latin typeface="MiSans" pitchFamily="34" charset="-122"/>
                <a:ea typeface="MiSans" pitchFamily="34" charset="-122"/>
                <a:cs typeface="MiSans" pitchFamily="34" charset="-120"/>
              </a:rPr>
              <a:t>实际应用价值</a:t>
            </a:r>
            <a:endParaRPr lang="en-US" sz="1600" dirty="0"/>
          </a:p>
        </p:txBody>
      </p:sp>
      <p:sp>
        <p:nvSpPr>
          <p:cNvPr id="96" name="Text 92"/>
          <p:cNvSpPr/>
          <p:nvPr/>
        </p:nvSpPr>
        <p:spPr>
          <a:xfrm>
            <a:off x="10687050" y="6096000"/>
            <a:ext cx="1009650" cy="266700"/>
          </a:xfrm>
          <a:prstGeom prst="rect">
            <a:avLst/>
          </a:prstGeom>
          <a:noFill/>
        </p:spPr>
        <p:txBody>
          <a:bodyPr wrap="square" lIns="0" tIns="0" rIns="0" bIns="0" rtlCol="0" anchor="ctr"/>
          <a:lstStyle/>
          <a:p>
            <a:pPr algn="r">
              <a:lnSpc>
                <a:spcPct val="120000"/>
              </a:lnSpc>
            </a:pPr>
            <a:r>
              <a:rPr lang="en-US" sz="1500" b="1" dirty="0">
                <a:solidFill>
                  <a:srgbClr val="FFFFFF"/>
                </a:solidFill>
                <a:latin typeface="MiSans" pitchFamily="34" charset="-122"/>
                <a:ea typeface="MiSans" pitchFamily="34" charset="-122"/>
                <a:cs typeface="MiSans" pitchFamily="34" charset="-120"/>
              </a:rPr>
              <a:t>已验证</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10-11-20:29:04-d3l4r40s8jdo4os5eok0.jpeg"/>
          <p:cNvPicPr>
            <a:picLocks noChangeAspect="1"/>
          </p:cNvPicPr>
          <p:nvPr/>
        </p:nvPicPr>
        <p:blipFill>
          <a:blip r:embed="rId1">
            <a:alphaModFix amt="34000"/>
          </a:blip>
          <a:srcRect t="46513" b="46513"/>
          <a:stretch>
            <a:fillRect/>
          </a:stretch>
        </p:blipFill>
        <p:spPr>
          <a:xfrm>
            <a:off x="799465" y="6010275"/>
            <a:ext cx="10638155" cy="215265"/>
          </a:xfrm>
          <a:prstGeom prst="rect">
            <a:avLst/>
          </a:prstGeom>
        </p:spPr>
      </p:pic>
      <p:pic>
        <p:nvPicPr>
          <p:cNvPr id="3" name="Image 1" descr="https://kimi-img.moonshot.cn/pub/slides/slides_tmpl/image/25-10-11-20:29:20-d3l4r80s8jdo4os5eomg.jpg"/>
          <p:cNvPicPr>
            <a:picLocks noChangeAspect="1"/>
          </p:cNvPicPr>
          <p:nvPr/>
        </p:nvPicPr>
        <p:blipFill>
          <a:blip r:embed="rId2"/>
          <a:stretch>
            <a:fillRect/>
          </a:stretch>
        </p:blipFill>
        <p:spPr>
          <a:xfrm>
            <a:off x="1270" y="0"/>
            <a:ext cx="12190730" cy="6858000"/>
          </a:xfrm>
          <a:prstGeom prst="rect">
            <a:avLst/>
          </a:prstGeom>
        </p:spPr>
      </p:pic>
      <p:pic>
        <p:nvPicPr>
          <p:cNvPr id="4" name="Image 2" descr="https://kimi-web-img.moonshot.cn/img/www.infocean.com/43c756beec5c89a6d2acc1607efcfc28adac3e2e.png"/>
          <p:cNvPicPr>
            <a:picLocks noChangeAspect="1"/>
          </p:cNvPicPr>
          <p:nvPr/>
        </p:nvPicPr>
        <p:blipFill>
          <a:blip r:embed="rId3">
            <a:alphaModFix amt="10000"/>
          </a:blip>
          <a:srcRect l="6556" r="6556"/>
          <a:stretch>
            <a:fillRect/>
          </a:stretch>
        </p:blipFill>
        <p:spPr>
          <a:xfrm>
            <a:off x="0" y="0"/>
            <a:ext cx="12192000" cy="6858000"/>
          </a:xfrm>
          <a:prstGeom prst="roundRect">
            <a:avLst>
              <a:gd name="adj" fmla="val 0"/>
            </a:avLst>
          </a:prstGeom>
        </p:spPr>
      </p:pic>
      <p:sp>
        <p:nvSpPr>
          <p:cNvPr id="5"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4A4A4A">
                  <a:alpha val="95000"/>
                </a:srgbClr>
              </a:gs>
              <a:gs pos="50000">
                <a:srgbClr val="808080">
                  <a:alpha val="90000"/>
                </a:srgbClr>
              </a:gs>
              <a:gs pos="100000">
                <a:srgbClr val="BDBDBD">
                  <a:alpha val="80000"/>
                </a:srgbClr>
              </a:gs>
            </a:gsLst>
            <a:lin ang="2700000" scaled="1"/>
          </a:gradFill>
        </p:spPr>
      </p:sp>
      <p:sp>
        <p:nvSpPr>
          <p:cNvPr id="6" name="Shape 1"/>
          <p:cNvSpPr/>
          <p:nvPr/>
        </p:nvSpPr>
        <p:spPr>
          <a:xfrm>
            <a:off x="381000" y="685921"/>
            <a:ext cx="1790700" cy="419100"/>
          </a:xfrm>
          <a:custGeom>
            <a:avLst/>
            <a:gdLst/>
            <a:ahLst/>
            <a:cxnLst/>
            <a:rect l="l" t="t" r="r" b="b"/>
            <a:pathLst>
              <a:path w="1790700" h="419100">
                <a:moveTo>
                  <a:pt x="209550" y="0"/>
                </a:moveTo>
                <a:lnTo>
                  <a:pt x="1581150" y="0"/>
                </a:lnTo>
                <a:cubicBezTo>
                  <a:pt x="1696804" y="0"/>
                  <a:pt x="1790700" y="93896"/>
                  <a:pt x="1790700" y="209550"/>
                </a:cubicBezTo>
                <a:lnTo>
                  <a:pt x="1790700" y="209550"/>
                </a:lnTo>
                <a:cubicBezTo>
                  <a:pt x="1790700" y="325204"/>
                  <a:pt x="1696804" y="419100"/>
                  <a:pt x="1581150" y="419100"/>
                </a:cubicBezTo>
                <a:lnTo>
                  <a:pt x="209550" y="419100"/>
                </a:lnTo>
                <a:cubicBezTo>
                  <a:pt x="93896" y="419100"/>
                  <a:pt x="0" y="325204"/>
                  <a:pt x="0" y="209550"/>
                </a:cubicBezTo>
                <a:lnTo>
                  <a:pt x="0" y="209550"/>
                </a:lnTo>
                <a:cubicBezTo>
                  <a:pt x="0" y="93896"/>
                  <a:pt x="93896" y="0"/>
                  <a:pt x="209550" y="0"/>
                </a:cubicBezTo>
                <a:close/>
              </a:path>
            </a:pathLst>
          </a:custGeom>
          <a:solidFill>
            <a:srgbClr val="FFFFFF">
              <a:alpha val="20000"/>
            </a:srgbClr>
          </a:solidFill>
        </p:spPr>
      </p:sp>
      <p:sp>
        <p:nvSpPr>
          <p:cNvPr id="7" name="Text 2"/>
          <p:cNvSpPr/>
          <p:nvPr/>
        </p:nvSpPr>
        <p:spPr>
          <a:xfrm>
            <a:off x="381000" y="685921"/>
            <a:ext cx="1885950" cy="419100"/>
          </a:xfrm>
          <a:prstGeom prst="rect">
            <a:avLst/>
          </a:prstGeom>
          <a:noFill/>
        </p:spPr>
        <p:txBody>
          <a:bodyPr wrap="square" lIns="228600" tIns="76200" rIns="228600" bIns="76200" rtlCol="0" anchor="ctr"/>
          <a:lstStyle/>
          <a:p>
            <a:pPr>
              <a:lnSpc>
                <a:spcPct val="120000"/>
              </a:lnSpc>
            </a:pPr>
            <a:r>
              <a:rPr lang="en-US" sz="1500" b="1" kern="0" spc="75" dirty="0">
                <a:solidFill>
                  <a:srgbClr val="F5F5F5"/>
                </a:solidFill>
                <a:latin typeface="MiSans" pitchFamily="34" charset="-122"/>
                <a:ea typeface="MiSans" pitchFamily="34" charset="-122"/>
                <a:cs typeface="MiSans" pitchFamily="34" charset="-120"/>
              </a:rPr>
              <a:t>CONCLUSION</a:t>
            </a:r>
            <a:endParaRPr lang="en-US" sz="1600" dirty="0"/>
          </a:p>
        </p:txBody>
      </p:sp>
      <p:sp>
        <p:nvSpPr>
          <p:cNvPr id="8" name="Text 3"/>
          <p:cNvSpPr/>
          <p:nvPr/>
        </p:nvSpPr>
        <p:spPr>
          <a:xfrm>
            <a:off x="381000" y="1409821"/>
            <a:ext cx="11715750" cy="714375"/>
          </a:xfrm>
          <a:prstGeom prst="rect">
            <a:avLst/>
          </a:prstGeom>
          <a:noFill/>
        </p:spPr>
        <p:txBody>
          <a:bodyPr wrap="square" lIns="0" tIns="0" rIns="0" bIns="0" rtlCol="0" anchor="ctr"/>
          <a:lstStyle/>
          <a:p>
            <a:pPr>
              <a:lnSpc>
                <a:spcPct val="100000"/>
              </a:lnSpc>
            </a:pPr>
            <a:r>
              <a:rPr lang="en-US" sz="4500" b="1" dirty="0">
                <a:solidFill>
                  <a:srgbClr val="F5F5F5"/>
                </a:solidFill>
                <a:latin typeface="MiSans" pitchFamily="34" charset="-122"/>
                <a:ea typeface="MiSans" pitchFamily="34" charset="-122"/>
                <a:cs typeface="MiSans" pitchFamily="34" charset="-120"/>
              </a:rPr>
              <a:t>总结与展望</a:t>
            </a:r>
            <a:endParaRPr lang="en-US" sz="1600" dirty="0"/>
          </a:p>
        </p:txBody>
      </p:sp>
      <p:sp>
        <p:nvSpPr>
          <p:cNvPr id="9" name="Shape 4"/>
          <p:cNvSpPr/>
          <p:nvPr/>
        </p:nvSpPr>
        <p:spPr>
          <a:xfrm>
            <a:off x="381000" y="2428996"/>
            <a:ext cx="5562600" cy="2257425"/>
          </a:xfrm>
          <a:custGeom>
            <a:avLst/>
            <a:gdLst/>
            <a:ahLst/>
            <a:cxnLst/>
            <a:rect l="l" t="t" r="r" b="b"/>
            <a:pathLst>
              <a:path w="5562600" h="2257425">
                <a:moveTo>
                  <a:pt x="76211" y="0"/>
                </a:moveTo>
                <a:lnTo>
                  <a:pt x="5486389" y="0"/>
                </a:lnTo>
                <a:cubicBezTo>
                  <a:pt x="5528479" y="0"/>
                  <a:pt x="5562600" y="34121"/>
                  <a:pt x="5562600" y="76211"/>
                </a:cubicBezTo>
                <a:lnTo>
                  <a:pt x="5562600" y="2181214"/>
                </a:lnTo>
                <a:cubicBezTo>
                  <a:pt x="5562600" y="2223304"/>
                  <a:pt x="5528479" y="2257425"/>
                  <a:pt x="5486389" y="2257425"/>
                </a:cubicBezTo>
                <a:lnTo>
                  <a:pt x="76211" y="2257425"/>
                </a:lnTo>
                <a:cubicBezTo>
                  <a:pt x="34121" y="2257425"/>
                  <a:pt x="0" y="2223304"/>
                  <a:pt x="0" y="2181214"/>
                </a:cubicBezTo>
                <a:lnTo>
                  <a:pt x="0" y="76211"/>
                </a:lnTo>
                <a:cubicBezTo>
                  <a:pt x="0" y="34149"/>
                  <a:pt x="34149" y="0"/>
                  <a:pt x="76211" y="0"/>
                </a:cubicBezTo>
                <a:close/>
              </a:path>
            </a:pathLst>
          </a:custGeom>
          <a:solidFill>
            <a:srgbClr val="FFFFFF">
              <a:alpha val="10196"/>
            </a:srgbClr>
          </a:solidFill>
        </p:spPr>
      </p:sp>
      <p:sp>
        <p:nvSpPr>
          <p:cNvPr id="10" name="Shape 5"/>
          <p:cNvSpPr/>
          <p:nvPr/>
        </p:nvSpPr>
        <p:spPr>
          <a:xfrm>
            <a:off x="647700" y="2667000"/>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89979" y="118709"/>
                </a:moveTo>
                <a:lnTo>
                  <a:pt x="145331" y="190147"/>
                </a:lnTo>
                <a:cubicBezTo>
                  <a:pt x="142987" y="193886"/>
                  <a:pt x="138968" y="196230"/>
                  <a:pt x="134559" y="196453"/>
                </a:cubicBezTo>
                <a:cubicBezTo>
                  <a:pt x="130150" y="196676"/>
                  <a:pt x="125909" y="194667"/>
                  <a:pt x="123285" y="191095"/>
                </a:cubicBezTo>
                <a:lnTo>
                  <a:pt x="96496" y="155377"/>
                </a:lnTo>
                <a:cubicBezTo>
                  <a:pt x="92032" y="149461"/>
                  <a:pt x="93259" y="141089"/>
                  <a:pt x="99175" y="136624"/>
                </a:cubicBezTo>
                <a:cubicBezTo>
                  <a:pt x="105091" y="132159"/>
                  <a:pt x="113463" y="133387"/>
                  <a:pt x="117928" y="139303"/>
                </a:cubicBezTo>
                <a:lnTo>
                  <a:pt x="132997" y="159395"/>
                </a:lnTo>
                <a:lnTo>
                  <a:pt x="167264" y="104533"/>
                </a:lnTo>
                <a:cubicBezTo>
                  <a:pt x="171171" y="98282"/>
                  <a:pt x="179431" y="96329"/>
                  <a:pt x="185738" y="100292"/>
                </a:cubicBezTo>
                <a:cubicBezTo>
                  <a:pt x="192044" y="104254"/>
                  <a:pt x="193942" y="112458"/>
                  <a:pt x="189979" y="118765"/>
                </a:cubicBezTo>
                <a:close/>
              </a:path>
            </a:pathLst>
          </a:custGeom>
          <a:solidFill>
            <a:srgbClr val="F5F5F5"/>
          </a:solidFill>
        </p:spPr>
      </p:sp>
      <p:sp>
        <p:nvSpPr>
          <p:cNvPr id="11" name="Text 6"/>
          <p:cNvSpPr/>
          <p:nvPr/>
        </p:nvSpPr>
        <p:spPr>
          <a:xfrm>
            <a:off x="971550" y="2657596"/>
            <a:ext cx="4857750" cy="304800"/>
          </a:xfrm>
          <a:prstGeom prst="rect">
            <a:avLst/>
          </a:prstGeom>
          <a:noFill/>
        </p:spPr>
        <p:txBody>
          <a:bodyPr wrap="square" lIns="0" tIns="0" rIns="0" bIns="0" rtlCol="0" anchor="ctr"/>
          <a:lstStyle/>
          <a:p>
            <a:pPr>
              <a:lnSpc>
                <a:spcPct val="110000"/>
              </a:lnSpc>
            </a:pPr>
            <a:r>
              <a:rPr lang="en-US" sz="1800" b="1" dirty="0">
                <a:solidFill>
                  <a:srgbClr val="F5F5F5"/>
                </a:solidFill>
                <a:latin typeface="MiSans" pitchFamily="34" charset="-122"/>
                <a:ea typeface="MiSans" pitchFamily="34" charset="-122"/>
                <a:cs typeface="MiSans" pitchFamily="34" charset="-120"/>
              </a:rPr>
              <a:t>研究成果</a:t>
            </a:r>
            <a:endParaRPr lang="en-US" sz="1600" dirty="0"/>
          </a:p>
        </p:txBody>
      </p:sp>
      <p:sp>
        <p:nvSpPr>
          <p:cNvPr id="12" name="Text 7"/>
          <p:cNvSpPr/>
          <p:nvPr/>
        </p:nvSpPr>
        <p:spPr>
          <a:xfrm>
            <a:off x="609600" y="3114675"/>
            <a:ext cx="5191125" cy="561975"/>
          </a:xfrm>
          <a:prstGeom prst="rect">
            <a:avLst/>
          </a:prstGeom>
          <a:noFill/>
        </p:spPr>
        <p:txBody>
          <a:bodyPr wrap="square" lIns="0" tIns="0" rIns="0" bIns="0" rtlCol="0" anchor="ctr"/>
          <a:lstStyle/>
          <a:p>
            <a:pPr>
              <a:lnSpc>
                <a:spcPct val="140000"/>
              </a:lnSpc>
            </a:pPr>
            <a:r>
              <a:rPr lang="en-US" sz="1350" dirty="0">
                <a:solidFill>
                  <a:srgbClr val="F5F5F5">
                    <a:alpha val="90000"/>
                  </a:srgbClr>
                </a:solidFill>
                <a:latin typeface="MiSans" pitchFamily="34" charset="-122"/>
                <a:ea typeface="MiSans" pitchFamily="34" charset="-122"/>
                <a:cs typeface="MiSans" pitchFamily="34" charset="-120"/>
              </a:rPr>
              <a:t>• 提出CEREBRO系统，通过</a:t>
            </a:r>
            <a:r>
              <a:rPr lang="en-US" sz="1350" b="1" dirty="0">
                <a:solidFill>
                  <a:srgbClr val="F5F5F5"/>
                </a:solidFill>
                <a:latin typeface="MiSans" pitchFamily="34" charset="-122"/>
                <a:ea typeface="MiSans" pitchFamily="34" charset="-122"/>
                <a:cs typeface="MiSans" pitchFamily="34" charset="-120"/>
              </a:rPr>
              <a:t>行为序列建模</a:t>
            </a:r>
            <a:r>
              <a:rPr lang="en-US" sz="1350" dirty="0">
                <a:solidFill>
                  <a:srgbClr val="F5F5F5">
                    <a:alpha val="90000"/>
                  </a:srgbClr>
                </a:solidFill>
                <a:latin typeface="MiSans" pitchFamily="34" charset="-122"/>
                <a:ea typeface="MiSans" pitchFamily="34" charset="-122"/>
                <a:cs typeface="MiSans" pitchFamily="34" charset="-120"/>
              </a:rPr>
              <a:t>实现跨生态系统恶意包检测</a:t>
            </a:r>
            <a:endParaRPr lang="en-US" sz="1600" dirty="0"/>
          </a:p>
        </p:txBody>
      </p:sp>
      <p:sp>
        <p:nvSpPr>
          <p:cNvPr id="13" name="Text 8"/>
          <p:cNvSpPr/>
          <p:nvPr/>
        </p:nvSpPr>
        <p:spPr>
          <a:xfrm>
            <a:off x="609600" y="3786188"/>
            <a:ext cx="5191125" cy="276225"/>
          </a:xfrm>
          <a:prstGeom prst="rect">
            <a:avLst/>
          </a:prstGeom>
          <a:noFill/>
        </p:spPr>
        <p:txBody>
          <a:bodyPr wrap="square" lIns="0" tIns="0" rIns="0" bIns="0" rtlCol="0" anchor="ctr"/>
          <a:lstStyle/>
          <a:p>
            <a:pPr>
              <a:lnSpc>
                <a:spcPct val="140000"/>
              </a:lnSpc>
            </a:pPr>
            <a:r>
              <a:rPr lang="en-US" sz="1350" dirty="0">
                <a:solidFill>
                  <a:srgbClr val="F5F5F5">
                    <a:alpha val="90000"/>
                  </a:srgbClr>
                </a:solidFill>
                <a:latin typeface="MiSans" pitchFamily="34" charset="-122"/>
                <a:ea typeface="MiSans" pitchFamily="34" charset="-122"/>
                <a:cs typeface="MiSans" pitchFamily="34" charset="-120"/>
              </a:rPr>
              <a:t>• 在有效性、效率和实际应用价值方面均展现出</a:t>
            </a:r>
            <a:r>
              <a:rPr lang="en-US" sz="1350" b="1" dirty="0">
                <a:solidFill>
                  <a:srgbClr val="F5F5F5"/>
                </a:solidFill>
                <a:latin typeface="MiSans" pitchFamily="34" charset="-122"/>
                <a:ea typeface="MiSans" pitchFamily="34" charset="-122"/>
                <a:cs typeface="MiSans" pitchFamily="34" charset="-120"/>
              </a:rPr>
              <a:t>显著优势</a:t>
            </a:r>
            <a:endParaRPr lang="en-US" sz="1600" dirty="0"/>
          </a:p>
        </p:txBody>
      </p:sp>
      <p:sp>
        <p:nvSpPr>
          <p:cNvPr id="14" name="Text 9"/>
          <p:cNvSpPr/>
          <p:nvPr/>
        </p:nvSpPr>
        <p:spPr>
          <a:xfrm>
            <a:off x="609600" y="4179094"/>
            <a:ext cx="5191125" cy="276225"/>
          </a:xfrm>
          <a:prstGeom prst="rect">
            <a:avLst/>
          </a:prstGeom>
          <a:noFill/>
        </p:spPr>
        <p:txBody>
          <a:bodyPr wrap="square" lIns="0" tIns="0" rIns="0" bIns="0" rtlCol="0" anchor="ctr"/>
          <a:lstStyle/>
          <a:p>
            <a:pPr>
              <a:lnSpc>
                <a:spcPct val="140000"/>
              </a:lnSpc>
            </a:pPr>
            <a:r>
              <a:rPr lang="en-US" sz="1350" dirty="0">
                <a:solidFill>
                  <a:srgbClr val="F5F5F5">
                    <a:alpha val="90000"/>
                  </a:srgbClr>
                </a:solidFill>
                <a:latin typeface="MiSans" pitchFamily="34" charset="-122"/>
                <a:ea typeface="MiSans" pitchFamily="34" charset="-122"/>
                <a:cs typeface="MiSans" pitchFamily="34" charset="-120"/>
              </a:rPr>
              <a:t>• 在8个月监测中成功发现并确认</a:t>
            </a:r>
            <a:r>
              <a:rPr lang="en-US" sz="1350" b="1" dirty="0">
                <a:solidFill>
                  <a:srgbClr val="F5F5F5"/>
                </a:solidFill>
                <a:latin typeface="MiSans" pitchFamily="34" charset="-122"/>
                <a:ea typeface="MiSans" pitchFamily="34" charset="-122"/>
                <a:cs typeface="MiSans" pitchFamily="34" charset="-120"/>
              </a:rPr>
              <a:t>1,482个恶意包</a:t>
            </a:r>
            <a:r>
              <a:rPr lang="en-US" sz="1350" dirty="0">
                <a:solidFill>
                  <a:srgbClr val="F5F5F5">
                    <a:alpha val="90000"/>
                  </a:srgbClr>
                </a:solidFill>
                <a:latin typeface="MiSans" pitchFamily="34" charset="-122"/>
                <a:ea typeface="MiSans" pitchFamily="34" charset="-122"/>
                <a:cs typeface="MiSans" pitchFamily="34" charset="-120"/>
              </a:rPr>
              <a:t>，全部被官方采纳</a:t>
            </a:r>
            <a:endParaRPr lang="en-US" sz="1600" dirty="0"/>
          </a:p>
        </p:txBody>
      </p:sp>
      <p:sp>
        <p:nvSpPr>
          <p:cNvPr id="15" name="Shape 10"/>
          <p:cNvSpPr/>
          <p:nvPr/>
        </p:nvSpPr>
        <p:spPr>
          <a:xfrm>
            <a:off x="6248400" y="2428996"/>
            <a:ext cx="5562600" cy="2257425"/>
          </a:xfrm>
          <a:custGeom>
            <a:avLst/>
            <a:gdLst/>
            <a:ahLst/>
            <a:cxnLst/>
            <a:rect l="l" t="t" r="r" b="b"/>
            <a:pathLst>
              <a:path w="5562600" h="2257425">
                <a:moveTo>
                  <a:pt x="76211" y="0"/>
                </a:moveTo>
                <a:lnTo>
                  <a:pt x="5486389" y="0"/>
                </a:lnTo>
                <a:cubicBezTo>
                  <a:pt x="5528479" y="0"/>
                  <a:pt x="5562600" y="34121"/>
                  <a:pt x="5562600" y="76211"/>
                </a:cubicBezTo>
                <a:lnTo>
                  <a:pt x="5562600" y="2181214"/>
                </a:lnTo>
                <a:cubicBezTo>
                  <a:pt x="5562600" y="2223304"/>
                  <a:pt x="5528479" y="2257425"/>
                  <a:pt x="5486389" y="2257425"/>
                </a:cubicBezTo>
                <a:lnTo>
                  <a:pt x="76211" y="2257425"/>
                </a:lnTo>
                <a:cubicBezTo>
                  <a:pt x="34121" y="2257425"/>
                  <a:pt x="0" y="2223304"/>
                  <a:pt x="0" y="2181214"/>
                </a:cubicBezTo>
                <a:lnTo>
                  <a:pt x="0" y="76211"/>
                </a:lnTo>
                <a:cubicBezTo>
                  <a:pt x="0" y="34149"/>
                  <a:pt x="34149" y="0"/>
                  <a:pt x="76211" y="0"/>
                </a:cubicBezTo>
                <a:close/>
              </a:path>
            </a:pathLst>
          </a:custGeom>
          <a:solidFill>
            <a:srgbClr val="FFFFFF">
              <a:alpha val="10196"/>
            </a:srgbClr>
          </a:solidFill>
        </p:spPr>
      </p:sp>
      <p:sp>
        <p:nvSpPr>
          <p:cNvPr id="16" name="Shape 11"/>
          <p:cNvSpPr/>
          <p:nvPr/>
        </p:nvSpPr>
        <p:spPr>
          <a:xfrm>
            <a:off x="6515100" y="2667000"/>
            <a:ext cx="285750" cy="285750"/>
          </a:xfrm>
          <a:custGeom>
            <a:avLst/>
            <a:gdLst/>
            <a:ahLst/>
            <a:cxnLst/>
            <a:rect l="l" t="t" r="r" b="b"/>
            <a:pathLst>
              <a:path w="285750" h="285750">
                <a:moveTo>
                  <a:pt x="71438" y="178594"/>
                </a:moveTo>
                <a:lnTo>
                  <a:pt x="13674" y="178594"/>
                </a:lnTo>
                <a:cubicBezTo>
                  <a:pt x="-223" y="178594"/>
                  <a:pt x="-8762" y="163469"/>
                  <a:pt x="-1619" y="151526"/>
                </a:cubicBezTo>
                <a:lnTo>
                  <a:pt x="27905" y="102301"/>
                </a:lnTo>
                <a:cubicBezTo>
                  <a:pt x="32761" y="94208"/>
                  <a:pt x="41467" y="89297"/>
                  <a:pt x="50899" y="89297"/>
                </a:cubicBezTo>
                <a:lnTo>
                  <a:pt x="103919" y="89297"/>
                </a:lnTo>
                <a:cubicBezTo>
                  <a:pt x="146391" y="17357"/>
                  <a:pt x="209736" y="13729"/>
                  <a:pt x="252096" y="19924"/>
                </a:cubicBezTo>
                <a:cubicBezTo>
                  <a:pt x="259240" y="20985"/>
                  <a:pt x="264821" y="26566"/>
                  <a:pt x="265826" y="33654"/>
                </a:cubicBezTo>
                <a:cubicBezTo>
                  <a:pt x="272021" y="76014"/>
                  <a:pt x="268393" y="139359"/>
                  <a:pt x="196453" y="181831"/>
                </a:cubicBezTo>
                <a:lnTo>
                  <a:pt x="196453" y="234851"/>
                </a:lnTo>
                <a:cubicBezTo>
                  <a:pt x="196453" y="244283"/>
                  <a:pt x="191542" y="252989"/>
                  <a:pt x="183449" y="257845"/>
                </a:cubicBezTo>
                <a:lnTo>
                  <a:pt x="134224" y="287369"/>
                </a:lnTo>
                <a:cubicBezTo>
                  <a:pt x="122337" y="294512"/>
                  <a:pt x="107156" y="285917"/>
                  <a:pt x="107156" y="272076"/>
                </a:cubicBezTo>
                <a:lnTo>
                  <a:pt x="107156" y="214313"/>
                </a:lnTo>
                <a:cubicBezTo>
                  <a:pt x="107156" y="194611"/>
                  <a:pt x="91139" y="178594"/>
                  <a:pt x="71438" y="178594"/>
                </a:cubicBezTo>
                <a:lnTo>
                  <a:pt x="71382" y="178594"/>
                </a:lnTo>
                <a:close/>
                <a:moveTo>
                  <a:pt x="223242" y="89297"/>
                </a:moveTo>
                <a:cubicBezTo>
                  <a:pt x="223242" y="74512"/>
                  <a:pt x="211238" y="62508"/>
                  <a:pt x="196453" y="62508"/>
                </a:cubicBezTo>
                <a:cubicBezTo>
                  <a:pt x="181668" y="62508"/>
                  <a:pt x="169664" y="74512"/>
                  <a:pt x="169664" y="89297"/>
                </a:cubicBezTo>
                <a:cubicBezTo>
                  <a:pt x="169664" y="104082"/>
                  <a:pt x="181668" y="116086"/>
                  <a:pt x="196453" y="116086"/>
                </a:cubicBezTo>
                <a:cubicBezTo>
                  <a:pt x="211238" y="116086"/>
                  <a:pt x="223242" y="104082"/>
                  <a:pt x="223242" y="89297"/>
                </a:cubicBezTo>
                <a:close/>
              </a:path>
            </a:pathLst>
          </a:custGeom>
          <a:solidFill>
            <a:srgbClr val="F5F5F5"/>
          </a:solidFill>
        </p:spPr>
      </p:sp>
      <p:sp>
        <p:nvSpPr>
          <p:cNvPr id="17" name="Text 12"/>
          <p:cNvSpPr/>
          <p:nvPr/>
        </p:nvSpPr>
        <p:spPr>
          <a:xfrm>
            <a:off x="6838950" y="2657596"/>
            <a:ext cx="4857750" cy="304800"/>
          </a:xfrm>
          <a:prstGeom prst="rect">
            <a:avLst/>
          </a:prstGeom>
          <a:noFill/>
        </p:spPr>
        <p:txBody>
          <a:bodyPr wrap="square" lIns="0" tIns="0" rIns="0" bIns="0" rtlCol="0" anchor="ctr"/>
          <a:lstStyle/>
          <a:p>
            <a:pPr>
              <a:lnSpc>
                <a:spcPct val="110000"/>
              </a:lnSpc>
            </a:pPr>
            <a:r>
              <a:rPr lang="en-US" sz="1800" b="1" dirty="0">
                <a:solidFill>
                  <a:srgbClr val="F5F5F5"/>
                </a:solidFill>
                <a:latin typeface="MiSans" pitchFamily="34" charset="-122"/>
                <a:ea typeface="MiSans" pitchFamily="34" charset="-122"/>
                <a:cs typeface="MiSans" pitchFamily="34" charset="-120"/>
              </a:rPr>
              <a:t>未来工作</a:t>
            </a:r>
            <a:endParaRPr lang="en-US" sz="1600" dirty="0"/>
          </a:p>
        </p:txBody>
      </p:sp>
      <p:sp>
        <p:nvSpPr>
          <p:cNvPr id="18" name="Text 13"/>
          <p:cNvSpPr/>
          <p:nvPr/>
        </p:nvSpPr>
        <p:spPr>
          <a:xfrm>
            <a:off x="6477000" y="3114675"/>
            <a:ext cx="5191125" cy="276225"/>
          </a:xfrm>
          <a:prstGeom prst="rect">
            <a:avLst/>
          </a:prstGeom>
          <a:noFill/>
        </p:spPr>
        <p:txBody>
          <a:bodyPr wrap="square" lIns="0" tIns="0" rIns="0" bIns="0" rtlCol="0" anchor="ctr"/>
          <a:lstStyle/>
          <a:p>
            <a:pPr>
              <a:lnSpc>
                <a:spcPct val="140000"/>
              </a:lnSpc>
            </a:pPr>
            <a:r>
              <a:rPr lang="en-US" sz="1350" dirty="0">
                <a:solidFill>
                  <a:srgbClr val="F5F5F5">
                    <a:alpha val="90000"/>
                  </a:srgbClr>
                </a:solidFill>
                <a:latin typeface="MiSans" pitchFamily="34" charset="-122"/>
                <a:ea typeface="MiSans" pitchFamily="34" charset="-122"/>
                <a:cs typeface="MiSans" pitchFamily="34" charset="-120"/>
              </a:rPr>
              <a:t>• 扩展至</a:t>
            </a:r>
            <a:r>
              <a:rPr lang="en-US" sz="1350" b="1" dirty="0">
                <a:solidFill>
                  <a:srgbClr val="F5F5F5"/>
                </a:solidFill>
                <a:latin typeface="MiSans" pitchFamily="34" charset="-122"/>
                <a:ea typeface="MiSans" pitchFamily="34" charset="-122"/>
                <a:cs typeface="MiSans" pitchFamily="34" charset="-120"/>
              </a:rPr>
              <a:t>更多编程语言</a:t>
            </a:r>
            <a:r>
              <a:rPr lang="en-US" sz="1350" dirty="0">
                <a:solidFill>
                  <a:srgbClr val="F5F5F5">
                    <a:alpha val="90000"/>
                  </a:srgbClr>
                </a:solidFill>
                <a:latin typeface="MiSans" pitchFamily="34" charset="-122"/>
                <a:ea typeface="MiSans" pitchFamily="34" charset="-122"/>
                <a:cs typeface="MiSans" pitchFamily="34" charset="-120"/>
              </a:rPr>
              <a:t>生态系统</a:t>
            </a:r>
            <a:endParaRPr lang="en-US" sz="1600" dirty="0"/>
          </a:p>
        </p:txBody>
      </p:sp>
      <p:sp>
        <p:nvSpPr>
          <p:cNvPr id="19" name="Text 14"/>
          <p:cNvSpPr/>
          <p:nvPr/>
        </p:nvSpPr>
        <p:spPr>
          <a:xfrm>
            <a:off x="6477000" y="3507581"/>
            <a:ext cx="5191125" cy="276225"/>
          </a:xfrm>
          <a:prstGeom prst="rect">
            <a:avLst/>
          </a:prstGeom>
          <a:noFill/>
        </p:spPr>
        <p:txBody>
          <a:bodyPr wrap="square" lIns="0" tIns="0" rIns="0" bIns="0" rtlCol="0" anchor="ctr"/>
          <a:lstStyle/>
          <a:p>
            <a:pPr>
              <a:lnSpc>
                <a:spcPct val="140000"/>
              </a:lnSpc>
            </a:pPr>
            <a:r>
              <a:rPr lang="en-US" sz="1350" dirty="0">
                <a:solidFill>
                  <a:srgbClr val="F5F5F5">
                    <a:alpha val="90000"/>
                  </a:srgbClr>
                </a:solidFill>
                <a:latin typeface="MiSans" pitchFamily="34" charset="-122"/>
                <a:ea typeface="MiSans" pitchFamily="34" charset="-122"/>
                <a:cs typeface="MiSans" pitchFamily="34" charset="-120"/>
              </a:rPr>
              <a:t>• 提升</a:t>
            </a:r>
            <a:r>
              <a:rPr lang="en-US" sz="1350" b="1" dirty="0">
                <a:solidFill>
                  <a:srgbClr val="F5F5F5"/>
                </a:solidFill>
                <a:latin typeface="MiSans" pitchFamily="34" charset="-122"/>
                <a:ea typeface="MiSans" pitchFamily="34" charset="-122"/>
                <a:cs typeface="MiSans" pitchFamily="34" charset="-120"/>
              </a:rPr>
              <a:t>长序列处理能力</a:t>
            </a:r>
            <a:r>
              <a:rPr lang="en-US" sz="1350" dirty="0">
                <a:solidFill>
                  <a:srgbClr val="F5F5F5">
                    <a:alpha val="90000"/>
                  </a:srgbClr>
                </a:solidFill>
                <a:latin typeface="MiSans" pitchFamily="34" charset="-122"/>
                <a:ea typeface="MiSans" pitchFamily="34" charset="-122"/>
                <a:cs typeface="MiSans" pitchFamily="34" charset="-120"/>
              </a:rPr>
              <a:t>，解决超出512 token限制的问题</a:t>
            </a:r>
            <a:endParaRPr lang="en-US" sz="1600" dirty="0"/>
          </a:p>
        </p:txBody>
      </p:sp>
      <p:sp>
        <p:nvSpPr>
          <p:cNvPr id="20" name="Text 15"/>
          <p:cNvSpPr/>
          <p:nvPr/>
        </p:nvSpPr>
        <p:spPr>
          <a:xfrm>
            <a:off x="6477000" y="3900488"/>
            <a:ext cx="5191125" cy="276225"/>
          </a:xfrm>
          <a:prstGeom prst="rect">
            <a:avLst/>
          </a:prstGeom>
          <a:noFill/>
        </p:spPr>
        <p:txBody>
          <a:bodyPr wrap="square" lIns="0" tIns="0" rIns="0" bIns="0" rtlCol="0" anchor="ctr"/>
          <a:lstStyle/>
          <a:p>
            <a:pPr>
              <a:lnSpc>
                <a:spcPct val="140000"/>
              </a:lnSpc>
            </a:pPr>
            <a:r>
              <a:rPr lang="en-US" sz="1350" dirty="0">
                <a:solidFill>
                  <a:srgbClr val="F5F5F5">
                    <a:alpha val="90000"/>
                  </a:srgbClr>
                </a:solidFill>
                <a:latin typeface="MiSans" pitchFamily="34" charset="-122"/>
                <a:ea typeface="MiSans" pitchFamily="34" charset="-122"/>
                <a:cs typeface="MiSans" pitchFamily="34" charset="-120"/>
              </a:rPr>
              <a:t>• 进一步</a:t>
            </a:r>
            <a:r>
              <a:rPr lang="en-US" sz="1350" b="1" dirty="0">
                <a:solidFill>
                  <a:srgbClr val="F5F5F5"/>
                </a:solidFill>
                <a:latin typeface="MiSans" pitchFamily="34" charset="-122"/>
                <a:ea typeface="MiSans" pitchFamily="34" charset="-122"/>
                <a:cs typeface="MiSans" pitchFamily="34" charset="-120"/>
              </a:rPr>
              <a:t>降低误报率</a:t>
            </a:r>
            <a:r>
              <a:rPr lang="en-US" sz="1350" dirty="0">
                <a:solidFill>
                  <a:srgbClr val="F5F5F5">
                    <a:alpha val="90000"/>
                  </a:srgbClr>
                </a:solidFill>
                <a:latin typeface="MiSans" pitchFamily="34" charset="-122"/>
                <a:ea typeface="MiSans" pitchFamily="34" charset="-122"/>
                <a:cs typeface="MiSans" pitchFamily="34" charset="-120"/>
              </a:rPr>
              <a:t>，通过集成方法和动态分析</a:t>
            </a:r>
            <a:endParaRPr lang="en-US" sz="1600" dirty="0"/>
          </a:p>
        </p:txBody>
      </p:sp>
      <p:sp>
        <p:nvSpPr>
          <p:cNvPr id="21" name="Shape 16"/>
          <p:cNvSpPr/>
          <p:nvPr/>
        </p:nvSpPr>
        <p:spPr>
          <a:xfrm>
            <a:off x="3074551" y="4991100"/>
            <a:ext cx="6038850" cy="952500"/>
          </a:xfrm>
          <a:custGeom>
            <a:avLst/>
            <a:gdLst/>
            <a:ahLst/>
            <a:cxnLst/>
            <a:rect l="l" t="t" r="r" b="b"/>
            <a:pathLst>
              <a:path w="6038850" h="952500">
                <a:moveTo>
                  <a:pt x="76200" y="0"/>
                </a:moveTo>
                <a:lnTo>
                  <a:pt x="5962650" y="0"/>
                </a:lnTo>
                <a:cubicBezTo>
                  <a:pt x="6004706" y="0"/>
                  <a:pt x="6038850" y="34144"/>
                  <a:pt x="6038850" y="76200"/>
                </a:cubicBezTo>
                <a:lnTo>
                  <a:pt x="6038850" y="876300"/>
                </a:lnTo>
                <a:cubicBezTo>
                  <a:pt x="6038850" y="918356"/>
                  <a:pt x="6004706" y="952500"/>
                  <a:pt x="5962650" y="952500"/>
                </a:cubicBezTo>
                <a:lnTo>
                  <a:pt x="76200" y="952500"/>
                </a:lnTo>
                <a:cubicBezTo>
                  <a:pt x="34144" y="952500"/>
                  <a:pt x="0" y="918356"/>
                  <a:pt x="0" y="876300"/>
                </a:cubicBezTo>
                <a:lnTo>
                  <a:pt x="0" y="76200"/>
                </a:lnTo>
                <a:cubicBezTo>
                  <a:pt x="0" y="34144"/>
                  <a:pt x="34144" y="0"/>
                  <a:pt x="76200" y="0"/>
                </a:cubicBezTo>
                <a:close/>
              </a:path>
            </a:pathLst>
          </a:custGeom>
          <a:solidFill>
            <a:srgbClr val="FFFFFF">
              <a:alpha val="20000"/>
            </a:srgbClr>
          </a:solidFill>
        </p:spPr>
      </p:sp>
      <p:sp>
        <p:nvSpPr>
          <p:cNvPr id="22" name="Text 17"/>
          <p:cNvSpPr/>
          <p:nvPr/>
        </p:nvSpPr>
        <p:spPr>
          <a:xfrm>
            <a:off x="3322201" y="5143500"/>
            <a:ext cx="5543550" cy="304800"/>
          </a:xfrm>
          <a:prstGeom prst="rect">
            <a:avLst/>
          </a:prstGeom>
          <a:noFill/>
        </p:spPr>
        <p:txBody>
          <a:bodyPr wrap="square" lIns="0" tIns="0" rIns="0" bIns="0" rtlCol="0" anchor="ctr"/>
          <a:lstStyle/>
          <a:p>
            <a:pPr algn="ctr">
              <a:lnSpc>
                <a:spcPct val="110000"/>
              </a:lnSpc>
            </a:pPr>
            <a:r>
              <a:rPr lang="en-US" sz="1800" b="1" dirty="0">
                <a:solidFill>
                  <a:srgbClr val="F5F5F5"/>
                </a:solidFill>
                <a:latin typeface="MiSans" pitchFamily="34" charset="-122"/>
                <a:ea typeface="MiSans" pitchFamily="34" charset="-122"/>
                <a:cs typeface="MiSans" pitchFamily="34" charset="-120"/>
              </a:rPr>
              <a:t>为开源软件供应链安全提供更强大的防护</a:t>
            </a:r>
            <a:endParaRPr lang="en-US" sz="1600" dirty="0"/>
          </a:p>
        </p:txBody>
      </p:sp>
      <p:sp>
        <p:nvSpPr>
          <p:cNvPr id="23" name="Text 18"/>
          <p:cNvSpPr/>
          <p:nvPr/>
        </p:nvSpPr>
        <p:spPr>
          <a:xfrm>
            <a:off x="3336488" y="5524379"/>
            <a:ext cx="5514975" cy="266700"/>
          </a:xfrm>
          <a:prstGeom prst="rect">
            <a:avLst/>
          </a:prstGeom>
          <a:noFill/>
        </p:spPr>
        <p:txBody>
          <a:bodyPr wrap="square" lIns="0" tIns="0" rIns="0" bIns="0" rtlCol="0" anchor="ctr"/>
          <a:lstStyle/>
          <a:p>
            <a:pPr algn="ctr">
              <a:lnSpc>
                <a:spcPct val="130000"/>
              </a:lnSpc>
            </a:pPr>
            <a:r>
              <a:rPr lang="en-US" sz="1350" dirty="0">
                <a:solidFill>
                  <a:srgbClr val="F5F5F5">
                    <a:alpha val="80000"/>
                  </a:srgbClr>
                </a:solidFill>
                <a:latin typeface="MiSans" pitchFamily="34" charset="-122"/>
                <a:ea typeface="MiSans" pitchFamily="34" charset="-122"/>
                <a:cs typeface="MiSans" pitchFamily="34" charset="-120"/>
              </a:rPr>
              <a:t>Stronger Protection for Open Source Software Supply Chain Security</a:t>
            </a:r>
            <a:endParaRPr lang="en-US" sz="1600" dirty="0"/>
          </a:p>
        </p:txBody>
      </p:sp>
      <p:sp>
        <p:nvSpPr>
          <p:cNvPr id="24" name="Shape 19"/>
          <p:cNvSpPr/>
          <p:nvPr/>
        </p:nvSpPr>
        <p:spPr>
          <a:xfrm>
            <a:off x="409575" y="6286500"/>
            <a:ext cx="133350" cy="152400"/>
          </a:xfrm>
          <a:custGeom>
            <a:avLst/>
            <a:gdLst/>
            <a:ahLst/>
            <a:cxnLst/>
            <a:rect l="l" t="t" r="r" b="b"/>
            <a:pathLst>
              <a:path w="133350" h="152400">
                <a:moveTo>
                  <a:pt x="38100" y="0"/>
                </a:moveTo>
                <a:cubicBezTo>
                  <a:pt x="32831" y="0"/>
                  <a:pt x="28575" y="4256"/>
                  <a:pt x="28575" y="9525"/>
                </a:cubicBezTo>
                <a:lnTo>
                  <a:pt x="28575" y="19050"/>
                </a:lnTo>
                <a:lnTo>
                  <a:pt x="19050" y="19050"/>
                </a:lnTo>
                <a:cubicBezTo>
                  <a:pt x="8543" y="19050"/>
                  <a:pt x="0" y="27593"/>
                  <a:pt x="0" y="38100"/>
                </a:cubicBezTo>
                <a:lnTo>
                  <a:pt x="0" y="52388"/>
                </a:lnTo>
                <a:lnTo>
                  <a:pt x="133350" y="52388"/>
                </a:lnTo>
                <a:lnTo>
                  <a:pt x="133350" y="38100"/>
                </a:lnTo>
                <a:cubicBezTo>
                  <a:pt x="133350" y="27593"/>
                  <a:pt x="124807" y="19050"/>
                  <a:pt x="114300" y="19050"/>
                </a:cubicBezTo>
                <a:lnTo>
                  <a:pt x="104775" y="19050"/>
                </a:lnTo>
                <a:lnTo>
                  <a:pt x="104775" y="9525"/>
                </a:lnTo>
                <a:cubicBezTo>
                  <a:pt x="104775" y="4256"/>
                  <a:pt x="100519" y="0"/>
                  <a:pt x="95250" y="0"/>
                </a:cubicBezTo>
                <a:cubicBezTo>
                  <a:pt x="89981" y="0"/>
                  <a:pt x="85725" y="4256"/>
                  <a:pt x="85725" y="9525"/>
                </a:cubicBezTo>
                <a:lnTo>
                  <a:pt x="85725" y="19050"/>
                </a:lnTo>
                <a:lnTo>
                  <a:pt x="47625" y="19050"/>
                </a:lnTo>
                <a:lnTo>
                  <a:pt x="47625" y="9525"/>
                </a:lnTo>
                <a:cubicBezTo>
                  <a:pt x="47625" y="4256"/>
                  <a:pt x="43369" y="0"/>
                  <a:pt x="38100" y="0"/>
                </a:cubicBezTo>
                <a:close/>
                <a:moveTo>
                  <a:pt x="0" y="66675"/>
                </a:moveTo>
                <a:lnTo>
                  <a:pt x="0" y="123825"/>
                </a:lnTo>
                <a:cubicBezTo>
                  <a:pt x="0" y="134332"/>
                  <a:pt x="8543" y="142875"/>
                  <a:pt x="19050" y="142875"/>
                </a:cubicBezTo>
                <a:lnTo>
                  <a:pt x="114300" y="142875"/>
                </a:lnTo>
                <a:cubicBezTo>
                  <a:pt x="124807" y="142875"/>
                  <a:pt x="133350" y="134332"/>
                  <a:pt x="133350" y="123825"/>
                </a:cubicBezTo>
                <a:lnTo>
                  <a:pt x="133350" y="66675"/>
                </a:lnTo>
                <a:lnTo>
                  <a:pt x="0" y="66675"/>
                </a:lnTo>
                <a:close/>
              </a:path>
            </a:pathLst>
          </a:custGeom>
          <a:solidFill>
            <a:srgbClr val="F5F5F5">
              <a:alpha val="60000"/>
            </a:srgbClr>
          </a:solidFill>
        </p:spPr>
      </p:sp>
      <p:sp>
        <p:nvSpPr>
          <p:cNvPr id="25" name="Text 20"/>
          <p:cNvSpPr/>
          <p:nvPr/>
        </p:nvSpPr>
        <p:spPr>
          <a:xfrm>
            <a:off x="685800" y="6248400"/>
            <a:ext cx="800100" cy="228600"/>
          </a:xfrm>
          <a:prstGeom prst="rect">
            <a:avLst/>
          </a:prstGeom>
          <a:noFill/>
        </p:spPr>
        <p:txBody>
          <a:bodyPr wrap="square" lIns="0" tIns="0" rIns="0" bIns="0" rtlCol="0" anchor="ctr"/>
          <a:lstStyle/>
          <a:p>
            <a:pPr>
              <a:lnSpc>
                <a:spcPct val="130000"/>
              </a:lnSpc>
            </a:pPr>
            <a:r>
              <a:rPr lang="en-US" sz="1200" dirty="0">
                <a:solidFill>
                  <a:srgbClr val="F5F5F5">
                    <a:alpha val="60000"/>
                  </a:srgbClr>
                </a:solidFill>
                <a:latin typeface="MiSans" pitchFamily="34" charset="-122"/>
                <a:ea typeface="MiSans" pitchFamily="34" charset="-122"/>
                <a:cs typeface="MiSans" pitchFamily="34" charset="-120"/>
              </a:rPr>
              <a:t>2026年1月</a:t>
            </a:r>
            <a:endParaRPr lang="en-US" sz="1600" dirty="0"/>
          </a:p>
        </p:txBody>
      </p:sp>
      <p:sp>
        <p:nvSpPr>
          <p:cNvPr id="26" name="Shape 21"/>
          <p:cNvSpPr/>
          <p:nvPr/>
        </p:nvSpPr>
        <p:spPr>
          <a:xfrm>
            <a:off x="10629900" y="6286500"/>
            <a:ext cx="114300" cy="152400"/>
          </a:xfrm>
          <a:custGeom>
            <a:avLst/>
            <a:gdLst/>
            <a:ahLst/>
            <a:cxnLst/>
            <a:rect l="l" t="t" r="r" b="b"/>
            <a:pathLst>
              <a:path w="114300" h="152400">
                <a:moveTo>
                  <a:pt x="0" y="19050"/>
                </a:moveTo>
                <a:cubicBezTo>
                  <a:pt x="0" y="8543"/>
                  <a:pt x="8543" y="0"/>
                  <a:pt x="19050" y="0"/>
                </a:cubicBezTo>
                <a:lnTo>
                  <a:pt x="63550" y="0"/>
                </a:lnTo>
                <a:cubicBezTo>
                  <a:pt x="68610" y="0"/>
                  <a:pt x="73462" y="1994"/>
                  <a:pt x="77033" y="5566"/>
                </a:cubicBezTo>
                <a:lnTo>
                  <a:pt x="108734" y="37296"/>
                </a:lnTo>
                <a:cubicBezTo>
                  <a:pt x="112306" y="40868"/>
                  <a:pt x="114300" y="45720"/>
                  <a:pt x="114300" y="50780"/>
                </a:cubicBezTo>
                <a:lnTo>
                  <a:pt x="114300" y="133350"/>
                </a:lnTo>
                <a:cubicBezTo>
                  <a:pt x="114300" y="143857"/>
                  <a:pt x="105757" y="152400"/>
                  <a:pt x="95250" y="152400"/>
                </a:cubicBezTo>
                <a:lnTo>
                  <a:pt x="19050" y="152400"/>
                </a:lnTo>
                <a:cubicBezTo>
                  <a:pt x="8543" y="152400"/>
                  <a:pt x="0" y="143857"/>
                  <a:pt x="0" y="133350"/>
                </a:cubicBezTo>
                <a:lnTo>
                  <a:pt x="0" y="19050"/>
                </a:lnTo>
                <a:close/>
                <a:moveTo>
                  <a:pt x="61912" y="17413"/>
                </a:moveTo>
                <a:lnTo>
                  <a:pt x="61912" y="45244"/>
                </a:lnTo>
                <a:cubicBezTo>
                  <a:pt x="61912" y="49203"/>
                  <a:pt x="65097" y="52388"/>
                  <a:pt x="69056" y="52388"/>
                </a:cubicBezTo>
                <a:lnTo>
                  <a:pt x="96887" y="52388"/>
                </a:lnTo>
                <a:lnTo>
                  <a:pt x="61912" y="17413"/>
                </a:lnTo>
                <a:close/>
                <a:moveTo>
                  <a:pt x="35719" y="76200"/>
                </a:moveTo>
                <a:cubicBezTo>
                  <a:pt x="31760" y="76200"/>
                  <a:pt x="28575" y="79385"/>
                  <a:pt x="28575" y="83344"/>
                </a:cubicBezTo>
                <a:cubicBezTo>
                  <a:pt x="28575" y="87303"/>
                  <a:pt x="31760" y="90488"/>
                  <a:pt x="35719" y="90488"/>
                </a:cubicBezTo>
                <a:lnTo>
                  <a:pt x="78581" y="90488"/>
                </a:lnTo>
                <a:cubicBezTo>
                  <a:pt x="82540" y="90488"/>
                  <a:pt x="85725" y="87303"/>
                  <a:pt x="85725" y="83344"/>
                </a:cubicBezTo>
                <a:cubicBezTo>
                  <a:pt x="85725" y="79385"/>
                  <a:pt x="82540" y="76200"/>
                  <a:pt x="78581" y="76200"/>
                </a:cubicBezTo>
                <a:lnTo>
                  <a:pt x="35719" y="76200"/>
                </a:lnTo>
                <a:close/>
                <a:moveTo>
                  <a:pt x="35719" y="104775"/>
                </a:moveTo>
                <a:cubicBezTo>
                  <a:pt x="31760" y="104775"/>
                  <a:pt x="28575" y="107960"/>
                  <a:pt x="28575" y="111919"/>
                </a:cubicBezTo>
                <a:cubicBezTo>
                  <a:pt x="28575" y="115878"/>
                  <a:pt x="31760" y="119062"/>
                  <a:pt x="35719" y="119062"/>
                </a:cubicBezTo>
                <a:lnTo>
                  <a:pt x="78581" y="119062"/>
                </a:lnTo>
                <a:cubicBezTo>
                  <a:pt x="82540" y="119062"/>
                  <a:pt x="85725" y="115878"/>
                  <a:pt x="85725" y="111919"/>
                </a:cubicBezTo>
                <a:cubicBezTo>
                  <a:pt x="85725" y="107960"/>
                  <a:pt x="82540" y="104775"/>
                  <a:pt x="78581" y="104775"/>
                </a:cubicBezTo>
                <a:lnTo>
                  <a:pt x="35719" y="104775"/>
                </a:lnTo>
                <a:close/>
              </a:path>
            </a:pathLst>
          </a:custGeom>
          <a:solidFill>
            <a:srgbClr val="F5F5F5">
              <a:alpha val="60000"/>
            </a:srgbClr>
          </a:solidFill>
        </p:spPr>
      </p:sp>
      <p:sp>
        <p:nvSpPr>
          <p:cNvPr id="27" name="Text 22"/>
          <p:cNvSpPr/>
          <p:nvPr/>
        </p:nvSpPr>
        <p:spPr>
          <a:xfrm>
            <a:off x="10896600" y="6248400"/>
            <a:ext cx="990600" cy="228600"/>
          </a:xfrm>
          <a:prstGeom prst="rect">
            <a:avLst/>
          </a:prstGeom>
          <a:noFill/>
        </p:spPr>
        <p:txBody>
          <a:bodyPr wrap="square" lIns="0" tIns="0" rIns="0" bIns="0" rtlCol="0" anchor="ctr"/>
          <a:lstStyle/>
          <a:p>
            <a:pPr>
              <a:lnSpc>
                <a:spcPct val="130000"/>
              </a:lnSpc>
            </a:pPr>
            <a:r>
              <a:rPr lang="en-US" sz="1200" dirty="0">
                <a:solidFill>
                  <a:srgbClr val="F5F5F5">
                    <a:alpha val="60000"/>
                  </a:srgbClr>
                </a:solidFill>
                <a:latin typeface="MiSans" pitchFamily="34" charset="-122"/>
                <a:ea typeface="MiSans" pitchFamily="34" charset="-122"/>
                <a:cs typeface="MiSans" pitchFamily="34" charset="-120"/>
              </a:rPr>
              <a:t>学术论文汇报</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3616</Words>
  <Application>WPS 演示</Application>
  <PresentationFormat>On-screen Show (16:9)</PresentationFormat>
  <Paragraphs>595</Paragraphs>
  <Slides>13</Slides>
  <Notes>13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宋体</vt:lpstr>
      <vt:lpstr>Wingdings</vt:lpstr>
      <vt:lpstr>MiSans</vt:lpstr>
      <vt:lpstr>MiSans</vt:lpstr>
      <vt:lpstr>Calibri</vt:lpstr>
      <vt:lpstr>微软雅黑</vt:lpstr>
      <vt:lpstr>Arial Unicode MS</vt:lpstr>
      <vt:lpstr>等线</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一石二鸟：使用恶意行为序列的单一模型在NPM和PyPI中检测恶意包</dc:title>
  <dc:creator>Kimi</dc:creator>
  <dc:subject>一石二鸟：使用恶意行为序列的单一模型在NPM和PyPI中检测恶意包</dc:subject>
  <cp:lastModifiedBy>欧睿</cp:lastModifiedBy>
  <cp:revision>2</cp:revision>
  <dcterms:created xsi:type="dcterms:W3CDTF">2026-01-28T07:50:00Z</dcterms:created>
  <dcterms:modified xsi:type="dcterms:W3CDTF">2026-01-28T08:23:40Z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一石二鸟：使用恶意行为序列的单一模型在NPM和PyPI中检测恶意包","ContentProducer":"001191110108MACG2KBH8F10000","ProduceID":"19c037b0-6612-88c1-8000-00009b9e045f","ReservedCode1":"","ContentPropagator":"001191110108MACG2KBH8F20000","PropagateID":"19c037b0-6612-88c1-8000-00009b9e045f","ReservedCode2":""}</vt:lpwstr>
  </property>
  <property fmtid="{D5CDD505-2E9C-101B-9397-08002B2CF9AE}" pid="3" name="ICV">
    <vt:lpwstr>D49A933E27F34A059596D15E2BC0B2F7_12</vt:lpwstr>
  </property>
  <property fmtid="{D5CDD505-2E9C-101B-9397-08002B2CF9AE}" pid="4" name="KSOProductBuildVer">
    <vt:lpwstr>2052-12.1.0.23542</vt:lpwstr>
  </property>
</Properties>
</file>