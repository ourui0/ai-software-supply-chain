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58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各位老师、同学，晚上好。我是南京大学智能软件工程专业的大二学生，今天非常荣幸能有机会向您汇报我近期在研究上的一些想法和进展。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研究的背景和提出的问题；接着，会详细解释提示注入攻击及其主要的防御方向；然后，我将重点解读两篇相关的核心论文；之后，会分享我对这两种方法结合的一些初步思考；最后，对本次汇报进行总结并展望未来的研究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到底什么是提示注入攻击呢？简单来说，就是攻击者在外部输入的数据中，偷偷加入一些恶意指令，误导LLM去执行这些恶意指令，从而达到攻击目的。针对这类攻击，目前主要有三种防御思路：一是在数据进入模型前进行检测；二是从模型本身入手，通过训练让它变得更“强壮”；三是在攻击发生后，去追溯和定位问题。在这次汇报中，我将主要介绍第一种，也就是基于检测的防御方法，并解读两篇相关的论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研究背景。最近的一项研究指出，在大型语言模型（LLM）的整个供应链中，应用层是安全风险的重灾区，占据了超过一半的风险比例。特别是在应用和前端层面，风险尤为突出。而在这些风险中，提示注入攻击是一个非常核心且棘手的问题，它直接威胁到LLM应用的安全性和可靠性。因此，我的研究也主要围绕这个问题展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介绍第一篇论文《PIShield》。这篇论文的核心想法非常巧妙，它利用了LLM本身的一个特性——因果注意力机制。简单来说，模型在处理到最后一个词的时候，其实已经“看过”了前面所有的内容，所以最后一个词的内部状态，就像是一份对整个输入的总结。研究发现，如果输入里有恶意指令，这份“总结”就会表现出一些异常的特征，而且这些特征可以用一个简单的线性分类器来区分。如图所示，PIShield就是通过提取这个最终状态的特征，然后用分类器来进行检测，整个过程非常轻量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篇论文虽然研究的是开源软件包的恶意代码检测，但它的方法给了我很多启发。这篇论文提出了一种动态分析的思路，它不是孤立地看某个操作，而是把整个代码的执行过程看作一个行为序列。比如，恶意代码通常会先想办法绕过安全检查，然后提升自己的权限，最后才执行真正的恶意操作。通过分析这种行为的先后顺序，就能更准确地判断一个包是否是恶意的。这种关注“序列”和“时序”的思想，让我想到是否可以应用到LLM的提示注入检测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对这两篇论文的理解，我产生了一些初步的想法。PIShield的方法很高效，但它只看最后一个词的总结，可能会忽略那些在输入开头或中间就出现的、但同样危险的恶意指令。而另一篇论文的动态分析方法虽然能捕捉到序列信息，但代价是更高的计算和内存消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那么，我们能不能把两者结合起来呢？比如，在PIShield的基础上，也去关注一些关键位置的Token序列，而不是只看最后一个。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当然，这个想法还面临很多挑战，比如，怎么给LLM的每个Token定义它的“行为”？如何在不引入太大开销的前提下找到那些关键的Token？这些都是我接下来需要深入思考和研究的问题。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汇报做一个简单的总结。我首先介绍了研究背景，然后分析了两种不同的检测思路，并在此基础上提出了一个结合两者的初步构想，同时也指出了实现这个构想所面临的一些挑战。对于未来的研究，我计划从这几个方面入手：首先，深入研究如何为LLM的Token定义行为；其次，探索识别关键Token的方法；然后，尝试设计并实现一个混合检测模型；最后，通过实验来验证和优化这个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我的汇报到此结束，感谢各位老师和同学的聆听。以上就是我近期的一些不成熟的想法，恳请大家批评指正。谢谢！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4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0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0.png"/><Relationship Id="rId11" Type="http://schemas.openxmlformats.org/officeDocument/2006/relationships/image" Target="../media/image39.jpeg"/><Relationship Id="rId10" Type="http://schemas.openxmlformats.org/officeDocument/2006/relationships/image" Target="../media/image38.svg"/><Relationship Id="rId1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jpeg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48.svg"/><Relationship Id="rId1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57.svg"/><Relationship Id="rId13" Type="http://schemas.openxmlformats.org/officeDocument/2006/relationships/image" Target="../media/image56.pn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55.sv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3403600" y="1778000"/>
            <a:ext cx="5384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关于近期的一些想法汇报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2533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2311400" y="2794000"/>
            <a:ext cx="756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南京大学智能软件工程专业 大二学生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3810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欧睿</a:t>
            </a:r>
            <a:endParaRPr lang="zh-CN" alt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1910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2026年3月17日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5715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57290">
            <a:off x="762053" y="1136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79600"/>
            <a:ext cx="431800" cy="431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5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研究背景与问题提出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59100"/>
            <a:ext cx="431800" cy="431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73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提示注入攻击与防御方向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38600"/>
            <a:ext cx="431800" cy="431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3810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论文解读：PIShield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1879600"/>
            <a:ext cx="431800" cy="431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1651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论文</a:t>
            </a:r>
            <a:r>
              <a:rPr lang="zh-CN" alt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集合联想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：Malicious Package Detection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27305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959100"/>
            <a:ext cx="431800" cy="431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273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结合与思考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3810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4038600"/>
            <a:ext cx="431800" cy="431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3810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AI</a:t>
            </a:r>
            <a:r>
              <a:rPr lang="zh-CN" alt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提供的一些建议</a:t>
            </a:r>
            <a:endParaRPr lang="zh-CN" altLang="en-US" sz="18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524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学术汇报 · 2026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提示注入攻击与防御方向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4605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什么是提示注入攻击？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1841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提示词通常由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指令提示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（用户/应用）和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数据提示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（外部来源）组成。攻击者通过污染数据提示，注入恶意指令，使LLM执行攻击者设定的任务，而非用户原本期望的任务。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主要防御方向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19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581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基于检测的防御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00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在LLM处理前，检测数据提示是否被污染，是第一道防线。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3429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3619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92700" y="3581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预防性防御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48200" y="4000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通过训练或微调LLM，使其自身具备抵御提示注入的能力。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3429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3619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24900" y="3581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基于归因的防御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80400" y="40005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攻击发生后，追溯并定位提示中的恶意指令，用于取证分析。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0000">
              <a:alpha val="5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84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2705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本次汇报重点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524000" y="56515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将聚焦于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基于检测的防御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方法，并介绍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篇相关的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工作，和我对于这份工作的一些想法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研究背景与问题提出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36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供应链风险分布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 SoK 研究分析，在 LLM 供应链各环节中，</a:t>
            </a: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安全风险占比最高。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50.3%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应用层风险占比</a:t>
            </a:r>
            <a:endParaRPr lang="en-US" sz="1200" b="0" i="0" u="none" strike="noStrike">
              <a:solidFill>
                <a:srgbClr val="7878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核心风险来源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28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在应用层内部，App/Front-end（应用/前端）是最主要的风险聚集点。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39.7%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App/前端风险占比</a:t>
            </a:r>
            <a:endParaRPr lang="en-US" sz="1200" b="0" i="0" u="none" strike="noStrike">
              <a:solidFill>
                <a:srgbClr val="7878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524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关键挑战问题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286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应用层面临的最大威胁是</a:t>
            </a: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提示注入攻击 (Prompt Injection)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，其危害巨大且防御困难。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检测与防御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亟待解决的核心问题</a:t>
            </a:r>
            <a:endParaRPr lang="en-US" sz="1200" b="0" i="0" u="none" strike="noStrike">
              <a:solidFill>
                <a:srgbClr val="7878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8895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研究总结：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在LLM供应链安全中，应用层占据了超过一半的风险比例，是防御的重中之重。其中，应用与前端的提示注入攻击是当前最紧迫的挑战，如何有效检测和防御此类攻击，是本研究关注的核心问题。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816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论文解读：PIShield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397000"/>
            <a:ext cx="304800" cy="304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143000" y="13716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利用大语言模型（LLM）的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因果注意力机制（Causal Attention）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作为检测基础。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463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3000" y="23622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关键观察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最后一个Token的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残差流向量（Residual Stream）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可视为对整个输入序列的“总结报告”。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530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3365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检测原理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恶意指令会导致“总结报告”出现异常，且这种异常特征在向量空间中是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线性可分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38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4216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训练简单的</a:t>
            </a:r>
            <a:r>
              <a:rPr lang="en-US" sz="14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线性分类器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，对最后一个Token的残差流向量进行二元分类，快速识别攻击。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5232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50673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无需微调LLM模型，计算开销极小，检测效率高，易于部署。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rcRect t="310" b="310"/>
          <a:stretch>
            <a:fillRect/>
          </a:stretch>
        </p:blipFill>
        <p:spPr>
          <a:xfrm>
            <a:off x="6350000" y="1397000"/>
            <a:ext cx="4826000" cy="838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350000" y="2349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图1：PIShield检测提示注入攻击原理流程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921000"/>
            <a:ext cx="4826000" cy="2032000"/>
          </a:xfrm>
          <a:prstGeom prst="roundRect">
            <a:avLst>
              <a:gd name="adj" fmla="val 6250"/>
            </a:avLst>
          </a:prstGeom>
          <a:solidFill>
            <a:srgbClr val="F5F5F5">
              <a:alpha val="100000"/>
            </a:srgbClr>
          </a:solidFill>
          <a:ln cap="flat" cmpd="sng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40500" y="3111500"/>
            <a:ext cx="444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PIShield通过挖掘LLM内部的因果注意力机制，巧妙地将安全检测转化为对模型内部状态的线性分类问题，实现了轻量级且高效的防御。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5200" y="1399540"/>
            <a:ext cx="5524500" cy="3553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结合联想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：Malicious Package Detection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460500"/>
            <a:ext cx="381000" cy="381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333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研究领域：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聚焦开源软件生态（NPM/PyPI）中的恶意包检测问题。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3495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222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核心方法：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采用动态分析方法，重点关注恶意行为的时序性特征。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238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1115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具体步骤：</a:t>
            </a:r>
            <a:endParaRPr lang="en-US" sz="1100"/>
          </a:p>
          <a:p>
            <a:pPr marL="292100" indent="-165100" algn="l">
              <a:lnSpc>
                <a:spcPct val="125000"/>
              </a:lnSpc>
              <a:buClr>
                <a:srgbClr val="374151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行为ID划分：为代码操作分配唯一行为ID。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92100" indent="-165100" algn="l">
              <a:lnSpc>
                <a:spcPct val="125000"/>
              </a:lnSpc>
              <a:buClr>
                <a:srgbClr val="374151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时序分析：识别“绕过防御→提权→敏感操作”等典型模式。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92100" indent="-165100" algn="l">
              <a:lnSpc>
                <a:spcPct val="125000"/>
              </a:lnSpc>
              <a:buClr>
                <a:srgbClr val="374151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模型判断：利用模型分析序列，识别恶意特征。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99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016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762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研究启发：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通过分析行为序列捕捉意图，为LLM恶意指令序列检测提供新思路。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12700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开源软件包生态威胁模型示意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350000" y="1651000"/>
            <a:ext cx="4318000" cy="1524000"/>
          </a:xfrm>
          <a:prstGeom prst="roundRect">
            <a:avLst>
              <a:gd name="adj" fmla="val 8333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350000" y="3429000"/>
            <a:ext cx="4318000" cy="2286000"/>
          </a:xfrm>
          <a:prstGeom prst="roundRect">
            <a:avLst>
              <a:gd name="adj" fmla="val 555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40500" y="3619500"/>
            <a:ext cx="393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图示解读：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图展示了从开发者上传、管理员审核到用户安装的完整流程。红色恶魔图标代表潜在的恶意行为，可能发生在上传、安装或审核环节。论文正是针对此类生态系统中的隐蔽威胁，提出了基于时序行为的检测方案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608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23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结合与思考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现有方法对比与分析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05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PIShield (静态分析)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260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仅关注最后一个Token的“总结报告”，高效但可能漏掉早期恶意指令。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9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905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动态分析方法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0" y="2260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分析所有Token行为序列，捕捉时序信息，但带来较大内存开销。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175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初步想法：融合之道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619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746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借鉴动态分析思想，在保留PIShield高效性的基础上，不仅分析最后一个Token，更关注输入序列中</a:t>
            </a:r>
            <a:r>
              <a:rPr lang="en-US" sz="14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关键Token的行为序列</a:t>
            </a:r>
            <a:r>
              <a:rPr lang="en-US" sz="14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，实现效果与效率的平衡。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635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面临的挑战与问题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3429000" cy="1143000"/>
          </a:xfrm>
          <a:prstGeom prst="roundRect">
            <a:avLst>
              <a:gd name="adj" fmla="val 11111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27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33500" y="5232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行为ID划分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588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如何为LLM的Token划分合理的“行为ID”？标准难以确定。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5080000"/>
            <a:ext cx="3429000" cy="1143000"/>
          </a:xfrm>
          <a:prstGeom prst="roundRect">
            <a:avLst>
              <a:gd name="adj" fmla="val 11111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5270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953000" y="5232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性能开销平衡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572000" y="5588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如何在不显著增加内存开销的前提下，平衡检测效果与效率？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5080000"/>
            <a:ext cx="3429000" cy="1143000"/>
          </a:xfrm>
          <a:prstGeom prst="roundRect">
            <a:avLst>
              <a:gd name="adj" fmla="val 11111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1500" y="5270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572500" y="5232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关键Token识别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91500" y="5588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如何定义和选取“关键Token”？这本身就是一个需要研究的问题。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235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提供的一些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36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397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关于行为</a:t>
            </a:r>
            <a:r>
              <a:rPr lang="en-US" altLang="zh-CN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endParaRPr lang="zh-CN" altLang="en-US" sz="20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21590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333333"/>
              </a:buClr>
              <a:buSzTx/>
              <a:buFont typeface="Wingdings" panose="05000000000000000000"/>
              <a:buChar char="v"/>
            </a:pPr>
            <a:r>
              <a:rPr lang="en-US" sz="14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语义聚类映射（Vector Quantization）：</a:t>
            </a:r>
            <a:r>
              <a:rPr lang="en-US" sz="1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利用 K-Means 或 VQ-VAE 将高维向量映射到有限的行为 ID 集合</a:t>
            </a:r>
            <a:endParaRPr lang="en-US" sz="14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33333"/>
              </a:buClr>
              <a:buFont typeface="Wingdings" panose="05000000000000000000"/>
              <a:buChar char="v"/>
            </a:pPr>
            <a:r>
              <a:rPr lang="zh-CN" alt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建立层次化分类体系：</a:t>
            </a:r>
            <a:r>
              <a:rPr 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级（控制流行为）、L2 级（资源访问行为）、L3 级（有效载荷行为）。</a:t>
            </a:r>
            <a:endParaRPr lang="en-US" sz="140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33333"/>
              </a:buClr>
              <a:buFont typeface="Wingdings" panose="05000000000000000000"/>
              <a:buChar char="v"/>
            </a:pPr>
            <a:r>
              <a:rPr lang="zh-CN" alt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利用本体论（Ontology）进行标准化：</a:t>
            </a:r>
            <a:r>
              <a:rPr lang="zh-CN" alt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</a:t>
            </a:r>
            <a:r>
              <a:rPr lang="en-US" altLang="zh-CN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MITRE ATT&amp;CK </a:t>
            </a:r>
            <a:r>
              <a:rPr lang="zh-CN" alt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框架，为提示注入建立一个专属的行为知识图谱。</a:t>
            </a:r>
            <a:endParaRPr lang="zh-CN" altLang="en-US" sz="140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33333"/>
              </a:buClr>
              <a:buFont typeface="Wingdings" panose="05000000000000000000"/>
              <a:buChar char="v"/>
            </a:pPr>
            <a:endParaRPr 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350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6985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关于关键</a:t>
            </a:r>
            <a:r>
              <a:rPr lang="en-US" altLang="zh-CN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寻找</a:t>
            </a:r>
            <a:endParaRPr lang="zh-CN" altLang="en-US" sz="2000" b="1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6604000" y="24257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333333"/>
              </a:buClr>
              <a:buFont typeface="Wingdings" panose="05000000000000000000"/>
              <a:buChar char="v"/>
              <a:defRPr/>
            </a:pPr>
            <a:r>
              <a:rPr lang="zh-CN" alt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序列压缩层</a:t>
            </a:r>
            <a:r>
              <a:rPr lang="en-US" altLang="zh-CN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(Compression)</a:t>
            </a:r>
            <a:r>
              <a:rPr lang="zh-CN" alt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考虑到全量 Token 开销大，采用注意力权重采样（Attention-based Sampling），只保留贡献度高的 Token 向量。</a:t>
            </a:r>
            <a:endParaRPr lang="en-US" sz="140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33333"/>
              </a:buClr>
              <a:buFont typeface="Wingdings" panose="05000000000000000000"/>
              <a:buChar char="v"/>
              <a:defRPr/>
            </a:pPr>
            <a:r>
              <a:rPr lang="en-US" altLang="zh-CN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利用注意力权重与激活值：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您可以研究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显著性图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Saliency Map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），找出哪些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 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在模型计算最后一个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 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的隐藏状态时贡献了最大的激活值。</a:t>
            </a:r>
            <a:endParaRPr lang="zh-CN" alt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33333"/>
              </a:buClr>
              <a:buFont typeface="Wingdings" panose="05000000000000000000"/>
              <a:buChar char="v"/>
              <a:defRPr/>
            </a:pPr>
            <a:r>
              <a:rPr lang="en-US" altLang="zh-CN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借鉴 CEREBRO 的敏感组件识别：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在软件包中，只有涉及敏感系统调用的代码才是关键。在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LLM 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应用中，应优先识别那些触发外部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API 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调用（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 Use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）的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，将检测资源集中在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具有实际破坏力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altLang="zh-CN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 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路径上。</a:t>
            </a:r>
            <a:endParaRPr lang="zh-CN" alt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333333"/>
              </a:buClr>
              <a:buFont typeface="Wingdings" panose="05000000000000000000"/>
              <a:buChar char="v"/>
              <a:defRPr/>
            </a:pPr>
            <a:endParaRPr lang="zh-CN" altLang="en-US" sz="1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5143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953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通过构建多维度的防御体系，提升LLM在面对复杂提示注入攻击时的鲁棒性，为构建更安全的AI应用生态奠定基础。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敬请批评指正！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368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3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WPS 演示</Application>
  <PresentationFormat/>
  <Paragraphs>166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Wingdings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欧睿</cp:lastModifiedBy>
  <cp:revision>3</cp:revision>
  <dcterms:created xsi:type="dcterms:W3CDTF">2026-03-17T02:28:00Z</dcterms:created>
  <dcterms:modified xsi:type="dcterms:W3CDTF">2026-03-17T08:20:51Z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46B9C975A9424A07AE097D551E3187DA_12</vt:lpwstr>
  </property>
  <property fmtid="{D5CDD505-2E9C-101B-9397-08002B2CF9AE}" pid="3" name="KSOProductBuildVer">
    <vt:lpwstr>2052-12.1.0.23542</vt:lpwstr>
  </property>
</Properties>
</file>